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C8FF"/>
                </a:solidFill>
                <a:latin typeface="맑은 고딕"/>
                <a:ea typeface="맑은 고딕"/>
                <a:cs typeface="맑은 고딕"/>
              </a:rPr>
              <a:t>HANPASS  ·  SaaS AML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SaaS AML Platform 백오피스 기획서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멀티 고객사·서비스 자금세탁방지(AML) 운영 콘솔 — 준법감시실 화면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정본 PRD: docs/plan/02-aml-sass-functional-spec.md (FS-AML-SAAS-001 v5.6)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90288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기능 ID 전수 23화면 (목록→상세→액션→결과 흐름 연결 + 고객사 관리 3종: 목록·상세[4탭]·등록)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74336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좌 75% 와이어프레임(실제 도형) + 우 25% 기능 설명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58383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WLF·명단·국가위험·RA/CDD·TM·케이스·규제 보고·Travel Rule·Policy Pack·4-eyes 결재·고객사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42431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용어 고객사(tenant)·서비스(workspace) · enum 괄호 병기 · 책임 경계 명시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26479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버전 BO-AML-SAAS-Planning v5.6 (드릴다운 진입 트리거 배너 + RA 순서 재배치 · 슬라이드 47+)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83112" cy="374903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325880"/>
            <a:ext cx="109636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00200"/>
            <a:ext cx="7674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0103" y="1600200"/>
            <a:ext cx="120600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일자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86106" y="1600200"/>
            <a:ext cx="13156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작성자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1744" y="1600200"/>
            <a:ext cx="767455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내역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1783080"/>
            <a:ext cx="10963656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81965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0103" y="181965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6106" y="181965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1744" y="181965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설계서 기준 정합화 전면 재작성 — 14 도메인·BO 화면 10종+대시보드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202539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0103" y="202539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86106" y="202539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1744" y="202539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리포트 동기화 — 집계 소유 경계·HTTP 상태코드·표시 용어 사전 정정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223113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v3.0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0103" y="223113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86106" y="223113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1744" y="223113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도형 기반 PPT 전면 재생성 — AML-* 11화면 전수(맑은고딕·Ant Design)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243687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0103" y="243687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86106" y="243687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1744" y="243687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시나리오 흐름 재구성(11→20) — 후속 상세 6종·앞단 정책 관리 3종 신규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264261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0103" y="264261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86106" y="264261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01744" y="264261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모델 재설계(20→24화면) — 고객사 관리 TNT-001~004 신규, 격리 라디오 폐기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284835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80103" y="284835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86106" y="284835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01744" y="284835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정정 — admin scope 통일·DASH Travel Rule 행·TNT-004 설치형 콜백 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305409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80103" y="305409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86106" y="305409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01744" y="305409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정정 — WLF-002 권한·API 수정, WLF 필터/컬럼·TNT-001 region 필터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" y="325983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80103" y="325983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86106" y="325983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01744" y="325983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정정 — WLF 3화면(검토필요→상위승인→처리이력)·결재 16종·면제 카드·status enum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346557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80103" y="346557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86106" y="346557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01744" y="346557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상세(TNT-002) 4탭 연속 전개(기본정보→배포온보딩→소스→정책팩), 온보딩 흡수·등록 분리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" y="367131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80103" y="367131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86106" y="367131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01744" y="367131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멀티탭 상세/플로우 화면 탭 연속 전개 — 13화면(WL-001·CTRY-001·RA-001/002/003·CDD-001·TM-001·CASE-002·REP…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387705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80103" y="387705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86106" y="387705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01744" y="387705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드릴다운 진입 트리거 배너 추가(RA-003·WL-002·CASE-002·REP-002·TM-002) + RA 순서 재배치(모니터→상세→설정)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AML-DASH-001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대상·케이스·보고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5214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종합 현황 대시보드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고객사별·서비스별 AML 종합 현황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20824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은행 A  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99815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7296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전체  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15383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88536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7일  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47672" y="2194560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947672" y="2194560"/>
            <a:ext cx="128198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2350008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WLF 검토 필요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2560320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 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2871216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상위승인 2 · 오탐 확정 33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39388" y="2194560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339388" y="2194560"/>
            <a:ext cx="128198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49116" y="2350008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RA 높음 등급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49116" y="2560320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 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49116" y="2871216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3% · 중간 12,880 · 낮음 28,900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31105" y="2194560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731105" y="2194560"/>
            <a:ext cx="128198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40833" y="2350008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TM 미처리 알림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0833" y="2560320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126 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0833" y="2871216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 전환 42 · STR 권고 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2822" y="2194560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22822" y="2194560"/>
            <a:ext cx="128198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32550" y="2350008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케이스 SLA 진행중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2550" y="2560320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58 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32550" y="2871216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기한 임박 7 ⚠ · 기한 초과 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14539" y="2194560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14539" y="2194560"/>
            <a:ext cx="128198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24267" y="2350008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대기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24267" y="2560320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 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24267" y="2871216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만료 임박 2 ⚠ (클릭 → AML-APR-001)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47672" y="323697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75688" y="332841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운영 알림 (카드·알림 클릭 → 해당 상세로 드릴다운) 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30552" y="35295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제재 명단 일일 갱신 누락 — 18시간 경과 [클릭 → AML-WL-001 임포트 이력]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30552" y="37124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WLF 검토 큐 적체 18건 · 상위승인 2건 [클릭 → AML-WLF-001]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30552" y="38953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결재 만료 임박 2건 [클릭 → AML-APR-001]  ·  EDD 재심사 임박 7명 [클릭 → AML-CASE-001]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47672" y="4187952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57400" y="427939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 신선도 (클릭 → AML-WL-001)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4553712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00140" y="4553712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신선도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52874" y="4553712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갱신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57400" y="473659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57400" y="477316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Dow Jones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500140" y="477316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최신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52874" y="477316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03:00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497890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 SDN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500140" y="497890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 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252874" y="497890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03:00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518464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UN 제재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500140" y="518464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최신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52874" y="518464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02:30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57400" y="539038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KoFIU 제재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00140" y="539038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최신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52874" y="539038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02:00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40680" y="4187952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550408" y="427939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/ Travel Rule (클릭 → REP/TR)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550408" y="4553712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20426" y="4553712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건수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550408" y="473659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550408" y="477316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후보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20426" y="477316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550408" y="497890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데이터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20426" y="497890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50408" y="518464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대기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20426" y="518464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550408" y="539038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 정보 누락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20426" y="539038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550408" y="5596127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 위험 지갑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20426" y="5596127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50408" y="5801867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 예외 검토 대기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20426" y="5801867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AML-DASH-001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자기 고객사 조회 (aml:case:read) · SaaS 운영자는 크로스 고객사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상단 고객사 선택 ▼ · 서비스 선택 ▼ + 기간 필터(1 고객사 : N 서비스)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23225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WLF·RA·TM·케이스 SLA·결재 대기 (각 카드 클릭 → 해당 목록 드릴다운)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289864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대기 KPI 카드 — 만료 임박 ⚠ · 클릭 → AML-APR-001 (PRD §2.1)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3474720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규제 보고 STR 후보·CTR 데이터·제출 대기 / Travel Rule 누락·위험 지갑·예외 대기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4215383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운영 알림 명단 갱신 누락·WLF 적체·결재 만료·재심사 임박 (각 상세 딥링크)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479145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명단 소스 신선도 / 최근 위험평가(모델 버전·평가 대상·신규 높음)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5367527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집계 30~60초 캐시 · read-only · raw PII 미포함(카운트·지표만)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5943599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/api/v1/bo/aml/dashboard · /tenants/{id}/dashboard (bo-api 소유)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AML-TNT-001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고객사명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새 고객사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38531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고객사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 — 목록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7672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20824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유형 전체  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99815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72968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 상태 전체  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7971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21123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 상태 전체  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00115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73267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리전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47672" y="2194560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목록 [플랫폼 운영자] (SaaS 운영자 전용)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고객사 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18104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표시명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11396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배포 유형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9864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95744" y="2560320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리전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26096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57400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tnnt-001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18104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은행 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11396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9864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95744" y="277977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26096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tnnt-002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18104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핀테크 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11396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자체 인프라 설치형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69864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고객배포완료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95744" y="298551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26096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tnnt-003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18104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소규모 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11396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소규모 공유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69864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95744" y="319125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26096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47672" y="4014215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75688" y="410565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하단 배포 유형별 집계 ]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30552" y="43068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총 3 고객사  /  매니지드 전용 2  ·  자체 인프라 설치형 1  ·  소규모 공유 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AML-TNT-001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SaaS 운영자 전용 (aml:admin:policy · bo-api 소유 엔드포인트)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17465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배포 유형 / 온보딩 상태 / 운영 상태 / 리전 4축 + 고객사명 텍스트 (region= API §5 optional)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2487168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 매니지드 전용(MANAGED_DEDICATED) / 자체 인프라 설치형(SELF_HOSTED) / 소규모 공유(SHARED)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상태 신청/프로비저닝중/배포됨/검증됨/활성 · 패키지 발급/고객배포완료/등록 완료 (8종)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운영중(ACTIVE)/정지(SUSPENDED)/해지(OFFBOARDING) — 운영 생명주기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454456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진행 중은 onboardingStatus 조건으로 배지 렌더링 (status enum 별도)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5285231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행 클릭 → AML-TNT-002 상세(4탭: 기본정보·배포온보딩·소스시스템·정책팩)  /  [+ 새 고객사] → AML-TNT-003 등록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619048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집계 footer 배포 유형별 건수 표시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6601968"/>
            <a:ext cx="285292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/api/v1/bo/aml/tenants?deploymentModel=&amp;onboardingStatus=&amp;status=&amp;region= (bo-api · region optional)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고객사 내부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38531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고객사 관리 &gt; 은행 A &gt; 기본 정보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① 기본 정보 (은행 A)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6519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3834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정책팩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[기본 정보]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11956" y="245059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11956" y="26700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tnnt-001  (불변)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표시명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1956" y="28757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은행 A  [편집]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리전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11956" y="30815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 상태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11956" y="32872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ACTIVE  [변경]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34930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생성일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1956" y="34930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40680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[요약 · 탭 바로가기]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50408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04964" y="245059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50408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유형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04964" y="26700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  (→ ② 배포·온보딩)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50408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04964" y="28757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 ACTIVE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50408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04964" y="30815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3건 연결  (→ ③ 소스 시스템)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50408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정책팩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04964" y="32872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기본팩 KR_DEFAULT  (→ ④ 정책팩)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AML-TNT-002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조회·변경 aml:admin:policy (bo-api 소유)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같은 부모 탭 바: 기본 정보 / 배포·온보딩 / 소스 시스템 / 정책팩 (4탭 연속)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88552" y="23225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가능 displayName · status · policyPackCode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28986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진입: AML-TNT-001 목록 → 행 클릭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3310128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배포·온보딩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355701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/PUT /api/v1/bo/aml/tenants/{tenantId} (bo-api)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고객사 내부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38531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고객사 관리 &gt; 은행 A &gt; 배포·온보딩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② 배포·온보딩 (은행 A)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6519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3834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정책팩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2084832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47672" y="2084832"/>
            <a:ext cx="2209800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2240280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2450592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276148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MANAGED_DEDICATED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67199" y="2084832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199" y="2084832"/>
            <a:ext cx="2209800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76928" y="2240280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6928" y="2450592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프로비저닝중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76928" y="276148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PROVISIONING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6728" y="2084832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86728" y="2084832"/>
            <a:ext cx="2209800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96456" y="2240280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인프라 참조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96456" y="2450592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aml-tnnt-001-kr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96456" y="276148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tf-stack (읽기 전용)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47672" y="3127248"/>
            <a:ext cx="335584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57400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 진행 상태 (이력)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349300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74684" y="3493008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09694" y="3493008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작업자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57400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371246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신청(REQUESTED)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74684" y="3712464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06-08 09:00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09694" y="3712464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admin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91820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프로비저닝중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74684" y="3918204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06-08 09:05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09694" y="3918204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412394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배포됨 (예정)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74684" y="4123944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09694" y="4123944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4329683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검증됨·활성 (예정)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74684" y="4329683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09694" y="4329683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40680" y="3127248"/>
            <a:ext cx="335584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50408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 IaC 트리거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50408" y="34930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04964" y="34930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50408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550408" y="371246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IaC 템플릿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04964" y="371246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[aml-dedicated-kr-v2 ▼]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50408" y="391820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리전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04964" y="391820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[KR ▼]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412394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04964" y="412394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[IaC 프로비저닝 시작]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947672" y="453542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75688" y="462686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자체 인프라 설치형 — 고객 등록 콜백 (SELF_HOSTED 전용) 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30552" y="48280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설치 인스턴스 ID  [______]   등록 토큰  [______]  ※ 보안 채널 전달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30552" y="50109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콜백 엔드포인트   [______]        [설치형 등록 처리]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AML-TNT-002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유형·온보딩 상태·인프라 참조 읽기 전용 (프로비저닝 산출)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158191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매니지드 전용 IaC → POST .../onboarding/provision → 202 (PROVISIONING)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23225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자체 인프라 설치형 등록 콜백 → POST .../onboarding/register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289864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deploymentModel 직접 변경 → 409 AML.TENANT_DEPLOYMENT_MODEL_IMMUTABLE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기본 정보  /  다음 → ③ 소스 시스템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4050791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.../onboarding · POST .../provision · POST .../register (bo-api)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 시스템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38531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고객사 관리 &gt; 은행 A &gt; 소스 시스템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③ 소스 시스템 (은행 A)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6519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3834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정책팩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2084832"/>
            <a:ext cx="6848856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연결된 소스 시스템 [이 고객사]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18104" y="2450592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종류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06924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연결 상태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67628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최근 동기화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6096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57400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src-core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18104" y="267004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회원·계좌 (CORE)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06924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67628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06-08 09:10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6096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src-txn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18104" y="287578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(TRANSACTION)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06924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67628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06-08 09:11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26096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src-kyc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18104" y="308152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KYC 데이터 (KYC)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06924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 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67628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06-08 08:40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26096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3813048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75688" y="390448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소스 시스템 = 이 고객사의 데이터 인입 경로 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30552" y="41056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회원·거래·KYC 피드를 정규 이벤트로 수집 → 스크리닝·RA·TM 입력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30552" y="42885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명단 소스·임포트 이력은 AML-WL-001(명단 소스·임포트) 메뉴에서 관리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AML-TNT-002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aml:admin:policy (bo-api 소유)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소스 ID · 종류 · 연결 상태 · 최근 동기화 · ▶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88552" y="19933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종류 회원·계좌(CORE) / 거래(TRANSACTION) / KYC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88552" y="2569463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연결 상태 정상 / 지연 ⚠ / 중단 — 인입 헬스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배포·온보딩  /  다음 → ④ 정책팩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339242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/api/v1/bo/aml/tenants/{tenantId}/source-systems (bo-api)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고객사 내부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38531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고객사 관리 &gt; 은행 A &gt; 정책팩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④ 정책팩 (은행 A)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6519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3834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정책팩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[적용 정책팩]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2450592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74684" y="2450592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267004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정책팩 코드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74684" y="267004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기본팩 (KR_DEFAULT)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287578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74684" y="287578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v12  (effective 2026-05-01)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308152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기준금액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74684" y="308152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10,000,000 KRW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328726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고위험 임계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74684" y="328726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0.75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349300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관할(jurisdiction)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74684" y="349300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40680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[변경 상신]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50408" y="2450592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67692" y="2450592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50408" y="267004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대상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67692" y="267004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정책팩 / 기준금액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50408" y="287578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종류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67692" y="287578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정책팩 변경 (POLICY_PACK)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50408" y="308152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 동작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67692" y="308152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[변경 상신 → 결재(2인)]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50408" y="328726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67692" y="328726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[변경 상신·이력 보기]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AML-TNT-002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aml:admin:policy · 변경 4-eyes (POLICY_PACK)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88552" y="17465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정책팩 변경은 AML-PP-001(Policy Pack 관리)에서 상신 → 결재 후 effective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88552" y="24871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CTR 기준금액·RA 임계는 정책팩 버전에 종속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28986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③ 소스 시스템  (상세 4탭 끝)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3310128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.../tenants/{tenantId}/policy-pack · POST .../policy-packs:change(2인) (bo-api)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AML-TNT-003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38531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고객사 관리 &gt; 새 고객사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등록 (배포 유형 선택 + 온보딩 신청)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75688" y="17922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별도 생성 화면 — 목록 [+ 새 고객사]에서 진입 (상세 4탭 바와 분리) 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0552" y="19933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배포 유형은 온보딩 신청 시점에 선택하며 등록 후 불변(격리는 프로비저닝 산출)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30552" y="21762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매니지드 전용 → 등록 후 상세 ② 배포·온보딩에서 IaC 파이프라인 트리거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30552" y="23591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자체 인프라 설치형 → 패키지 발급 후 고객이 직접 설치·등록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47672" y="2651760"/>
            <a:ext cx="33558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57400" y="2743200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등록 기본 정보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3017520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5137" y="3017520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57400" y="3200400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323697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ID *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5137" y="323697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[__________] (불변)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344271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표시명 *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55137" y="344271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[__________]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364845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 리전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55137" y="364845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[KR ▼]  (선택, 기본값 KR)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385419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정책팩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55137" y="385419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[한국 기본팩 ▼]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4059935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55137" y="4059935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신청(REQUESTED) ← 자동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40680" y="2651760"/>
            <a:ext cx="33558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50408" y="2743200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유형 선택 *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50408" y="3017520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선택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48145" y="3017520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설명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50408" y="3200400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50408" y="323697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매니지드 전용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48145" y="323697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클라우드 · 전용 DB · IaC 자동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50408" y="344271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 자체 인프라 설치형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48145" y="344271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인프라 · Helm/Docker · 패키지 제공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50408" y="364845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 소규모 공유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48145" y="364845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공유 DB + 행 격리 · 즉시 활성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AML-TNT-003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SaaS 운영자 전용 aml:admin:policy (bo-api 소유)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격리 라디오 없음 — 배포 유형 드롭다운 3종만 (프로비저닝이 격리 산출)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88552" y="232257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리전 선택(기본값 KR) — 필수 아님(API §3.16 region required 미포함)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88552" y="30632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소규모 공유 → 즉시 활성(ACTIVE)  매니지드/설치형 → 온보딩 흐름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 성공 → AML-TNT-002(상세 ① 기본 정보)로 이동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88552" y="405079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/api/v1/bo/aml/tenants → 201 + TenantDto (bo-api)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AML-WLF-001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618488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WLF 검토 &gt; ① 검토 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 — ① 검토 필요 (요주의 명단 필터링)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검토 필요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상위승인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이력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명단군 전체  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63240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36392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유형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15383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88536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점수 전체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3095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0410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2578608"/>
            <a:ext cx="6848856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 필요 큐 [고객사: 은행 A] (POSSIBLE_MATCH)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2944368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스크리닝ID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16986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75454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대상유형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38394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31686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점수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94625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56448" y="294436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316382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scr-9f3a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6986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cust_…123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75454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38394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31686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0.92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94625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검토필요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56448" y="316382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36956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scr-4a18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16986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cust_…340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75454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38394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PEP관련자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31686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0.66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94625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검토필요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56448" y="336956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47672" y="3895344"/>
            <a:ext cx="335584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57400" y="3986783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선택 후보 근거 — scr-9f3a (매칭 명단·마스킹)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4261104"/>
            <a:ext cx="1411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엔트리 / 항목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68776" y="4261104"/>
            <a:ext cx="172501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57400" y="44439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57400" y="4480560"/>
            <a:ext cx="1411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 SDN (제재)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68776" y="4480560"/>
            <a:ext cx="172501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제재명 유사·생년 일치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4686300"/>
            <a:ext cx="1411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UN 제재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68776" y="4686300"/>
            <a:ext cx="172501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제재명 유사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4892040"/>
            <a:ext cx="1411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 룰버전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68776" y="4892040"/>
            <a:ext cx="172501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WLF-KR v12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40680" y="3895344"/>
            <a:ext cx="335584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550408" y="3986783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점수 분해 (factor 기여)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426110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factor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32243" y="426110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기여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550408" y="44439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550408" y="448056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이름 유사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432243" y="448056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0.55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550408" y="468630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생년월일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32243" y="468630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0.20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50408" y="489204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32243" y="489204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0.10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50408" y="5097779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문서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32243" y="5097779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0.07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947672" y="5394959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075688" y="548639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검토 필요 시나리오 — 행 선택 → 근거·점수 확인 → 판정 ]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30552" y="568756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판정 [확정 매칭 ▼](확정/오탐/자동낮춤) 사유 입력 후 [상신(2인)] · 자기승인 차단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587044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상위승인 필요 건은 [상위 승인 상신] → 다음 ② [상위 승인] 탭에서 4-eyes 처리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30552" y="60533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오탐 면제는 [오탐 면제 등록(2인)] → FP_WHITELIST(만료 가능)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AML-WLF-001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· 판정 상신 aml:case:update · 오탐 면제 aml:admin:watchlist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191109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①검토 필요 → ②상위 승인 → ③처리 이력 (업무 순서)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명단군 / 대상 유형 / 점수 / 기간 4축 + 대상 식별자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스크리닝ID · 대상(식별자) · 대상유형 · 명단군 · 점수 · 상태 · ▶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331012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대상유형 개인/법인/상대방/지갑주소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372160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검토필요 큐(POSSIBLE_MATCH) + 선택 후보 근거·점수 분해(master-detail)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429768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판정 4-eyes(WLF_DECISION) 상신→승인(maker≠checker)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48737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점수·대상 마스킹 · 원문 aml:pii:reveal+사유+감사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52852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상위 승인 탭 (상신 건 4-eyes 승인)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5696712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.../screenings?status=POSSIBLE_MATCH · POST .../screenings/{id}/decision(2인)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AML-WLF-002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618488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WLF 검토 &gt; ② 상위 승인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 — ② 상위 승인 (4-eyes · 검토 필요에서 상신)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검토 필요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상위승인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이력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명단군 전체  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상신자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78808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51960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578608"/>
            <a:ext cx="6848856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상위 승인 대상 (① 검토 필요에서 상신 · ESCALATED)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294436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스크리닝ID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51810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10278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70982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 판정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9098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2386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316382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scr-5b22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51810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cust_…908 (개인)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10278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정치인(PEP)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0982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확정 상신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9098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2386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[심사]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336956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scr-7c01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51810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ent_…777 (법인)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10278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부정뉴스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70982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 상신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9098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6092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2386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[심사]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47672" y="4032504"/>
            <a:ext cx="335584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57400" y="412394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 근거 — scr-5b22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439826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11956" y="439826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57400" y="458114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57400" y="461772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 판정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11956" y="461772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확정 매칭(SANCTIONS/PEP)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482346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11956" y="482346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PEP 명단 일치·점수 0.88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502920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이전 판정 이력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11956" y="502920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2회 검토필요(자동낮춤)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40680" y="4032504"/>
            <a:ext cx="335584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50408" y="412394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상위 승인 결과 (= 4-eyes)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439826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67692" y="4398264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550408" y="458114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550408" y="461772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[승인](2인)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67692" y="461772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확정 → 케이스 자동 생성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50408" y="482346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[반려](사유)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67692" y="482346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① 검토 필요로 회신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947672" y="5394959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75688" y="548639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상위 승인 시나리오 (4-eyes · maker≠checker) ]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568756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[승인(2인)] → 확정 매칭 → 케이스 자동 생성(제재/PEP 검토) → AML-CASE-002 + AML→FDS 전파(BE)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587044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[반려(사유)] → ① 검토 필요로 회신(재검토) · 결재 후 payload 변경 시 무효(APPROVAL_PAYLOAD_CHANGED)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30552" y="60533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처리 결과(확정/오탐)는 다음 ③ [처리 이력] 탭에 적재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AML-WLF-002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· 승인·반려 aml:admin:approval (checker · maker≠checker)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191109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②상위 승인 (①에서 상신된 ESCALATED 건)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 상신자·상신 판정·이전 판정 이력 표시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[승인] → 확정·케이스 생성(AML-CASE-002) / [반려] → 검토 필요 회신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331012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자기승인 차단 · payload_hash 고정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372160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검토 필요 / 다음 → ③ 처리 이력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4133088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.../screenings?status=ESCALATED · POST .../approvals/{id}:approve(2인) · :reject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AML-WLF-003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618488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WLF 검토 &gt; ③ 처리 이력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 — ③ 처리 이력 (확정·오탐·면제·자동낮춤)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검토 필요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상위승인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처리 이력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47672" y="2084832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57400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확정 매칭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 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 생성 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87318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87318" y="2084832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97046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7046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48 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97046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재검토 완료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26964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26964" y="2084832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36692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면제(FP_WHITELIST)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6692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 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36692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만료 후 재스크리닝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66609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166609" y="2084832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76338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자동 낮춤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76338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126 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76338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재스크리닝 대상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3127248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329184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333298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판정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329184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36392" y="333298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명단군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78808" y="3291840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51960" y="3332988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30일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3621024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371246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 이력 (4-eyes 증적 · 감사 연결)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98678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스크리닝ID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18104" y="39867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11396" y="398678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72100" y="398678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최종 판정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32804" y="39867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판정자/승인자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58683" y="39867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일시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57400" y="416966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57400" y="420624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scr-5b22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118104" y="420624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cust_…908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11396" y="420624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정치인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72100" y="420624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확정 매칭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32804" y="420624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analyst.a/comp.b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58683" y="42062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06-07 14:20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441198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scr-7c01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118104" y="441198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ent_…777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11396" y="441198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부정뉴스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72100" y="441198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32804" y="441198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analyst.b/comp.b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58683" y="44119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06-07 11:05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46177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scr-1d40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118104" y="46177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cust_…512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311396" y="46177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72100" y="46177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 면제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32804" y="46177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analyst.c/comp.a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58683" y="46177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09:40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AML-WLF-003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③처리 이력 (확정/오탐/면제/자동낮춤 결과)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19933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요약 카드 확정·오탐·면제(FP_WHITELIST)·자동낮춤 건수 / 평균 처리 SLA(일)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2569463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스크리닝ID·대상·명단군·최종 판정·판정자/승인자·일시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모든 판정 4-eyes 증적·감사 로그(AML-AUD-001) 연결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355701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 면제는 FP_WHITELIST 만료 후 재스크리닝 순환 → ① 검토 필요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4133087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상위 승인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4379975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.../screenings?status=TRUE_MATCH,FALSE_POSITIVE,AUTO_DISCOUNTED&amp;from&amp;to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소스명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새 소스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85166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명단 소스·임포트 &gt; 소스 목록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 / 임포트 이력 — ① 소스 목록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소스 목록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임포트 이력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59352" y="1700784"/>
            <a:ext cx="105613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32504" y="174193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명단 엔트리 조회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종류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99815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7296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578608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 [고객사: 은행 A]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코드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제공자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43984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 종류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02452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활성 버전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30568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갱신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2386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57400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OFAC_SDN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83280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美 재무부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43984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02452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v141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0568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03:00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2386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 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UN_CONSOL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83280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43984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02452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v88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30568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02:30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2386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DOWJONES_WL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83280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Dow Jones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43984" y="35753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정치인·제재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02452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30568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03:00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23860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INTERNAL_BL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83280" y="37810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자체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43984" y="37810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내부블랙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02452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30568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09:00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23860" y="378104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47672" y="480974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75688" y="49011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소스 목록 — 소스 코드 immutable · 공통(플랫폼) 소스는 SaaS 운영자 정의 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30552" y="51023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클릭(또는 소스 선택) → [임포트 업로드(diff 생성)]으로 임포트 이력 탭으로 이동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30552" y="52852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임포트 이력 탭에서 OFAC_SDN 등 변경분 확인·적용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AML-WL-001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조회·임포트 적용 aml:admin:watchlist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소스 목록 / ② 임포트 이력 / ③ 명단 엔트리 조회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명단 종류 / 상태 + 소스명 텍스트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소스 코드·제공자·명단 종류·활성 버전·마지막 갱신·상태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281635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명단 종류 제재/정치인/PEP관련자/부정뉴스/내부블랙/수사기관/가상자산위험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운영/비활성 + 신선도(최신/지연)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38039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코드 immutable · 등록·임포트·적용·반려·롤백 감사 보존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437997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임포트 이력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46268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GET/POST .../watchlist-sources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소스명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85166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명단 소스·임포트 &gt; 임포트 이력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 / 임포트 이력 — ② 임포트 이력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목록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임포트 이력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59352" y="1700784"/>
            <a:ext cx="105613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2504" y="174193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명단 엔트리 조회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전체  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78808" y="2249424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51960" y="2290572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30일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578608"/>
            <a:ext cx="6848856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임포트 이력 — OFAC_SDN · [임포트 업로드(diff 생성)]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20340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수신 시각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46220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수신 건수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06924" y="294436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신규/변경/삭제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97980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3508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5740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v142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20340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03:00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46220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12,043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06924" y="316382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+18 / 6 /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97980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3508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검토대기 ▶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v141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20340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03:00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46220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12,027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06924" y="336956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+9 / 3 / 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97980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3508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적용완료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v140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20340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06-04 03:00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46220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12,018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06924" y="357530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+5 / 2 / 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97980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93508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적용완료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947672" y="471830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75688" y="48097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임포트 이력 — 변경분(검토대기) 클릭 → AML-WL-002 (diff 상세·4-eyes 적용) 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30552" y="50109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임포트 직전 활성 버전 대비 변경분(diff) 산출·DRAFT 보관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30552" y="51937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검토대기 v142 클릭 → AML-WL-002 변경분 상세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30552" y="53766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소스 목록  /  다음 → ③ 명단 엔트리 조회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AML-WL-001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임포트 적용 aml:admin:watchlist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임포트 이력 (소스별 임포트 버전·변경분)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1993391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소스 / 상태 / 기간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2240279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버전·수신 시각·수신 건수·신규/변경/삭제·검증·상태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2651759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검토대기 / 적용완료 / 반려 / 롤백대기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3063239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변경분(검토대기) 클릭 → AML-WL-002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소스 목록  /  다음 → ③ 명단 엔트리 조회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3886200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.../watchlist-sources/{code}/imports · POST (diff 생성)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소스명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85166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명단 소스·임포트 &gt; 명단 엔트리 조회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 / 임포트 이력 — ③ 명단 엔트리 조회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목록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임포트 이력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59352" y="1700784"/>
            <a:ext cx="105613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2504" y="174193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명단 엔트리 조회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전체  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63240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36392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종류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15383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88536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578608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엔트리 조회 (마스킹 · 소스·정규화 토큰 기준)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엔트리ID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50691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코드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43983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 종류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37275" y="2944368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정규화 토큰(hash)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58683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7400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entry_…C9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50691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OFAC_SDN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43983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37275" y="3163824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tok_…a1b2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58683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entry_…D3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50691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OFAC_SDN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43983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37275" y="3369564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tok_…c4d5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58683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entry_…P5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50691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DOWJONES_WL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43983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정치인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37275" y="3575304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tok_…e8f1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58683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entry_…X2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50691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OFAC_SDN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43983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37275" y="3781044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tok_…g8h9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58683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삭제(제재해제)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947672" y="480974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75688" y="49011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명단 엔트리 조회 — 마스킹 엔트리 기반 조회 (원문 PII 미노출) 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30552" y="51023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정규화 토큰(hash)으로 조회 · 원문 열람은 aml:pii:reveal + 사유 + 감사 로그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30552" y="52852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임포트 이력  (명단 소스 3탭 끝)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AML-WL-001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aml:admin:watchlist / 원문 열람 aml:pii:reveal(감사)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명단 엔트리 조회 (마스킹 엔트리)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215798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소스 / 명단 종류 / 상태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엔트리ID · 소스 코드 · 명단 종류 · 정규화 토큰(hash) · 상태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정규화 토큰 hash는 실제 이름·문서번호 해시값 (원문 미노출)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339242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활성/삭제(제재해제)/비활성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임포트 이력  (명단 소스 3탭 끝)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405079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.../watchlist-entries?sourceCode=&amp;listType=&amp;status=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엔트리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85166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명단 소스 &gt; 변경분 상세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변경분 상세 / 디프 승인 — OFAC_SDN v142 (4-eyes)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AML-WL-001 ② 임포트 이력에서 [변경분(검토대기) ▶] 클릭 → 디프 상세·4-eyes 적용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2066544"/>
            <a:ext cx="335584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57400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변경분 요약 (v141 → v142)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2432304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0140" y="2432304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57400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2651760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건수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00140" y="2651760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12,043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2857500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신규(추가)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00140" y="2857500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3063240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변경(수정)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00140" y="3063240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3268980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삭제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00140" y="3268980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3474720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00140" y="3474720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통과(서명·checksum)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40680" y="2066544"/>
            <a:ext cx="335584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50408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검증 게이트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50408" y="2432304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18604" y="2432304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50408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50408" y="265176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건수·포맷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18604" y="265176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50408" y="285750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18604" y="285750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50408" y="306324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급증 임계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18604" y="306324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통과(배수 미초과)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50408" y="326898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서명/checksum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18604" y="326898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47672" y="3429000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352044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엔트리 디프 (추가/삭제, 마스킹)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79476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52928" y="379476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엔트리ID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46220" y="379476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 종류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06924" y="379476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정규화 토큰(hash)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95744" y="379476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57400" y="397764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57400" y="401421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 추가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52928" y="40142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entry_…C9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46220" y="40142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06924" y="401421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tok_…a1b2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95744" y="401421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 SDN 신규 지정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421995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 추가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52928" y="42199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entry_…D3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46220" y="42199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06924" y="421995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tok_…c4d5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95744" y="421995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신규 지정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442569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~ 변경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52928" y="44256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entry_…A1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46220" y="44256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06924" y="442569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tok_…e6f7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95744" y="442569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별칭(alias) 추가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463143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삭제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852928" y="463143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entry_…X2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046220" y="463143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06924" y="463143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tok_…g8h9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095744" y="463143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 해제(delisting)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47672" y="524865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75688" y="534009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적용 시나리오 (4-eyes · subjectType=WATCHLIST_IMPORT) 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55412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[변경분 적용 상신(2인)] → 승인(maker≠checker) → 활성 버전 v142 승격(EXECUTED)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30552" y="57241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승인 후에만 명단 반영 + 영향 대상 재스크리닝 트리거(BE) · [반려](사유)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59070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급증·서명/checksum 실패는 검증=경고/실패 → 반영 보류 · 적용 후 롤백도 결재·감사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AML-WL-002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임포트 적용 aml:admin:watchlist (2인)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AML-WL-001 변경분(검토대기) 클릭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변경분 요약 수신·신규/변경/삭제 건수 + 검증 게이트 결과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디프 목록 추가/변경/삭제 엔트리(정규화 토큰 hash·마스킹)·근거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적용 4-eyes(WATCHLIST_IMPORT) 상신→승인→활성 버전 승격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355701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승인 후 명단 반영 + 영향 대상 재스크리닝(BE) · 멱등(중복 1건만)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4133087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검증 경고/실패(급증·서명·checksum)는 반영 보류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적용·반려·롤백 이력 감사 보존(aml_audit_events)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4956048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.../watchlist-sources/{code}/imports/{ver}:apply(2인) · GET .../watchlist-entries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AML-CTRY-001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국가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변경 상신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208483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국가위험 관리 &gt; 국가위험 등급표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등급 관리 — ① 국가위험 등급표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69264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8412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국가위험 등급표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08376" y="1700784"/>
            <a:ext cx="96926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81528" y="1741932"/>
            <a:ext cx="8412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상신·이력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 등급 전체  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99815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7296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근거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47672" y="2578608"/>
            <a:ext cx="684885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등급표 (정책 store · effective v7)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294436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국가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48456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위험 등급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294436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9798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적용 시점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57400" y="316382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IR (이란)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48456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거래금지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09160" y="316382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FATF blacklist·제재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9798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60920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336956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KP (북한)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48456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거래금지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09160" y="336956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FATF blacklist·제재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9798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357530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MM (미얀마)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48456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09160" y="357530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FATF greylist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97980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60920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378104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PH (필리핀)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48456" y="37810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09160" y="378104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corridor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97980" y="378104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60920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986783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 (한국)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48456" y="398678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09160" y="3986783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97980" y="3986783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60920" y="398678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47672" y="503834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75688" y="51297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등급표 — RA factor '고위험 국가'의 앞단 관리 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30552" y="53309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정책 store(versioned) · 물리 마스터 테이블 미보유(설계서 §2.6)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30552" y="55138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변경 상신·이력 탭에서 4-eyes 변경 상신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AML-CTRY-001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조회·변경 상신 aml:admin:policy (변경=2인)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국가위험 등급표 / ② 변경 상신·이력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위험 등급 / 근거 + 국가 텍스트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국가(ISO) · 위험 등급 · 근거 · 버전 · 적용 시점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위험 등급 낮음/중간/높음/거래금지 (RA 등급과 동일 축)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32278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근거 FATF blacklist/greylist · 제재 · 고위험 corridor 등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38039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변경 상신·이력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40507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.../country-risk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AML-CTRY-001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국가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08483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국가위험 관리 &gt; 변경 상신·이력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등급 관리 — ② 변경 상신·이력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6926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8412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국가위험 등급표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08376" y="1700784"/>
            <a:ext cx="969264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81528" y="1741932"/>
            <a:ext cx="8412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변경 상신·이력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47672" y="2084832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75688" y="217627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변경 시나리오 (4-eyes · subjectType=COUNTRY_RISK) 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30552" y="237744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변경 [국가 추가/등급 조정 ▼]  예: MM 높음 → 거래금지   근거 [FATF 업데이트 ▼]  사유 [______]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30552" y="256032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[국가위험 변경 상신(2인)] → 승인(maker≠checker) → 정책 store 반영(EXECUTED)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30552" y="274320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실행 후 변경 국가 관련 대상 재평가(RA) 트리거 · RA factor '고위험 국가 거주'에 반영(→ AML-RA-002)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47672" y="3035808"/>
            <a:ext cx="6848856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31272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상신 이력 (4-eyes 증적)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34015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52928" y="3401568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내용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72100" y="34015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0216" y="34015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8332" y="34015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57400" y="35844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36210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apr-541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52928" y="3621024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MM 높음 → 거래금지 (FATF 업데이트)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72100" y="36210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0216" y="36210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8332" y="36210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38267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apr-520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52928" y="3826764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PH 낮음 → 중간 (고위험 corridor)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72100" y="38267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0216" y="38267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8332" y="38267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40325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apr-490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52928" y="4032504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 중간 → 높음 (제재 강화)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72100" y="40325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0216" y="40325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반려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8332" y="40325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2025-12-20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AML-CTRY-001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변경 상신 aml:admin:policy (2인)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변경 상신·이력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상신 국가 추가/등급 조정 + 근거(FATF/제재/corridor) + 사유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4-eyes(COUNTRY_RISK) 상신→승인→정책 store(versioned) 반영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실행 후 변경 국가 관련 대상 RA 재평가 트리거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이력 컬럼 결재ID · 변경 내용 · 상신자 · 상태 · 처리일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모든 변경 상신·승인·적용 감사 보존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42153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국가위험 등급표  (국가위험 2탭 끝)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462686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.../country-risk:change(2인 · COUNTRY_RISK) · GET (이력)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분포 · 고위험 현황 &gt; 점수 분포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점수 분포 / 고위험 현황 — ① 점수 분포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점수 분포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고위험 목록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시뮬레이션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은행 A  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99815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7296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15383" y="2249424"/>
            <a:ext cx="1330452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88536" y="2290572"/>
            <a:ext cx="123901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모델 RA-KR v4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947672" y="2578608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28,900 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68% · 재심사 36개월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87318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87318" y="2578608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97046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97046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12,880 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97046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30% · 재심사 24개월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26964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26964" y="2578608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36692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36692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 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36692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3% · 재심사 12개월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66609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66609" y="2578608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76338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거래금지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76338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 명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76338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즉시 케이스 생성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3621024"/>
            <a:ext cx="3355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371246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다음 재심사 예정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986784"/>
            <a:ext cx="1505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62868" y="3986784"/>
            <a:ext cx="163092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57400" y="416966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57400" y="4206240"/>
            <a:ext cx="1505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30일 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62868" y="4206240"/>
            <a:ext cx="163092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4411980"/>
            <a:ext cx="1505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 임박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562868" y="4411980"/>
            <a:ext cx="163092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 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4617720"/>
            <a:ext cx="1505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 초과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62868" y="4617720"/>
            <a:ext cx="163092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4823459"/>
            <a:ext cx="1505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모델 버전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62868" y="4823459"/>
            <a:ext cx="163092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RA-KR v4 (활성)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40680" y="3621024"/>
            <a:ext cx="3355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550408" y="371246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등급 분포 요약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50408" y="3986784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등급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16781" y="3986784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인원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45882" y="3986784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비율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50408" y="416966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550408" y="420624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16781" y="4206240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28,900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45882" y="4206240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68%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50408" y="441198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16781" y="4411980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12,880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45882" y="4411980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30%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50408" y="461772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16781" y="4617720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45882" y="4617720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50408" y="4823459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거래금지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16781" y="4823459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45882" y="4823459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947672" y="5074920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75688" y="516635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점수 분포 — 등급별 현황 카드·분포 요약 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53675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고위험 목록 탭에서 높음·거래금지 대상 목록 및 상세 진입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점수 분포 / ② 고위험 목록 / ③ 시뮬레이션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고객사 / 서비스 / 모델 버전 선택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KPI 카드 낮음/중간/높음/거래금지 인원·비율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재심사 예정 30일 내 · 기한 임박 ⚠ · 초과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32278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고위험 목록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/api/v1/bo/aml/dashboard (분포 집계·bo-api)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분포 · 고위험 현황 &gt; 고위험 목록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점수 분포 / 고위험 현황 — ② 고위험 목록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점수 분포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고위험 목록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시뮬레이션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47672" y="2249424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0824" y="2290572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등급 높음·거래금지  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1840" y="2249424"/>
            <a:ext cx="1426464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64992" y="2290572"/>
            <a:ext cx="1335024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주요 factor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2803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0118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재심사 임박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578608"/>
            <a:ext cx="6848856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목록 (높음·거래금지 · 대상=마스킹 식별자)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46220" y="2944368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점수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42866" y="29443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72100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주요 factor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7980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재심사일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91272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8328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46220" y="316382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42866" y="316382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72100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고위험국가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97980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91272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ent_…220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8328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법인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46220" y="336956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42866" y="33695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72100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불명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97980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06-12 ⚠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91272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cust_…780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83280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46220" y="357530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42866" y="3575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72100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match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97980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06-18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91272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cust_…312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83280" y="378104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46220" y="378104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42866" y="378104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72100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고위험국가·UBO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97980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91272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947672" y="494690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75688" y="50383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고위험 목록 — 행 클릭 → AML-RA-003 (대상 상세·EDD 착수) 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130552" y="52395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재심사 기한 임박/초과 ⚠ · 케이스(EDD 재심사) 딥링크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30552" y="54223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점수 분포  /  다음 → ③ 시뮬레이션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고위험 목록 (높음·거래금지 대상)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등급 / 주요 factor / 재심사 임박 ⚠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대상(식별자) · 유형 · 점수 · 등급 · 주요 factor · 재심사일 · 상세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주요 factor 고위험국가·UBO 불명·WLF match·거래 행동 등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355701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AML-RA-003 (상세·EDD 착수)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점수 분포  /  다음 → ③ 시뮬레이션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43799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.../ra-scores?grade=HIGH,PROHIBITED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분포 · 고위험 현황 &gt; 시뮬레이션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점수 분포 / 고위험 현황 — ③ 시뮬레이션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점수 분포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고위험 목록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시뮬레이션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47672" y="2249424"/>
            <a:ext cx="1810512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0824" y="2290572"/>
            <a:ext cx="171907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모델 RA-KR v5 초안 ▼  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67912" y="2249424"/>
            <a:ext cx="161848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41064" y="2290572"/>
            <a:ext cx="1527048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샘플 최근 90일 신규 ▼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47672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47672" y="2578608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시뮬레이션 결과 - 높음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+142 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현재 대비 증가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87318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87318" y="2578608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97046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시뮬레이션 결과 - 중간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97046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-88 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97046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현재 대비 감소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26964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26964" y="2578608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36692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시뮬레이션 결과 - 낮음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36692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-54 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36692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현재 대비 감소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66609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166609" y="2578608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76338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 예상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76338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+6%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76338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현재 v4 대비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3621024"/>
            <a:ext cx="335584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371246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시뮬레이션 설정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986784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37412" y="3986784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57400" y="416966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57400" y="4206240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비교 모델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37412" y="4206240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RA-KR v5 초안 vs v4 (활성)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4411980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샘플 기간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37412" y="4411980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최근 90일 신규 고객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4617720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샘플 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37412" y="4617720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2,400명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4823459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실행 시간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37412" y="4823459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약 30초 (결재 불필요)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40680" y="3621024"/>
            <a:ext cx="335584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50408" y="371246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factor 변화 영향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50408" y="3986784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factor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18604" y="3986784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영향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50408" y="416966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50408" y="420624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고위험국가 가중치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118604" y="420624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+5pt → 높음 증가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50408" y="441198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조건 완화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18604" y="441198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 일부 낮음으로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50408" y="461772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행동 신규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18604" y="461772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기존 v4 미적용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50408" y="4823459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18604" y="4823459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v4: 4% → v5: 10%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947672" y="5120640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75688" y="5212080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시뮬레이션 — 분석 전용(등급 변경 동작 없음 · 결재 불필요) ]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541324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[시뮬레이션 실행] → factor 변화·등급 이동·오탐율 미리보기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55961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모델 활성화는 AML-RA-002 ② factor 편집 → [활성화 상신(2인·RA_MODEL)]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30552" y="577900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고위험 목록  (RA 분포 3탭 끝)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시뮬레이션 aml:admin:policy (결재 불필요·분석 전용)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시뮬레이션 (모델 초안 검증)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설정 비교 모델 선택 / 샘플 기간 / 샘플 수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 등급 이동(높음/중간/낮음 delta) + 오탐율 예상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변화 영향 표 (변경 factor별 등급 이동 설명)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실행 후 결재 없이 분석 결과만 표시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고위험 목록  (RA 분포 3탭 끝)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42153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.../ra-models/{code}/simulate (결재 불필요)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고위험 &gt; 대상 상세 &gt; factor breakdown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대상 상세 — ① factor breakdown (cust_…501)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1664208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15361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factor breakdown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76472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6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82312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재심사 이력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AML-RA-001 ② 고위험 목록에서 [대상 행 ▶] 클릭 → 대상 상세·EDD 착수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2450592"/>
            <a:ext cx="3355848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/ 등급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281635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11956" y="281635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57400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30358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11956" y="30358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 (개인)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32415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 점수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1956" y="32415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 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34472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11956" y="34472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높음(HIGH)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36530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다음 재심사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11956" y="36530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38587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권고 조치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1956" y="38587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 수행(requiredAction)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40680" y="2450592"/>
            <a:ext cx="3355848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50408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factor breakdown (근거 분해)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50408" y="2816352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factor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4971" y="2816352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50408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50408" y="303580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 거주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4971" y="303580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50408" y="324154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확인 미완료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4971" y="324154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50408" y="344728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매칭 이력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4971" y="344728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50408" y="365302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고위험국가 송금 다발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4971" y="365302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50408" y="385876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행동 이상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94971" y="385876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47672" y="4041648"/>
            <a:ext cx="6848856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57400" y="4133087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 체크리스트 실행 (강화된 고객확인)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440740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체크 항목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11396" y="440740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39512" y="440740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28332" y="440740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57400" y="459028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57400" y="462686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 확인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11396" y="46268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39512" y="462686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지분 구조도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28332" y="46268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미완료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483260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 출처·거래 목적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11396" y="48326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39512" y="483260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소득·계약 증빙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8332" y="48326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진행중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503834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 거주 확인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11396" y="50383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239512" y="503834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거주 증빙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28332" y="50383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947672" y="531266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75688" y="540410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factor breakdown — [EDD 케이스 착수] → AML-CASE-002 ]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56052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등급 수동 조정이 필요하면 → AML-RA-002 ③ 등급 조정 이력(RISK_OVERRIDE 하향 4-eyes)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57881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관계·UBO 탭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EDD 케이스 생성 aml:case:update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AML-RA-001 ② 고위험 목록 행 클릭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factor breakdown / ② 관계·UBO / ③ 재심사 이력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breakdown 국가위험·UBO 불명·WLF match·거래 행동 기여도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331012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권고 조치 CDD 갱신/EDD/관계검토/없음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372160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EDD 체크리스트 정의는 AML-CDD-001 정책 따름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4133088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관계·UBO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437997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/aml/customers/{ref}/risk · POST .../cdd/cases(EDD 착수)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고위험 &gt; 대상 상세 &gt; 관계·UBO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대상 상세 — ② 관계·UBO (cust_…501)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166420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15361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breakdown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76472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6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82312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재심사 이력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2084832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관계 구조 (연결 상대방)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2450592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관계 유형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23773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식별자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8330" y="2450592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리스크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57400" y="267004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23773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cust_…800 (지분 51%)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8330" y="267004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287578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상대방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23773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ent_…330 (고위험 corridor)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78330" y="287578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308152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계좌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23773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acc_…501 · acc_…502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78330" y="308152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328726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이전 고객사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23773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핀테크 B (전 고객)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78330" y="328726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40680" y="2084832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확인 현황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50408" y="2450592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67692" y="2450592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50408" y="267004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확인 상태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67692" y="267004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미완료 (지분 구조도 미제출)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50408" y="287578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지분 구조도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67692" y="287578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 (EDD 체크리스트 미완료)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50408" y="308152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이름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67692" y="308152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마스킹(aml:pii:reveal 필요)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50408" y="328726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국적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67692" y="328726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마스킹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47672" y="390448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75688" y="399592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관계·UBO — 연결 구조 시각화 · UBO 확인 상태 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30552" y="41970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UBO 지분 구조도 미제출 → EDD 체크리스트 '실소유자(UBO) 확인' 미완료 상태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30552" y="43799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원문(UBO 이름·국적) 열람 → aml:pii:reveal + 사유 + 감사 로그 필수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30552" y="45628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factor breakdown  /  다음 → ③ 재심사 이력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PII 열람 aml:pii:reveal(감사)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관계·UBO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19933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 유형 실소유자(UBO) · 거래 상대방 · 연결 계좌 · 이전 고객사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UBO 확인 상태 완료/미완료 · 지분 구조도 첨부 여부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PII(이름·국적) 마스킹 · 원문 열람 감사 자동 기록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factor breakdown  /  다음 → ③ 재심사 이력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/aml/customers/{ref}/relationships · /ubo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고위험 &gt; 대상 상세 &gt; 재심사 이력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대상 상세 — ③ 재심사 이력 (cust_…501)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166420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15361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breakdown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76472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60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82312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재심사 이력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47672" y="2084832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57400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전체 재심사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 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최초 2025-06-01~현재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87318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87318" y="2084832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97046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최근 등급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7046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 (88점)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97046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2026-06-01 평가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26964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26964" y="2084832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36692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 변화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6692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낮음→중간→높음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36692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2회 상승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66609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166609" y="2084832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76338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재심사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76338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76338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12개월 주기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3127248"/>
            <a:ext cx="6848856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321868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재심사 이력 (RA 평가 이력)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349300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평가일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18104" y="3493008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점수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14750" y="349300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10278" y="3493008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주요 factor 변화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62038" y="3493008"/>
            <a:ext cx="15247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평가 방식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57400" y="367588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37124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18104" y="371246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14750" y="37124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10278" y="3712464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고위험국가 +25, UBO 미완료 +20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62038" y="3712464"/>
            <a:ext cx="15247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정기 자동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9182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18104" y="391820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714750" y="39182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10278" y="3918204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match +18 신규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62038" y="3918204"/>
            <a:ext cx="15247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 재평가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41239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2025-09-01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18104" y="412394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714750" y="41239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10278" y="4123944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행동 이상 +10 진입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62038" y="4123944"/>
            <a:ext cx="15247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정기 자동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432968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2025-06-01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18104" y="4329683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14750" y="432968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10278" y="4329683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기준 충족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62038" y="4329683"/>
            <a:ext cx="15247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최초 평가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947672" y="517550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075688" y="52669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재심사 이력 — 등급 변화 추이·factor 변화 추적 ]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30552" y="54681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등급 낮음 → 중간 → 높음 이력 · factor 기여 변화 확인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56509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관계·UBO  (RA 대상 상세 3탭 끝)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재심사 이력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평가일 · 점수 · 등급 · 주요 factor 변화 · 평가 방식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평가 방식 정기 자동 / 수동 재평가 / EDD 착수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 변화 추이로 위험 상승 패턴 분석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관계·UBO  (RA 대상 상세 3탭 끝)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36393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/aml/customers/{ref}/risk/history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모델 관리 &gt; 버전 목록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 — ① 버전 목록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버전 목록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1700784"/>
            <a:ext cx="105613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174193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편집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01084" y="1700784"/>
            <a:ext cx="96926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74236" y="1741932"/>
            <a:ext cx="8412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 조정 이력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모델 전체  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47672" y="2578608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버전 목록 [RA-KR]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50691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43983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활성화일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37275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factor 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32803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작성자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3507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57400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RA-KR v5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50691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초안(DRAFT)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43983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37275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32803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3507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[편집 ▶]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RA-KR v4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50691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활성(ACTIVE)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43983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37275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32803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3507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[비교]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RA-KR v3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50691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비활성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43983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2025-09-01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37275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32803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93507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[비교]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47672" y="480974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75688" y="49011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버전 목록 — 활성 버전 1개 유지 · 초안 편집 → ② factor 편집 탭 ]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30552" y="51023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[새 버전 생성] → 초안(DRAFT) 생성 · [편집 ▶] 클릭 → ② factor 편집 탭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30552" y="52852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활성화는 ② factor 편집 탭에서 [활성화 상신(2인·RA_MODEL)] → AML-APR-001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30552" y="54681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factor 편집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조회·초안 생성 aml:admin:policy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버전 목록 / ② factor 편집 / ③ 등급 조정 이력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버전 · 상태 · 활성화일 · factor 수 · 작성자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초안(DRAFT) / 활성(ACTIVE) / 비활성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활성 버전 1개 유지 · 비교 리포트 보존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32278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factor 편집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.../ra-models · POST (새 버전)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모델 관리 &gt; factor 편집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 — ② factor 편집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목록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1700784"/>
            <a:ext cx="105613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174193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factor 편집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01084" y="1700784"/>
            <a:ext cx="96926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74236" y="1741932"/>
            <a:ext cx="8412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 조정 이력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2084832"/>
            <a:ext cx="6848856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75688" y="2194560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 factor 편집 — 문장형 빌더 [모델: RA-KR]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75688" y="2450592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75688" y="261518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① 대상 *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84448" y="257860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0" y="261975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개인·법인 고객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75688" y="298094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② 측정 항목 *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84448" y="294436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0" y="298551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고위험 국가 거주 여부 ▼ (국가위험 등급표 연동 · AML-CTRY-001)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75688" y="334670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③ 가중치 · ④ 등급 임계 *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84448" y="331012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335127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+25 점  ·  높음 70 점 / 거래금지 90 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47672" y="3584448"/>
            <a:ext cx="6848856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75688" y="368503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⑤ 추가 조건 — 여러 조건을 AND/OR로 결합 (충족 시 추가 가산)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75688" y="3931920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75688" y="4050792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결합 방식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53512" y="4050792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</a:t>
            </a:r>
            <a:r>
              <a:rPr sz="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모두 만족(AND)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73752" y="4050792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○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하나라도(OR)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75688" y="4261104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30552" y="4329684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42616" y="4302252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97480" y="4329684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 확인  ▼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79745" y="4302252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34609" y="4329684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 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30166" y="4302252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85030" y="4329684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미완료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0" y="4329684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75688" y="4535424"/>
            <a:ext cx="566928" cy="146304"/>
          </a:xfrm>
          <a:prstGeom prst="rect">
            <a:avLst/>
          </a:prstGeom>
          <a:solidFill>
            <a:srgbClr val="E6F7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75688" y="4539996"/>
            <a:ext cx="56692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AND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75688" y="4722876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30552" y="4791456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642616" y="4764024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97480" y="4791456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최근 1년 고위험국가 송금  ▼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79745" y="4764024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34609" y="4791456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건수 이상  ▼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730166" y="4764024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85030" y="4791456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 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03920" y="4791456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75688" y="4997196"/>
            <a:ext cx="566928" cy="146304"/>
          </a:xfrm>
          <a:prstGeom prst="rect">
            <a:avLst/>
          </a:prstGeom>
          <a:solidFill>
            <a:srgbClr val="E6F7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75688" y="5001768"/>
            <a:ext cx="56692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AND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075688" y="5184648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30552" y="5253228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642616" y="5225796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697480" y="5253228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매칭 이력  ▼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279745" y="5225796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34609" y="5253228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 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730166" y="5225796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785030" y="5253228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있음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03920" y="5253228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075688" y="5239512"/>
            <a:ext cx="868680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75688" y="5276088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+ 조건 추가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035808" y="5239512"/>
            <a:ext cx="1129284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035808" y="5276088"/>
            <a:ext cx="112928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+ 그룹(괄호) 추가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56832" y="5276088"/>
            <a:ext cx="2011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 간 결합: AND ▼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947672" y="567842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75688" y="576986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factor 편집 — 자연어 미리보기 · 활성화 상신 (4-eyes) 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59710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"고위험 국가 거주 고객은 25점 가산, 추가조건[UBO 미완료 AND 고위험국가 송금 3건↑ AND WLF 매칭 있음] 모두 만족이면 +15점.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61539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 합산 70점↑ '높음', 90점↑ '거래금지'로 분류한다."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63367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[임시저장] [시뮬레이션(→AML-RA-001 ③)] [활성화 상신(2인·RA_MODEL)]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모델 활성화 상신 aml:admin:policy (2인)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factor 편집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문장형 빌더 ①대상 ②측정 항목 ③가중치 ④등급 임계 ⑤추가조건 ⑥동작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② 측정 '고위험 국가'는 AML-CTRY-001 국가위험 등급표 연동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자연어 미리보기로 결합 논리 확인 후 결재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모델 활성화 4-eyes(RA_MODEL·준법감시 책임자)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payload_hash 고정 · 자기 승인 차단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42153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버전 목록  /  다음 → ③ 등급 조정 이력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462686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.../ra-models/versions/{v} · :activate(2인·RA_MODEL)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모델 관리 &gt; 등급 조정 이력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 — ③ 등급 조정 이력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목록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1700784"/>
            <a:ext cx="105613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174193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편집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01084" y="1700784"/>
            <a:ext cx="969264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74236" y="1741932"/>
            <a:ext cx="8412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등급 조정 이력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47672" y="2249424"/>
            <a:ext cx="1330452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0824" y="2290572"/>
            <a:ext cx="123901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등급 조정 유형 전체  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785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6100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47672" y="2578608"/>
            <a:ext cx="6848856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등급 수동 조정 이력 (4-eyes · RISK_OVERRIDE)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조정ID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20340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81044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기존 등급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09160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조정 등급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37276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0568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상신자/승인자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2386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일시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740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ov-090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20340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81044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높음(88)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09160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37276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 완료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0568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김분석/이감리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2386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06-07 15:30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ov-085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20340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ent_…220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81044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높음(91)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09160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37276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재확인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30568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박심사/이감리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2386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11:20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47672" y="471830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75688" y="48097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등급 조정 이력 — 등급 수동 조정은 여기서 신청 + 이력 확인 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30552" y="50109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등급 수동 조정: score 높음(88) → [중간 ▼] 사유 [EDD 완료] [등급 조정 상신(2인·RISK_OVERRIDE 하향)]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30552" y="51937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하향 조정 4-eyes(RISK_OVERRIDE) · 상향·동일은 사유 후 즉시(감사) · 사유 필수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30552" y="53766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factor 편집  (RA 모델 3탭 끝)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등급 조정 aml:case:update (2인 하향)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등급 조정 이력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조정ID · 대상 · 기존 등급 · 조정 등급 · 사유 · 상신자/승인자 · 일시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 하향 4-eyes(RISK_OVERRIDE) · 상향/동일 즉시(사유+감사)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298094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모든 조정 이력 감사 보존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factor 편집  (RA 모델 3탭 끝)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3639311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.../risk-scores/overrides · POST .../override(2인·RISK_OVERRIDE)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AML-CDD-001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변경 상신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체크리스트 관리 &gt; 체크리스트 정의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CDD/EDD 체크리스트 관리 — ① 체크리스트 정의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69264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8412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체크리스트 정의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08376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81528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재심사 주기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14216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87368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2084832"/>
            <a:ext cx="6848856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CDD/EDD 체크리스트 항목 (정책 store · 강화된 고객확인 v4)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2450592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11396" y="245059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06924" y="2450592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증빙 유형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63156" y="2450592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위험 트리거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267004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고객확인(신원·실명)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11396" y="267004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06924" y="267004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신분 증빙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63156" y="267004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287578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 확인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11396" y="287578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06924" y="287578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지분 구조도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63156" y="287578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법인·고위험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308152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 출처·거래 목적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11396" y="30815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06924" y="308152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소득·계약 증빙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63156" y="308152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328726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 거주 확인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11396" y="32872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조건부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06924" y="328726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거주 증빙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63156" y="328726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높음↑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349300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모니터링 동의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11396" y="349300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06924" y="349300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약관 동의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63156" y="349300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47672" y="4498848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75688" y="459028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체크리스트 정의 — 정책 store(versioned) · 변경은 ③ 변경 이력에서 4-eyes 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30552" y="47914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체크리스트 항목·필수여부·증빙 유형·위험 트리거(업무 용어, 변수명 비노출)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30552" y="49743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재심사 주기 탭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AML-CDD-001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조회·변경 상신 aml:admin:policy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체크리스트 정의 / ② 재심사 주기 / ③ 변경 이력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체크리스트 항목·필수여부·증빙 유형·위험 트리거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정책 store(versioned) · 물리 마스터 테이블 미보유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AML-RA-003 EDD 체크리스트 실행이 본 정의를 따름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32278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재심사 주기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GET/POST .../cdd/checklists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AML-CDD-001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변경 상신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체크리스트 관리 &gt; 재심사 주기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CDD/EDD 체크리스트 관리 — ② 재심사 주기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6926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8412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체크리스트 정의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08376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81528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재심사 주기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14216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87368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2084832"/>
            <a:ext cx="6848856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재심사(periodic review) 주기 — 등급별 재확인 주기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2450592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위험 등급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11396" y="2450592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재확인 주기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65392" y="2450592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유예 기간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67004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11396" y="267004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36개월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65392" y="2670048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30일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287578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11396" y="287578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24개월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65392" y="2875788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308152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11396" y="308152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12개월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65392" y="3081528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10일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328726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거래금지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11396" y="328726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65392" y="3287268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372160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75688" y="381304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재심사 주기 — 등급별 주기·유예 기간 · 변경은 4-eyes 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30552" y="401421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[재심사 주기 변경 상신(2인)] 등급별 주기·유예 변경 → 승인 후 적용 · 차기 재심사 일정 반영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30552" y="41970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재심사 스케줄은 BE(T-13)가 케이스 자동 생성 → AML-CASE-001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30552" y="43799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체크리스트 정의  /  다음 → ③ 변경 이력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AML-CDD-001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변경 상신 aml:admin:policy (2인)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재심사 주기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등급별 재확인 주기(개월) · 유예 기간(일)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88552" y="224028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재심사 주기 변경 4-eyes(PERIODIC_REVIEW_CHANGE)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차기 재심사 일정에 반영 (BE 스케줄러)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체크리스트 정의  /  다음 → ③ 변경 이력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88552" y="36393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PUT .../cdd/periodic-review-policy(2인)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AML-CDD-001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체크리스트 관리 &gt; 변경 이력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CDD/EDD 체크리스트 관리 — ③ 변경 이력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6926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8412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체크리스트 정의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08376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81528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재심사 주기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14216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87368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2084832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 (4-eyes 증적 · CHECKLIST_CHANGE / PERIODIC_REVIEW_CHANGE)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245059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52928" y="2450592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유형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78808" y="2450592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내용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2804" y="245059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8332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91272" y="245059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267004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apr-490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52928" y="267004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체크리스트 변경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78808" y="267004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항목 '법인·고위험' 조건 추가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32804" y="267004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8332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91272" y="267004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287578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apr-455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52928" y="287578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재심사 주기 변경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78808" y="287578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 24개월 → 12개월 단축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32804" y="287578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8332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91272" y="287578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30815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apr-410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52928" y="308152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체크리스트 변경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78808" y="308152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모니터링 동의 항목 신규 추가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32804" y="30815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8332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반려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91272" y="30815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2025-11-20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431596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75688" y="44074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변경 이력 — 체크리스트·주기 변경 4-eyes 증적 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30552" y="46085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체크리스트 변경(CHECKLIST_CHANGE) · 재심사 주기 변경(PERIODIC_REVIEW_CHANGE) 이력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30552" y="47914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조회·초안은 결재 불필요 · 변경 적용만 4-eyes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30552" y="49743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재심사 주기  (CDD 체크리스트 3탭 끝)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AML-CDD-001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aml:admin:policy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변경 이력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결재ID · 변경 유형 · 변경 내용 · 상신자 · 상태 · 처리일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유형 체크리스트 변경(CHECKLIST_CHANGE) / 재심사 주기 변경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모든 변경 4-eyes 증적 감사 보존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재심사 주기  (CDD 체크리스트 3탭 끝)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38039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.../cdd/checklists/history · /periodic-review-policy/history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AML-TM-001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55117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TM 알림·시나리오 &gt; 알림 적체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 적체 / 시나리오 목록 — ① 알림 적체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알림 적체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시나리오 목록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시나리오 전체  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심각도 전체  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78808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60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4376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6752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578608"/>
            <a:ext cx="6848856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 적체 [고객사: 은행 A] · 대상=마스킹 식별자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알림ID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85516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시나리오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43984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9864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심각도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97980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58684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57400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alt-3301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85516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구조화거래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43984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9864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97980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58684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[케이스]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alt-3290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85516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뮬 네트워크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43984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ent_…77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69864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매우높음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97980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1차분류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58684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[케이스]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alt-3277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85516" y="35753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FDS escalation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43984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cust_…90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69864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97980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케이스생성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58684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alt-3260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85516" y="37810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corridor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43984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cust_…45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69864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97980" y="37810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58684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[케이스]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47672" y="448970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75688" y="45811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알림 적체 — [케이스] 클릭 → AML-CASE-002 케이스 생성 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30552" y="47823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[기각](사유) · [상위 escalation]은 결재 불필요·감사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30552" y="49651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alt-3301 근거: 최근 7일 9건 분할 입금 합계 9,500만원(보고 기준 회피 의심)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30552" y="51480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시나리오 목록 탭에서 시나리오 클릭 → AML-TM-002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AML-TM-001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케이스 전환 aml:case:update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알림 적체 / ② 시나리오 목록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시나리오·심각도·상태·기간 + 대상 식별자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알림ID·시나리오·대상(식별자)·심각도·상태·동작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298094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심각도 낮음/중간/높음/매우높음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탐지/1차분류/케이스생성/기각/상위승인/STR권고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36393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시나리오 목록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/aml/alerts?status=PENDING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AML-TM-001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55117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TM 알림·시나리오 &gt; 시나리오 목록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 적체 / 시나리오 목록 — ② 시나리오 목록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 적체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시나리오 목록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47672" y="2249424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20824" y="2290572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시나리오 상태 전체  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2249424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64992" y="2290572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시나리오 유형 전체  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47672" y="2578608"/>
            <a:ext cx="6848856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목록 [고객사: 은행 A]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시나리오 코드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15868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시나리오명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활성 버전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02452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7980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탐지 건수(7일)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91272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57400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STRUCTURING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15868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구조화거래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74336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02452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97980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91272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[편집 ▶]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RAPID_MOVE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15868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급속이동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74336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02452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97980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91272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[편집 ▶]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35753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MULE_NETWORK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15868" y="35753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뮬 네트워크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74336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02452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97980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91272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[편집 ▶]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37810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HIGH_RISK_CORRIDOR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15868" y="37810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corridor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74336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02452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97980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91272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[편집 ▶]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3986783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FAKE_MERCHANT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15868" y="3986783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허위가맹점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74336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02452" y="398678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초안(DRAFT)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97980" y="3986783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91272" y="398678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[편집 ▶]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947672" y="499262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75688" y="508406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시나리오 목록 — 시나리오 클릭 → AML-TM-002 빌더 상세 ]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30552" y="52852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시나리오 활성화·편집은 AML-TM-002(condition_builder 기반 빌더)에서 4-eyes 진행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30552" y="54681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알림 적체  (TM 2탭 끝)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AML-TM-001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시나리오 조회 aml:admin:policy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시나리오 목록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시나리오 상태(활성/초안/비활성) / 유형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22402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시나리오 코드·명·활성 버전·상태·탐지 건수(7일)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265176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시나리오 구조화거래/급속이동/뮬 네트워크/고위험 corridor/허위가맹점 등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시나리오 클릭 → AML-TM-002 빌더 상세 편집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알림 적체  (TM 2탭 끝)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40507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.../tm-scenarios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AML-TM-002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DSL 토글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255117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TM 시나리오 &gt; 빌더 상세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 — 구조화거래 (4-eyes)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AML-TM-001 ② 시나리오 목록에서 [시나리오 편집 ▶] 클릭 → 시나리오 빌더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47672" y="2066544"/>
            <a:ext cx="6848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75688" y="217627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 조건 (문장형) [시나리오: 구조화거래(STRUCTURING)]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75688" y="243230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① 대상 *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개인·법인 고객의 입금 거래 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② 측정 · ③ 기간 *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거래 건수 ▼ · 합산 금액 ▼  ·  최근 7일 ▼ 동안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④ 기준값 *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84448" y="329184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0" y="333298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9 건 이상 이고 합산 9,000만원 이상이면 탐지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47672" y="3474720"/>
            <a:ext cx="6848856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75688" y="3575304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⑤ 추가 조건 — 패턴을 AND/OR로 결합 (구조화/반복/고위험국가/비정상정산)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75688" y="3822192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75688" y="3941064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결합 방식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53512" y="3941064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</a:t>
            </a:r>
            <a:r>
              <a:rPr sz="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모두 만족(AND)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73752" y="3941064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○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하나라도(OR)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75688" y="4151376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30552" y="4219956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42616" y="4192524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97480" y="4219956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개별 거래 금액  ▼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79745" y="4192524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34609" y="4219956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미만  ▼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30166" y="4192524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85030" y="4219956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고액현금거래 기준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4219956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75688" y="4425696"/>
            <a:ext cx="566928" cy="146304"/>
          </a:xfrm>
          <a:prstGeom prst="rect">
            <a:avLst/>
          </a:prstGeom>
          <a:solidFill>
            <a:srgbClr val="E6F7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75688" y="4430268"/>
            <a:ext cx="56692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AND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75688" y="4613148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130552" y="4681728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42616" y="4654296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97480" y="4681728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동일 상대방 반복  ▼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279745" y="4654296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34609" y="4681728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건수 이상  ▼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30166" y="4654296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85030" y="4681728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 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03920" y="4681728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75688" y="4887468"/>
            <a:ext cx="566928" cy="146304"/>
          </a:xfrm>
          <a:prstGeom prst="rect">
            <a:avLst/>
          </a:prstGeom>
          <a:solidFill>
            <a:srgbClr val="E6F7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75688" y="4892040"/>
            <a:ext cx="56692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AND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75688" y="5074920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130552" y="5143500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642616" y="5116068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697480" y="5143500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상대국 위험  ▼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279745" y="5116068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334609" y="5143500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이상  ▼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30166" y="5116068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785030" y="5143500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503920" y="5143500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075688" y="5129784"/>
            <a:ext cx="868680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075688" y="5166360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+ 조건 추가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035808" y="5129784"/>
            <a:ext cx="1129284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035808" y="5166360"/>
            <a:ext cx="112928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+ 그룹(괄호) 추가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56832" y="5166360"/>
            <a:ext cx="2011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 간 결합: AND ▼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47672" y="556869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75688" y="566013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자연어 미리보기 · 적용 시나리오 (4-eyes · subjectType=TM_SCENARIO) 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58613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"최근 7일 입금이 9건 이상이고 합산 9,000만원 이상이며, 추가조건[개별 금액 고액현금 기준 미만 AND 동일 상대방 5건↑ AND 상대국 위험 높음↑]이면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30552" y="60441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 '구조화거래' 높음 심각도 알림을 생성하고 케이스 후보(STR_REVIEW)로 연결한다."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62270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[임시저장] [시뮬레이션(과거기간 백테스트·결재 불필요)] [시나리오 변경 적용 상신(2인)]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AML-TM-002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시나리오 정책 aml:admin:policy (적용=2인)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AML-TM-001 시나리오 목록 클릭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문장형 빌더 ①대상 ②측정 ③기간 ④기준값 ⑤추가조건 ⑥동작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240487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⑤ 추가 조건 = condition_builder(AND/OR 결합 · 필드+연산자+값 · 그룹 괄호)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31455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패턴 구조화거래·반복·고위험국가·비정상정산을 조건으로 구성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355701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연산자 미만/이상/초과/같음/포함 등 · 업무 용어 드롭다운(scenario DSL 비노출)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4133087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자연어 미리보기로 결합 논리 확인 후 결재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45445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시나리오 변경 적용 4-eyes(TM_SCENARIO·준법감시 책임자)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51206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적용 전 시뮬레이션(과거기간 백테스트) 권장(결재 불필요)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55321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payload_hash 고정 · 변경 시 무효화 · 자기 승인 차단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610819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.../tm-scenarios · simulate · {code}:activate(2인 · TM_SCENARIO)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AML-CASE-001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케이스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2784348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케이스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목록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내 케이스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기한 임박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6519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3834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종결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47672" y="2249424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20824" y="2290572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타입 전체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95827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68979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11396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454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우선순위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26964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00116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담당자 전체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47672" y="2578608"/>
            <a:ext cx="6848856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목록 [고객사: 은행 A] · 대상=마스킹 식별자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19222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타입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77690" y="2944368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04688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66509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우선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29450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담당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91272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case-771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19222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강화된 고객확인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77690" y="316382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04688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조사중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66509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29450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91272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06-20 ▶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case-760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19222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 검토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77690" y="336956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cust_…123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04688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승인대기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66509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긴급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29450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91272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06-08 ⚠ ▶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case-744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19222" y="35753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검토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77690" y="357530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ent_…220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04688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조사중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66509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29450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891272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06-25 ▶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378104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case-732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19222" y="37810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대포통장·뮬계좌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77690" y="378104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04688" y="378104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66509" y="378104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29450" y="378104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(미배정)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91272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06-22 ▶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947672" y="485546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75688" y="494690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케이스 발단 ]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51480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AML-CASE-002 (케이스 상세 · 타임라인·조치·종결·관계거절)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53309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발단 WLF 확정(AML-WLF-002) · RA 높음(AML-RA-003) · TM 알림(AML-TM-001) · 주기 재심사 · 수동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30552" y="55138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기한 임박/초과 ⚠ · STR/CTR 필요 시 AML-REP-002 보고 초안 연계(상태 보고)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AML-CASE-001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생성 aml:case:update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내 케이스 / 전체 / 기한 임박 / 종결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케이스 타입·상태·우선순위·담당자 + 대상 식별자 · 기한 임박/초과 ⚠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27340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케이스ID·타입·대상(식별자)·상태·우선·담당·기한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3145536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타입 제재/요주의 인물/강화된 고객확인/STR/CTR/무역기반/Travel Rule/가맹점·셀러/대포통장/B2B/이커머스 정산/내부통제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40507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신규/조사중/승인대기/이상없음/보고/종결 · 우선 낮음/중간/높음/긴급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46268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AML-CASE-002 (상세·조치·종결)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50383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발단 WLF 확정·RA 높음·TM 알림·주기 재심사·수동(발단 식별자 연결)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56144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.../cdd/cases · POST .../cdd/cases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784348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케이스 관리 &gt; 케이스 상세 &gt; 타임라인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① 타임라인 (case-771 강화된 고객확인)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1700784"/>
            <a:ext cx="11430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1741932"/>
            <a:ext cx="101498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CDD/EDD 체크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879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611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9379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6694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AML-CASE-001 케이스 목록에서 [케이스 행 ▶] 클릭 → 케이스 상세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47672" y="2450592"/>
            <a:ext cx="335584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57400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개요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2816352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23773" y="2816352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57400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303580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타입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23773" y="303580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강화된 고객확인(EDD_REVIEW)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324154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23773" y="324154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344728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/ 우선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23773" y="344728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조사중 / 높음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365302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담당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23773" y="365302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385876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발단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23773" y="385876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score-…77 (RA 높음)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40680" y="2450592"/>
            <a:ext cx="335584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50408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SLA / 종결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50408" y="281635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04964" y="281635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50408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50408" y="30358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04964" y="30358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50408" y="32415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경과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04964" y="32415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 6일차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50408" y="34472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 트리거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04964" y="34472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높음·UBO 불명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50408" y="36530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종결 예정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04964" y="36530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47672" y="3813048"/>
            <a:ext cx="6848856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57400" y="3904487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 타임라인 (append-only · 수정 불가)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417880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83280" y="417880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11396" y="4178808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57400" y="436168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57400" y="43982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09:10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83280" y="43982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생성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11396" y="439826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높음 트리거(AML-RA-003 EDD 착수)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46040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09:30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83280" y="46040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배정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11396" y="460400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담당 김분석 배정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48097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11:20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83280" y="48097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메모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11396" y="480974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지분 구조도 증빙 요청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501548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14:05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383280" y="50154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11396" y="5015483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소득 증빙 첨부(manifest hash 0x9c…)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47672" y="526694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75688" y="53583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타임라인 — 조치 시나리오 (4-eyes) ]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30552" y="55595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[메모/증빙 추가] [상태·담당·우선 변경] (결재 불필요·timeline append)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57424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[종결 상신(2인·EDD_CLOSE)] → 승인 시 종결 · [STR 보고 연계] → AML-REP-002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59253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CDD/EDD 체크 탭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AML-CASE-002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변경·메모 aml:case:update / 종결·관계거절 aml:case:update(2인)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AML-CASE-001 행 클릭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타임라인 / ② CDD/EDD 체크 / ③ 관계·UBO / ④ 증빙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27340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 생성·배정·메모·증빙(append-only·수정 불가)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31455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메모·증빙·상태/담당/우선 변경 결재 불필요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355701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케이스 종결 4-eyes(EDD_CLOSE)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396849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CDD/EDD 체크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42153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.../cdd/cases/{id} · PATCH · /timeline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784348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케이스 관리 &gt; 케이스 상세 &gt; CDD/EDD 체크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② CDD/EDD 체크 (case-771)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1700784"/>
            <a:ext cx="11430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1741932"/>
            <a:ext cx="101498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CDD/EDD 체크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879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611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9379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6694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2084832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CDD/EDD 체크리스트 실행 (AML-CDD-001 정책 기준)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2450592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체크 항목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46220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67628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95744" y="2450592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57400" y="267004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고객확인(신원·실명)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46220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09160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신분 증빙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67628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95744" y="267004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287578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 확인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46220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09160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지분 구조도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67628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미완료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95744" y="287578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308152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 출처·거래 목적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46220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09160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소득·계약 증빙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67628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진행중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95744" y="308152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328726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 거주 확인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46220" y="32872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조건부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09160" y="32872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거주 증빙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67628" y="32872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95744" y="328726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349300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모니터링 동의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46220" y="349300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09160" y="349300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약관 동의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67628" y="349300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95744" y="349300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947672" y="431596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75688" y="44074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CDD/EDD 체크 — 미완료 항목은 증빙 요청·메모 처리 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30552" y="46085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체크 항목 정의·증빙 요건은 AML-CDD-001(체크리스트 정의) 정책 따름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30552" y="47914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UBO 확인 미완료 → 지분 구조도 증빙 요청(타임라인 메모 추가)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0552" y="49743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타임라인  /  다음 → ③ 관계·UBO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AML-CASE-002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체크 상태 변경 aml:case:update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CDD/EDD 체크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체크 항목 · 필수 · 증빙 · 상태 · 처리자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224028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완료/미완료/진행중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24871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체크리스트 정의는 AML-CDD-001 정책 따름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28986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타임라인  /  다음 → ③ 관계·UBO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.../cdd/cases/{id}/checklist · PATCH (상태 변경)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784348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케이스 관리 &gt; 케이스 상세 &gt; 관계·UBO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③ 관계·UBO (case-771)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1700784"/>
            <a:ext cx="11430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1741932"/>
            <a:ext cx="101498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CDD/EDD 체크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8795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611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9379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6694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2084832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관계 구조 (연결 상대방)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2450592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관계 유형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23773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식별자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8330" y="2450592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리스크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67004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23773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cust_…800 (지분 51%)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8330" y="267004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287578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상대방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23773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ent_…330 (고위험 corridor)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78330" y="287578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308152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계좌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23773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acc_…501 · acc_…502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78330" y="308152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40680" y="2084832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확인 현황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50408" y="2450592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67692" y="2450592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50408" y="267004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확인 상태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67692" y="267004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미완료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50408" y="287578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지분 구조도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67692" y="287578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 (미제출)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50408" y="308152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이름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67692" y="308152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마스킹(aml:pii:reveal)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50408" y="328726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요청 일자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67692" y="328726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11:20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47672" y="390448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75688" y="399592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관계·UBO — UBO 지분 구조도 미제출 · PII 마스킹 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30552" y="41970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원문(UBO 이름) 열람 → aml:pii:reveal + 사유 + 감사 로그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30552" y="43799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관계거절·온보딩 보류 상신(2인·RELATIONSHIP_REJECT) → 승인 시 관계 거절 확정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30552" y="45628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CDD/EDD 체크  /  다음 → ④ 증빙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AML-CASE-002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관계거절 aml:case:update(2인)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관계·UBO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19933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 유형 UBO · 거래 상대방 · 연결 계좌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UBO 확인 상태 완료/미완료 · PII 마스킹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281635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관계거절·온보딩 보류 4-eyes(RELATIONSHIP_REJECT)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CDD/EDD 체크  /  다음 → ④ 증빙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38039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.../cdd/cases/{id}/relationships · :reject-relationship(2인)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784348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케이스 관리 &gt; 케이스 상세 &gt; 증빙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④ 증빙 (case-771)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1700784"/>
            <a:ext cx="11430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1741932"/>
            <a:ext cx="101498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CDD/EDD 체크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879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611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9379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6694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2084832"/>
            <a:ext cx="684885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첨부 증빙 목록 (manifest hash 고정 · 변조 불가)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증빙ID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20340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81044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파일명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39512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첨부일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0216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manifest hash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58683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ev-301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20340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소득 증빙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81044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income_doc.pdf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39512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14:05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0216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0x9c…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58683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[다운로드]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ev-299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20340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근거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81044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wlf_scr9f3a.pdf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39512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10:30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0216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0xab…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58683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[다운로드]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ev-295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20340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신분 증빙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81044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id_doc.pdf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39512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10:15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0216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0x7d…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58683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[다운로드]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47672" y="4407407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75688" y="449884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④ 증빙 — manifest hash 고정·변조 불가 · [증빙 추가]로 첨부 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30552" y="470001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[증빙 추가] → 파일 업로드(manifest hash 자동 생성) → 타임라인 append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30552" y="48828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다운로드 URL 만료 관리 · 원문 접근 감사 자동 기록(aml:pii:reveal)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30552" y="50657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③ 관계·UBO  (케이스 상세 4탭 끝)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AML-CASE-002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증빙 추가·다운로드 aml:case:update / 원문 접근 aml:pii:reveal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④ 증빙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19933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증빙ID · 유형 · 파일명 · 첨부일 · manifest hash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manifest hash 고정(업로드 시 생성) · 변조 불가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다운로드 만료 URL · 접근 감사 자동 기록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③ 관계·UBO  (케이스 상세 4탭 끝)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38039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.../cdd/cases/{id}/evidence · POST (첨부) · GET (다운로드 URL)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AML-REP-001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보고 초안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301752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규제 보고 &gt; STR 후보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— ① STR 후보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STR 후보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CTR 데이터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이력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578608"/>
            <a:ext cx="6848856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후보 목록 [고객사: 은행 A] · 대상=마스킹 식별자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19222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2513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40629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36157" y="294436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발단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92390" y="294436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제출 참조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57400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rep-220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19222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2513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case-771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40629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36157" y="316382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구조화거래 의심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92390" y="316382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19222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ent_…77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2513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case-760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40629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36157" y="336956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확정·PEP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92390" y="336956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(제출 대기) ▶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19222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cust_…90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2513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case-732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40629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초안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36157" y="357530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고위험 escalation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92390" y="357530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947672" y="485546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75688" y="494690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STR 후보 — 행 클릭 → AML-REP-002 (보고 상세·제출 4-eyes) 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30552" y="51480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STR 후보 발단 WLF 확정·EDD 거절·TM 고위험·FDS escalation·무역 증빙 불일치·수동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30552" y="53309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CTR 데이터 탭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AML-REP-001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초안 생성 aml:case:update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STR 후보 / ② CTR 데이터 / ③ 제출 이력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상태 / 기간 + 대상 식별자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보고ID·대상(식별자)·케이스·상태·발단·제출 참조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초안/검토중/승인/제출완료/반려/취소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339242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CTR 데이터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GET/POST .../reports?type=STR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AML-REP-001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01752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규제 보고 &gt; CTR 데이터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— ② CTR 데이터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STR 후보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CTR 데이터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이력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47672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47672" y="2578608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이번달 CTR 대상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21 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고액현금거래 1,000만원↑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87318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87318" y="2578608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97046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완료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97046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 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97046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FIU 수신 완료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26964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26964" y="2578608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36692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대기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36692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 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36692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오늘 제출 예정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66609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166609" y="2578608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76338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기준금액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76338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1,000만원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76338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한국 기본팩 v9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3621024"/>
            <a:ext cx="6848856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371246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데이터 [고객사: 은행 A] · 대상=마스킹 식별자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98678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19222" y="39867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2513" y="398678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거래금액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73218" y="398678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거래일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68746" y="39867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96862" y="3986784"/>
            <a:ext cx="17899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제출 참조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57400" y="416966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57400" y="420624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19222" y="420624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cust_…12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12513" y="420624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2,500만원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73218" y="420624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68746" y="42062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제출완료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96862" y="4206240"/>
            <a:ext cx="17899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FIU-2026-000218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441198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919222" y="441198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cust_…45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12513" y="441198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1,200만원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73218" y="441198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68746" y="44119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대기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96862" y="4411980"/>
            <a:ext cx="17899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57400" y="461772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19222" y="46177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ent_…80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2513" y="46177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5,000만원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173218" y="46177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68746" y="46177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검토중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96862" y="4617720"/>
            <a:ext cx="17899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47672" y="5257800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75688" y="5349240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CTR 데이터 — 고액현금거래 기준금액 policy pack(AML-PP-001) 연동 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555040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CTR 기준금액 한국 기본팩(KR_DEFAULT) effective version 따름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30552" y="57332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STR 후보  /  다음 → ③ 제출 이력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AML-REP-001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CTR 데이터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KPI 이번달 CTR 대상·제출 완료·대기·기준금액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224028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CTR 기준금액 한국 기본팩(KR_DEFAULT) effective(AML-PP-001)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보고ID·대상·거래금액·거래일·상태·제출 참조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STR 후보  /  다음 → ③ 제출 이력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.../reports?type=CTR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AML-REP-001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01752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규제 보고 &gt; 제출 이력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— ③ 제출 이력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STR 후보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CTR 데이터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제출 이력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종류 전체  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99815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7296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47672" y="2578608"/>
            <a:ext cx="684885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이력 (STR/CTR 제출 완료 기록)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19222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종류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82162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75454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제출일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68746" y="294436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제출 참조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24978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57400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19222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82162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75454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14:30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68746" y="316382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FIU-2026-000218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24978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제출완료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19222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82162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cust_…77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75454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06-01 10:15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68746" y="336956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FIU-2026-000200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24978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제출완료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rep-195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19222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82162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ent_…50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75454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05-28 09:00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68746" y="357530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FIU-2026-000195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24978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제출완료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78104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rep-190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19222" y="378104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82162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cust_…33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75454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05-20 11:30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68746" y="378104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FIU-2026-000190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24978" y="378104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제출완료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47672" y="503834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75688" y="51297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제출 이력 — 제출 참조번호·증빙 manifest hash 감사 보존 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30552" y="53309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제출 참조(submittedRef)·제출 시각·증빙 manifest hash 증적 저장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30552" y="55138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CTR 데이터  (규제 보고 3탭 끝)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AML-REP-001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제출 이력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보고 종류(STR/CTR) / 기간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22402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보고ID·종류·대상·제출일·제출 참조·상태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참조번호(FIU-YYYY-XXXXXX) 증적 보존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CTR 데이터  (규제 보고 3탭 끝)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.../reports?status=SUBMITTED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AML-REP-002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01752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규제 보고 &gt; 보고 상세 &gt; 보고 본문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상세 — ① 보고 본문 (rep-220 STR)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보고 본문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첨부 증빙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이력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AML-REP-001에서 [보고 후보 행 ▶] 클릭 → 보고 상세·제출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2450592"/>
            <a:ext cx="3355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개요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2816352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9228" y="2816352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57400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303580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보고ID / 종류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9228" y="303580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rep-220 / STR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324154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49228" y="324154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344728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연관 케이스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49228" y="344728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case-771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365302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49228" y="365302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검토중(UNDER_REVIEW)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385876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발생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49228" y="385876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구조화거래 의심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40680" y="2450592"/>
            <a:ext cx="3355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50408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증빙 manifest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50408" y="2816352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67692" y="2816352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50408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50408" y="303580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첨부 증빙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67692" y="303580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3건(거래내역·WLF·EDD)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50408" y="324154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manifest hash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67692" y="324154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0xab…(고정)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50408" y="344728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본문 PII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67692" y="344728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hash/token 보존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50408" y="365302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어댑터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67692" y="365302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고객사별(D-04)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47672" y="3904487"/>
            <a:ext cx="6848856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57400" y="3995927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본문 (요약 · PII는 hash/token)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427024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81044" y="4270248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57400" y="445312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57400" y="448970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의심 거래 요약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81044" y="4489704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최근 7일 9건 분할 입금 합계 9,500만원(보고 기준 회피 의심)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469544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근거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781044" y="4695444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 명단 유사도 0.92(scr-9f3a 확정)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57400" y="4901183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근거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781044" y="4901183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 등급 높음(88점) · 고위험국가·UBO 불명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947672" y="508406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075688" y="517550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보고 본문 — 편집(초안 결재 불필요) · 제출 4-eyes 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30552" y="53766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[본문 편집(초안)] (결재 불필요) · [제출 상신(2인·보고 책임자)] → 승인 → 외부 제출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30552" y="55595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첨부 증빙 탭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AML-REP-002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초안 편집 aml:case:update / 제출 aml:case:update(2인·보고 책임자)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191109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AML-REP-001 행 클릭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보고 본문 / ② 첨부 증빙 / ③ 제출 이력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본문 의심 거래 요약·WLF 근거·RA 근거 (PII hash/token)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331012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초안 편집 결재 불필요 / 제출 4-eyes(STR_SUBMIT)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3721608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첨부 증빙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.../reports/{id} · PATCH (본문 편집)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AML-REP-002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01752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규제 보고 &gt; 보고 상세 &gt; 첨부 증빙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상세 — ② 첨부 증빙 (rep-220 STR)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본문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첨부 증빙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이력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2084832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첨부 증빙 목록 (manifest hash 고정 · 변조 불가)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증빙ID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20340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81044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파일명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39512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첨부일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216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manifest hash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58683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ev-301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20340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거래내역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81044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txn_hist.pdf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39512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14:05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0216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0x9c…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58683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[다운로드]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ev-299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20340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근거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81044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wlf_scr9f3a.pdf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39512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0216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0xab…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58683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[다운로드]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ev-295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20340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 결과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81044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edd_report.pdf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39512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10:15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0216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0x7d…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58683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[다운로드]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431596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75688" y="44074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첨부 증빙 — [증빙 추가] · manifest hash 자동 생성 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30552" y="46085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[증빙 추가] → 파일 업로드 → manifest hash 자동 생성(변조 불가)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30552" y="47914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다운로드 만료 URL · 접근 감사 자동 기록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30552" y="49743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보고 본문  /  다음 → ③ 제출 이력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AML-REP-002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증빙 추가 aml:case:update / 다운로드 aml:evidence:export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첨부 증빙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19933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증빙ID · 유형 · 파일명 · 첨부일 · manifest hash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manifest hash 고정·변조 불가 · 만료 URL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보고 본문  /  다음 → ③ 제출 이력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.../reports/{id}/evidence · POST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AML-REP-002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01752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규제 보고 &gt; 보고 상세 &gt; 제출 이력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상세 — ③ 제출 이력 (rep-220 STR)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본문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첨부 증빙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제출 이력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2084832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정보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1956" y="245059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57400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11956" y="26700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검토중(UNDER_REVIEW)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참조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11956" y="28757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(제출 전)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어댑터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1956" y="30815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고객사별(D-04)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예정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11956" y="32872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 후 즉시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40680" y="2084832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시나리오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50408" y="2450592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42236" y="2450592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50408" y="267004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[제출 상신(2인)]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42236" y="267004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책임자 승인 → 외부 제출(EXECUTED)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50408" y="287578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[반려]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42236" y="287578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초안으로 회신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50408" y="308152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완료 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42236" y="308152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submittedRef · 케이스 REPORTED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47672" y="363016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75688" y="372160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제출 이력 — 4-eyes 제출(STR_SUBMIT) · 증적 보존 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30552" y="39227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[제출 상신(2인·보고 책임자)] → 승인(maker≠checker) → 외부 제출(EXECUTED)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30552" y="41056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제출 후 submittedRef·제출 시각·manifest hash 증적 저장 · 케이스 상태 보고(REPORTED)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30552" y="42885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첨부 증빙  (보고 상세 3탭 끝)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AML-REP-002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제출 aml:case:update (2인·보고 책임자)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제출 이력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4-eyes(STR_SUBMIT·CTR_SUBMIT) maker≠checker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결과 submittedRef·시각·manifest hash 증적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케이스 상태 보고(REPORTED) 연동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실패·재제출 상태·이력 보존(아웃박스 BE)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첨부 증빙  (보고 상세 3탭 끝)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42153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.../reports/{id}:submit(2인) · GET (이력)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AML-TR-001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이전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25069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Travel Rule &gt; 예외 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이전 — ① 예외 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예외 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전체 이전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이력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완전성 전체  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78808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51960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94376" y="2249424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67528" y="2290572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거래소 C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2578608"/>
            <a:ext cx="6848856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예외 큐 (정보 누락·위험 지갑) [고객사: 거래소 C]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이전ID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19222" y="294436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송신VASP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13631" y="294436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수취VASP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08042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자산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70981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완전성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9098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위험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27214" y="2944368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tr-9001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19222" y="316382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13631" y="316382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08042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BTC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70981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정보누락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9098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27214" y="316382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[예외처리]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tr-8990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19222" y="336956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1" y="336956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(미확인)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08042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ETH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70981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정보누락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9098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위험지갑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27214" y="336956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[예외처리]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47672" y="4535424"/>
            <a:ext cx="6848856" cy="100584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75688" y="462686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예외 큐 — tr-8990 예외 처리 시나리오 (4-eyes · TRAVEL_RULE_EXCEPTION) 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30552" y="48280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수취 VASP 정보 미확인 · 수취 지갑주소(hash) 위험 명단(가상자산위험) 매칭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30552" y="50109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처리 [추가확인 요청 ▼](추가확인/보류/반송/케이스 생성) 사유 [______]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30552" y="51937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[예외 처리 확정 상신(2인)] → 승인(maker≠checker) → 확정(EXECUTED)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30552" y="53766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전체 이전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AML-TR-001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예외 확정 aml:case:update(2인)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예외 큐 / ② 전체 이전 / ③ 처리 이력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완전성·위험·기간 + 이전 식별자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이전ID·송신VASP·수취VASP·자산·완전성·위험·동작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예외 처리 4-eyes(TRAVEL_RULE_EXCEPTION)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339242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전체 이전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36393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.../travel-rule/transfers?status=EXCEPTION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AML-TR-001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이전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25069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Travel Rule &gt; 전체 이전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이전 — ② 전체 이전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예외 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전체 이전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이력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완전성 전체  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78808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51960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자산 전체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578608"/>
            <a:ext cx="684885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전체 이전 [고객사: 거래소 C] · 대상=마스킹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이전ID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19222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송신VASP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7337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수취VASP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75454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자산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38394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금액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66510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완전성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94626" y="2944368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tr-9005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19222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7337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75454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BTC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38394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0.5 BTC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66510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94626" y="316382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tr-9003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19222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7337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75454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USDT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38394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10,000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66510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94626" y="336956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tr-9001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19222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47337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75454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BTC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38394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1.2 BTC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66510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정보누락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94626" y="357530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예외처리중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378104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tr-8990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19222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7337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(미확인)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75454" y="378104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ETH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38394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5.0 ETH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66510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정보누락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94626" y="378104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예외처리중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3986783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tr-8977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919222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47337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75454" y="3986783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USDT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38394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50,000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66510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294626" y="3986783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47672" y="503834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75688" y="51297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전체 이전 — 완전/예외처리중 포함 전체 이전 이력 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53309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완전성 완전 / 정보 누락 · 위험 지갑·제재 지갑 매칭(지갑주소 hash)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30552" y="55138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예외 큐  /  다음 → ③ 처리 이력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AML-TR-001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전체 이전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182880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완전성 / 기간 / 자산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207568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이전ID·송신VASP·수취VASP·자산·금액·완전성·처리 상태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정보 hash/token만 표시 (원문 PII 미노출)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예외 큐  /  다음 → ③ 처리 이력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.../travel-rule/transfers (전체)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AML-TR-001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이전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25069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Travel Rule &gt; 처리 이력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이전 — ③ 처리 이력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예외 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전체 이전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처리 이력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 유형 전체  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99815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7296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47672" y="2578608"/>
            <a:ext cx="684885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 이력 (4-eyes 증적 · TRAVEL_RULE_EXCEPTION)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이전ID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52928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 유형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78808" y="2944368"/>
            <a:ext cx="23865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 결과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65392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상신자/승인자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58683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57400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tr-8900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52928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추가확인 요청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78808" y="3163824"/>
            <a:ext cx="23865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 정보 수령 → 완전 처리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65392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박심사/이감리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58683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14:20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tr-8850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52928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생성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78808" y="3369564"/>
            <a:ext cx="23865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AML-CASE-002(TR 검토) 생성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65392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김분석/이감리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58683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06-04 11:30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tr-8800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52928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78808" y="3575304"/>
            <a:ext cx="23865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수취 VASP 응답 대기 중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65392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박심사/이감리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58683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06-03 10:00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47672" y="490118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75688" y="49926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처리 이력 — 4-eyes 예외 처리 증적 · 케이스 연결 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30552" y="51937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케이스 생성 → AML-CASE-002(Travel Rule 검토) / 보고 필요 → AML-REP-002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30552" y="53766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전체 이전  (Travel Rule 3탭 끝)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AML-TR-001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처리 이력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이전ID · 처리 유형 · 처리 결과 · 상신자/승인자 · 처리일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유형 추가확인 요청/보류/반송/케이스 생성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모든 처리 4-eyes 증적 감사 보존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전체 이전  (Travel Rule 3탭 끝)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36393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.../travel-rule/transfers/exceptions/history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AML-PP-001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변경 상신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348386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Policy Pack &gt; 적용 팩 / 기준금액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 관리 — ① 적용 팩 / 기준금액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1229868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11018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적용 팩 / 기준금액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68980" y="1700784"/>
            <a:ext cx="96926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2132" y="1741932"/>
            <a:ext cx="8412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상신·이력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2084832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 Policy Pack [고객사: 은행 A]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2450592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74684" y="2450592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57400" y="267004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 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74684" y="267004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기본팩(KR_DEFAULT)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287578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effective 버전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74684" y="287578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308152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jurisdiction 확장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74684" y="308152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328726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 시점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74684" y="328726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2026-04-01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40680" y="2084832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기준금액 (effective)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50408" y="2450592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06787" y="2450592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50408" y="267004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고액현금거래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06787" y="267004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1,000만원 이상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50408" y="287578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보고 기준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06787" y="287578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의심 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50408" y="308152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기준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06787" y="308152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100만원 상당 이상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50408" y="328726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분할 의심 임계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06787" y="328726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9,000만원/7일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47672" y="3630168"/>
            <a:ext cx="6848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57400" y="372160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 영역별 기본 반영 (한국 기본팩)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399592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영역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81044" y="3995928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기본 반영 기준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57400" y="417880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57400" y="421538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781044" y="4215384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고객확인·실소유자·자금출처/거래목적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442112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/ CTR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81044" y="4421124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의심거래 후보·보고 / 고액현금거래 수집·검증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462686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Sanctions·PEP / VASP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81044" y="4626864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필터링·정치인 관리 / Travel Rule·지갑 risk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4832603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Privacy·Audit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781044" y="4832603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최소수집·목적제한 / append-only 증적 보존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47672" y="503834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075688" y="51297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적용 팩 / 기준금액 — 변경은 ② 변경 상신·이력 탭에서 4-eyes 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30552" y="53309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CTR/STR/Travel Rule 기준금액은 AML-REP-001/002·AML-TM-002에 연동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30552" y="55138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변경 상신·이력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AML-PP-001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조회·변경 상신 aml:admin:policy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적용 팩 / 기준금액 · ② 변경 상신·이력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19933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적용 팩 한국 기본팩(KR_DEFAULT) + 고객사 jurisdiction 확장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2569463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기준금액 CTR·STR·Travel Rule·분할 의심 임계(effective)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314553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영역 CDD/STR/CTR/Sanctions/PEP/VASP/Privacy/Audit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3721607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변경 상신·이력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.../policy-packs · /tenants/{id}/policy-pack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AML-PP-001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48386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Policy Pack &gt; 변경 상신·이력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 관리 — ② 변경 상신·이력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12298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11018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적용 팩 / 기준금액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68980" y="1700784"/>
            <a:ext cx="969264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42132" y="1741932"/>
            <a:ext cx="8412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변경 상신·이력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47672" y="2084832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75688" y="217627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변경 시나리오 (4-eyes · subjectType=POLICY_PACK) 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30552" y="237744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변경 [기준금액 조정 / jurisdiction 확장 추가 ▼]  예: CTR 1,000→ effective 갱신  사유 [고시 개정 ▼]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30552" y="256032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[정책팩 변경 상신(2인·준법감시 책임자)] → 승인 → tenant policy pack effective version 갱신(EXECUTED)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30552" y="274320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법령·감독규정 변경 가능성으로 effective version 관리 · 국가별 확장은 별도 jurisdiction plugin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47672" y="3035808"/>
            <a:ext cx="6848856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31272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상신 이력 (4-eyes 증적 · POLICY_PACK)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34015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52928" y="3401568"/>
            <a:ext cx="27843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내용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37276" y="34015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5392" y="34015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19" y="34015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57400" y="35844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36210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apr-490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52928" y="3621024"/>
            <a:ext cx="27843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기준금액 800만원 → 1,000만원 (고시 개정)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37276" y="36210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65392" y="36210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60919" y="36210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2026-04-01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38267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apr-455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52928" y="3826764"/>
            <a:ext cx="27843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분할 의심 임계 1억원/7일 → 9,000만원/7일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37276" y="38267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65392" y="38267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60919" y="38267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40325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apr-380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52928" y="4032504"/>
            <a:ext cx="27843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기준 150만원 → 100만원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37276" y="40325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65392" y="40325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60919" y="40325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2025-07-01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AML-PP-001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변경 상신 aml:admin:policy (2인·준법감시 책임자)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변경 상신·이력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88552" y="19933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4-eyes(POLICY_PACK) 상신→승인→effective 갱신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이력 컬럼 결재ID · 변경 내용 · 상신자 · 상태 · 처리일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effective version 관리(법령·감독규정 변경 대응)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적용 팩 / 기준금액  (Policy Pack 2탭 끝)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88552" y="396849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.../policy-packs:change(2인·POLICY_PACK) · GET (이력)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AML-APR-001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상신자·대상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71703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결재 대기함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 / 승인·반려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대기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내가 상신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완료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종류 전체  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99815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72968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라인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59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2511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578608"/>
            <a:ext cx="6848856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 [고객사: 은행 A]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52928" y="2944368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종류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45102" y="294436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39512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라인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97980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6096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만료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57400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apr-551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52928" y="316382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판정 확정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45102" y="316382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scr-9f3a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39512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Maker-Checker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97980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26096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2h ⚠ ▶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apr-549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52928" y="336956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제출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45102" y="336956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39512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책임자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97980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26096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1d ▶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apr-544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52928" y="357530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활성화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45102" y="357530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RA-KR v5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39512" y="35753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준법감시 책임자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97980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26096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3d ▶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apr-541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52928" y="378104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변경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45102" y="378104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country v8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39512" y="37810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준법감시 책임자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97980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26096" y="37810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2d ▶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398678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apr-540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52928" y="3986783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import 적용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245102" y="3986783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 v142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39512" y="3986783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Maker-Checker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97980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26096" y="398678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6h ▶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947672" y="4855464"/>
            <a:ext cx="6848856" cy="100584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75688" y="494690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결재 상세 (행 클릭) — 결재 종류 총 16종 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30552" y="51480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결재 상세 (대상 payload·사유·payload_hash 잠금 확인) · [승인] [반려](사유)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30552" y="53309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결재 종류 WLF 판정(WLF_DECISION)/오탐 면제(FP_WHITELIST)/RA 모델(RA_MODEL)/등급 조정(RISK_OVERRIDE)/EDD 종결(EDD_CLOSE)/관계거절(RELATIONSHIP_REJECT)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30552" y="55138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STR 제출(STR_SUBMIT)/CTR 제출(CTR_SUBMIT)/Travel Rule 예외(TRAVEL_RULE_EXCEPTION)/명단 import(WATCHLIST_IMPORT)/국가위험(COUNTRY_RISK)/정책팩(POLICY_PACK)/secret 변경(SECRET_CHANGE)/체크리스트 변경(CHECKLIST_CHANGE)/재심사 주기 변경(PERIODIC_REVIEW_CHANGE)/TM 시나리오(TM_SCENARIO)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56967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상신자와 동일인은 승인 불가(maker≠checker) · 결재 승인 ≠ 실행(승인 후 엔진 실행·결과·시각 표기)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AML-APR-001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조회·승인·반려 aml:admin:approval (maker≠checker 강제)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대기(SUBMITTED) / 내가 상신 / 처리 완료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결재 종류·결재 라인·기간 + 상신자/대상 · 만료 임박 ⚠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결재ID·결재 종류·대상·결재 라인·상신자·만료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2980944"/>
            <a:ext cx="2852927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종류 총 16종: WLF 판정·오탐 면제·RA 모델·등급 조정·EDD 종결·관계거절·STR 제출(STR_SUBMIT)·CTR 제출(CTR_SUBMIT)·Travel Rule 예외·명단 import·국가위험·정책팩·secret 변경·체크리스트 변경(CHECKLIST_CHANGE)·재심사 주기 변경(PERIODIC_REVIEW_CHANGE)·TM 시나리오(TM_SCENARIO)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50383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라인 Maker-Checker/AML 책임자/준법감시 책임자/보고 책임자/보안 관리자/임원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56144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결재 상세(payload_hash 잠금 확인·승인/반려)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619048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승인 maker≠checker 강제 · 자기 승인 차단(AML.SELF_APPROVAL_FORBIDDEN)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693115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payload_hash 고정 · 변경 시 무효화(재상신) · 결재 승인 ≠ 실행(분리)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75072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만료·취소는 미실행 · AI agent 상신·초안만(승인자 불가)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79187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.../approvals?status=SUBMITTED · {id}:approve · {id}:reject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AML-AUD-001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작업자·대상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950207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감사·증적 &gt;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감사·증적·소스 — ① 감사 로그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1700784"/>
            <a:ext cx="105613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174193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증적 Export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01084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74236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47672" y="2249424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0824" y="2290572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카테고리 전체  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18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649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47672" y="2578608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 [고객사: 은행 A] (append-only · hash chain) · 대상=마스킹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50691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카테고리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11396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작업자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06924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67628" y="294436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58683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체인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57400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10:21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50691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승인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11396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06924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apr-551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67628" y="316382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확정 승인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58683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50691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원문 접근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11396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06924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7628" y="336956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 증빙 열람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58683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03:00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50691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import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11396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06924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 v142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67628" y="357530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변경분 +18/6/2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58683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15:30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50691" y="37810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정책 변경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11396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06924" y="37810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country v7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67628" y="378104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MM 높음→거래금지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58683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3986783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09:10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50691" y="398678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생성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11396" y="398678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06924" y="398678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case-771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67628" y="3986783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높음 트리거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58683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947672" y="480974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075688" y="49011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감사 로그 — append-only · hash chain 검증 · 수정·삭제 불가 ]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30552" y="51023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감사 카테고리 결재 승인/반려·원문 접근·명단 import·정책 변경·케이스 종결 등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130552" y="52852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원문(PII) 열람 이력 aml:pii:reveal+사유+자동 감사(RAW_DATA_ACCESS)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30552" y="54681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증적 Export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AML-AUD-001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감사 조회 aml:admin:audit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감사 로그 / ② 증적 Export / ③ 소스 시스템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감사 카테고리·기간 + 작업자/대상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append-only(수정·삭제 불가) · hash chain 검증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감사 카테고리 결재 승인/반려·원문 접근·명단 import·정책 변경·케이스 종결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3557015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증적 Export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38039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/api/v1/bo/aml/audit (bo-api)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AML-AUD-001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작업자·대상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950207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감사·증적 &gt; 증적 Export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감사·증적·소스 — ② 증적 Export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1700784"/>
            <a:ext cx="105613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174193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증적 Export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01084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74236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2084832"/>
            <a:ext cx="3355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증적 생성 설정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1956" y="245059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57400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증적 유형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11956" y="26700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[STR 증적 ▼]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포맷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11956" y="28757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[PDF ▼]  (CSV/Excel/PDF/API)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1956" y="30815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[2026-01 ~ 2026-03]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11956" y="32872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[검사 대응]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34930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11956" y="34930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[+ 증적 생성]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40680" y="2084832"/>
            <a:ext cx="3355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생성 이력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50408" y="2450592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증적ID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52230" y="2450592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42236" y="2450592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포맷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81331" y="2450592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행 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20426" y="2450592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hash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50408" y="267004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exp-77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52230" y="2670048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증적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42236" y="2670048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PDF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81331" y="2670048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20426" y="267004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0xab…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50408" y="287578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exp-71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52230" y="2875788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CDD/EDD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42236" y="2875788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CSV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81331" y="2875788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588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20426" y="287578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0x7c…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50408" y="308152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exp-65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52230" y="3081528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리포트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42236" y="3081528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Excel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81331" y="3081528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2,400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20426" y="308152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0x3d…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47672" y="353872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75688" y="363016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증적 Export — manifest hash 고정 · 만료 URL 다운로드 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30552" y="38313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증적 유형 CDD/EDD·WLF 등록부·RA 리포트·TM 이력·STR/CTR·Travel Rule·명단 변경·PII 접근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30552" y="401421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생성자·사유·기간·row count·manifest hash 기록 · 만료 URL 다운로드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30552" y="41970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감사 로그  /  다음 → ③ 소스 시스템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AML-AUD-001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증적 export aml:evidence:export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증적 Export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증적 유형·포맷·기간·사유 설정 후 생성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22402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포맷 CSV/Excel/PDF/API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manifest hash 고정 · 만료 URL 다운로드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감사 로그  /  다음 → ③ 소스 시스템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/evidence/aml/exports · GET (이력·다운로드 URL)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AML-AUD-001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작업자·대상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950207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감사·증적 &gt; 소스 시스템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감사·증적·소스 — ③ 소스 시스템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1700784"/>
            <a:ext cx="105613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174193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증적 Export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01084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74236" y="174193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2084832"/>
            <a:ext cx="6848856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 관리 [고객사: 은행 A]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50691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종류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78808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72100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인증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32804" y="2450592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장애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58683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50691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회원·계좌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78808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큐(MQ)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2100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API Key+HMAC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32804" y="267004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수동검토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58683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 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28757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onboarding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50691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78808" y="28757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전송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72100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mTLS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32804" y="287578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차단(fail-closed)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58683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 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30815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transaction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50691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78808" y="30815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변경수집(CDC)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72100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OAuth2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32804" y="308152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지연허용(D-14)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58683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 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2872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kyc-feed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50691" y="32872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KYC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78808" y="32872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스냅샷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72100" y="32872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mTLS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32804" y="32872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수동검토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58683" y="32872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 ⚠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47672" y="413308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75688" y="422452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소스 시스템 — 소스 등록·secret 변경 4-eyes(SECRET_CHANGE) 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30552" y="44256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[+ 소스 등록(2인)] · secret 변경 = 4-eyes(SECRET_CHANGE·보안 관리자) · secret 마스킹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30552" y="46085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연동 방식 REST 전송/큐/폴링/변경수집/스냅샷/벤더브릿지 · 인증 API Key+HMAC/OAuth2/mTLS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30552" y="47914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증적 Export  (감사·증적 3탭 끝)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AML-AUD-001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소스·secret aml:admin:source-system (2인)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소스 시스템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19933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소스 ID · 종류 · 연동 방식 · 인증 · 장애 정책 · 상태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 방식 REST/큐/폴링/변경수집/스냅샷/벤더브릿지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인증 API Key+HMAC / OAuth2 / mTLS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장애 정책 수동검토/차단(fail-closed)/지연허용(D-14)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등록·secret 변경 4-eyes(SECRET_CHANGE·보안 관리자)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증적 Export  (감사·증적 3탭 끝)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495604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GET/POST .../source-systems · :change-secret(2인·SECRET_CHANGE)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