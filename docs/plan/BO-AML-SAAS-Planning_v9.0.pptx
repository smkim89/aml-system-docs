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8FF"/>
                </a:solidFill>
                <a:latin typeface="맑은 고딕"/>
                <a:ea typeface="맑은 고딕"/>
                <a:cs typeface="맑은 고딕"/>
              </a:rPr>
              <a:t>HANPASS  ·  SaaS AML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SaaS AML Platform 백오피스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멀티 고객사·서비스 자금세탁방지(AML) 운영 콘솔 — 준법감시실 화면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정본 PRD: docs/plan/02-aml-sass-functional-spec.md (FS-AML-SAAS-001 v9.0)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기능 ID 전수 32화면 (목록→상세→액션→결과 흐름 + 벤치마크 7화면 §12-B + 인입 모니터링 §12.2)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좌 75% 와이어프레임(실제 도형) + 우 25% 기능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WLF(+시뮬레이션)·명단(+내부 명단·오탐 면제)·국가위험·RA/CDD(+당연고위험·고객 프로필)·TM·케이스·규제 보고·기관 RBA 보고·Travel Rule·Policy Pack·결재·통계·내부통제·감사·인입 모니터링·고객사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1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용어 고객사(tenant)·서비스(workspace) · enum 괄호 병기 · 책임 경계 명시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버전 BO-AML-SAAS-Planning v9.0 (메뉴 IA 운영/설정 2영역·3단 재구성 — 혼재 메뉴 TM/RA/CDD 분리, 32화면 불변)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963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7674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103" y="1600200"/>
            <a:ext cx="12060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6106" y="1600200"/>
            <a:ext cx="13156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744" y="1600200"/>
            <a:ext cx="76745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1096365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196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103" y="18196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6106" y="18196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744" y="18196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설계서 기준 정합화 전면 재작성 — 14 도메인·BO 화면 10종+대시보드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253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103" y="20253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6106" y="20253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744" y="20253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리포트 동기화 — 집계 소유 경계·HTTP 상태코드·표시 용어 사전 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2311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103" y="22311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6106" y="22311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744" y="22311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도형 기반 PPT 전면 재생성 — AML-* 11화면 전수(맑은고딕·Ant Design)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3687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103" y="243687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6106" y="24368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744" y="24368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흐름 재구성(11→20) — 후속 상세 6종·앞단 정책 관리 3종 신규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64261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0103" y="264261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6106" y="26426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744" y="26426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모델 재설계(20→24화면) — 고객사 관리 TNT-001~004 신규, 격리 라디오 폐기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8483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0103" y="28483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6106" y="28483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1744" y="28483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admin scope 통일·DASH Travel Rule 행·TNT-004 설치형 콜백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05409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0103" y="305409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86106" y="30540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1744" y="30540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WLF-002 권한·API 수정, WLF 필터/컬럼·TNT-001 region 필터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598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0103" y="32598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6106" y="32598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1744" y="32598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WLF 3화면(검토필요→상위승인→처리이력)·결재 16종·면제 카드·status enum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46557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0103" y="346557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86106" y="34655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1744" y="34655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상세(TNT-002) 4탭 연속 전개(기본정보→배포온보딩→소스→정책팩), 온보딩 흡수·등록 분리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67131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0103" y="367131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86106" y="36713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1744" y="36713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멀티탭 상세/플로우 화면 탭 연속 전개 — 13화면(WL-001·CTRY-001·RA-001/002/003·CDD-001·TM-001·CASE-002·REP…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8770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0103" y="38770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86106" y="38770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1744" y="38770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드릴다운 진입 트리거 배너 추가(RA-003·WL-002·CASE-002·REP-002·TM-002) + RA 순서 재배치(모니터→상세→설정)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408279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0103" y="408279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86106" y="40827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01744" y="40827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시뮬레이션→모델 관리(RA-002 ③) 이동, 정책팩 탭 KR_DEFAULT 미리보기·드릴다운·버전 정합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" y="42885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80103" y="42885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6106" y="42885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1744" y="42885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기본 번들(KR_DEFAULT·잠금)+확장 plugin 구분 모델, FDS와 규제 모델 차이 명시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44942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80103" y="44942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86106" y="44942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1744" y="44942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준법감시인 검토 반영: FIU 회신 폐루프·tipping-off·법정 SLA·CTR 제외대상 신설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70001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80103" y="470001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86106" y="47000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01744" y="47000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WLF-001 이전판정이력 탭·STR 종류 컬럼·WLF-003 SLA 카드·DASH D-3 표기·TNT 소스 오류 상태·드릴다운 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490575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80103" y="490575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86106" y="49057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01744" y="49057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TM-001 ② 시나리오 목록 타이틀 아웃바운드 ID 표기(ppt-flow MEDIUM), WLF-003 KPI 카드 순서 정정(확정·오탐·자…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1114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80103" y="51114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86106" y="51114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01744" y="51114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QA 높음 이격 해소(테넌트 상태 4종·정책팩 경로 정정 등)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31723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80103" y="531723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86106" y="53172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1744" y="53172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보고 기각·취소 결재 엔드포인트 표기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" y="55229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80103" y="55229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86106" y="55229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1744" y="55229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TM-001 탭 명칭 정정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" y="572871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80103" y="572871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86106" y="57287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01744" y="57287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화면 범위 표 CTRY·CDD 등재(24화면)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" y="593445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v6.0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80103" y="593445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86106" y="59344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01744" y="59344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실계 벤치마크 보강(GTone 80화면): WLF-004·IRA-001·STAT-001·EDU-001 신설(28화면)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2648" y="61401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80103" y="61401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86106" y="61401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01744" y="61401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벤치마크 2차 보강: WL-003(내부 명단·오탐 면제)·HRR-001(당연고위험)·CDD-002(고객 프로필) 신설 + TNT-002 ① 보고기관 패널(3…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2648" y="634593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80103" y="634593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86106" y="63459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01744" y="63459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인입 가시성: ING-001(수신 API 카탈로그·인입 라이브) 신설·TNT-002 ③ 인입 신호 컬럼·인입 유형 확정 §1.11(32화면)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2648" y="65516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v9.0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80103" y="65516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586106" y="65516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 Team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01744" y="65516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메뉴 IA 재구성 — 운영(조사·모니터링/고객위험·심사/케이스·처리/거버넌스·보고)·설정(연동·데이터/탐지·심사 정책/감사·증적·내부통제) 2영역 3단. 혼…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AML-DASH-001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대상·케이스·보고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" y="150610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종합 현황 대시보드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고객사별·서비스별 AML 종합 현황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은행 A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전체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15383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88536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7일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47672" y="2194560"/>
            <a:ext cx="1050036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WLF 검토 필요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 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상위승인 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7436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07436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17164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 높음(명)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17164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17164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3% · 중간 12,880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67200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67200" y="2194560"/>
            <a:ext cx="1050036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76928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TM 미처리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928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126 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928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 42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26964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26964" y="2194560"/>
            <a:ext cx="1050036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36692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SLA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6692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 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36692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임박 7 ⚠ · 초과 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6728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86728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96456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 보고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96456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96456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STR D-3 1 · CTR 1 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46492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746492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56220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대기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56220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 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56220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임박 2 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323697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33284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운영 알림 (카드·알림 클릭 → 해당 상세로 드릴다운)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3529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제재 명단 일일 갱신 누락 — 18시간 경과 [클릭 → AML-WL-001 임포트 이력]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3712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WLF 검토 큐 적체 18건 · 상위승인 2건 [클릭 → AML-WLF-001]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38953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법정 보고 기한 임박 2건 (STR 3영업일·CTR 30일, D-3 ⚠) [클릭 → AML-REP-001]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4078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 만료 임박 2건 [클릭 → AML-APR-001]  ·  EDD 재심사 임박 7명 [클릭 → AML-CASE-001]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4370832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57400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신선도 (클릭 → AML-WL-001)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7400" y="4736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00140" y="4736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신선도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52874" y="4736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갱신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57400" y="4956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 Jones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00140" y="4956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52874" y="4956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57400" y="5161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00140" y="5161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52874" y="5161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5367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 제재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00140" y="536752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52874" y="5367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02:30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57400" y="5573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KoFIU 제재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00140" y="557326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52874" y="5573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40680" y="4370832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550408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/ Travel Rule (클릭 → REP/TR)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50408" y="4736592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20426" y="4736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50408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550408" y="495604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20426" y="4956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50408" y="516178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0426" y="5161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50408" y="536752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426" y="5367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550408" y="557326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정보 누락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20426" y="5573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50408" y="5779007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위험 지갑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20426" y="5779007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550408" y="5984747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예외 검토 대기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20426" y="5984747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AML-DASH-001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자기 고객사 조회 (aml:case:read) · SaaS 운영자는 크로스 고객사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고객사 선택 ▼ · 서비스 선택 ▼ + 기간 필터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WLF·RA·TM·케이스 SLA·기한 임박 보고·결재 대기 (클릭 드릴다운)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88552" y="27340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 보고 — 법정 기한 SLA(STR 3영업일·CTR 30일) D-3 ⚠ → AML-REP-001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대기 카드 — 만료 임박 ⚠ · 클릭 → AML-APR-001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보고 STR·CTR·제출 대기 / Travel Rule 누락·위험 지갑·예외 대기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알림 명단 갱신·WLF 적체·보고 기한·결재 만료·재심사 (딥링크)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소스 신선도 / 최근 위험평가(모델 버전·신규 높음)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30~60초 캐시 · read-only · raw PII 미포함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88552" y="619048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· /tenants/{id}/dashboard (bo-api)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① 검토 필요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① 검토 필요 (요주의 명단 필터링)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3639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유형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점수 전체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3095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410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257860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 필요 큐 [고객사: 은행 A] · 행 ▶ → 하단 근거·점수 패널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294436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6986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7545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대상유형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38394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31686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94625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56448" y="2944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16382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scr-9f3a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16986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7545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38394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31686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0.92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94625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검토필요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56448" y="31638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3695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scr-4a18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16986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cust_…340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7545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38394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PEP관련자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31686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0.66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4625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검토필요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6448" y="33695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389534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20824" y="3936491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매칭 후보·근거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64408" y="389534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37560" y="3936491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 분해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70248" y="389534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43400" y="3936491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판정 이력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47672" y="4279392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57400" y="4370831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선택 후보 근거 — scr-9f3a (매칭 명단·마스킹)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645152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 / 항목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68776" y="4645152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57400" y="48280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57400" y="486460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 (제재)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68776" y="4864608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제재명 유사·생년 일치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57400" y="507034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 제재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68776" y="5070348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제재명 유사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57400" y="527608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룰버전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68776" y="5276088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WLF-KR v12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40680" y="4279392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550408" y="4370831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점수 분해 (factor 기여)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550408" y="46451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32243" y="46451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기여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550408" y="48280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50408" y="48646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이름 유사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32243" y="48646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550408" y="50703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생년월일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32243" y="50703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550408" y="52760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32243" y="52760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50408" y="5481827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32243" y="5481827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0.07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947672" y="5779007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075688" y="58704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검토 필요 시나리오 — 행 선택 → 근거·점수 확인 → 판정 [상신(2인)] ]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30552" y="6071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판정 드롭다운 [확정 매칭 ▼ / 오탐 / 자동 낮춤 / 상위승인 상신] 사유 입력 후 [상신(2인)] · 자기승인 차단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0552" y="62544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상위승인 필요 건 → ② [상위 승인] 탭 4-eyes · 오탐 면제 [오탐 면제 등록(2인)] → FP_WHITELIST(만료 가능)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0552" y="64373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상단 [시뮬레이션] 버튼 → AML-WLF-004 (단건 테스트·임의 수행)  /  하단 ③ [이전 판정 이력] 탭 → 과거 판정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· 판정 상신 aml:case:update · 오탐 면제 aml:admin:watchlist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①검토 필요 → ②상위 승인 → ③처리 이력 (업무 순서)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[시뮬레이션] 버튼 → AML-WLF-004 도구 화면 (QA #5 정합)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28986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하단 상세 탭: 매칭 후보·근거 / 점수 분해 / 이전 판정 이력 (master-detail 3탭)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명단군 / 대상 유형 / 점수 / 기간 4축 + 대상 식별자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스크리닝ID · 대상(식별자) · 대상유형 · 명단군 · 점수 · 상태 · ▶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대상유형 개인/법인/상대방/지갑주소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드롭다운 확정 매칭/오탐/자동 낮춤/상위승인 상신 — 상위승인 포함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4-eyes(WLF_DECISION) 상신→승인(maker≠checker)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88552" y="619048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매칭 임계값(0.66/0.92)·룰버전은 정책팩 파라미터 — 정책팩 4-eyes(POLICY_PACK) 변경 · 본 화면 읽기 전용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988552" y="70957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점수·대상 마스킹 · 원문 aml:pii:reveal+사유+감사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88552" y="750722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상위 승인 탭 (상신 건 4-eyes 승인)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988552" y="7918703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.../screenings?status=POSSIBLE_MATCH · POST .../screenings/{id}/decision(2인)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② 상위 승인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② 상위 승인 (4-eyes · 검토 필요에서 상신)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상신자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상위 승인 대상 (① 검토 필요에서 상신 · ESCALATED)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5181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10278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7098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 판정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909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scr-5b22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5181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cust_…908 (개인)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10278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정치인(PEP)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7098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상신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909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092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[심사]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scr-7c01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5181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 (법인)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10278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7098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상신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909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6092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[심사]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403250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57400" y="412394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근거 — scr-5b22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3982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11956" y="43982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57400" y="458114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57400" y="461772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판정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11956" y="461772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매칭(SANCTIONS/PEP)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8234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11956" y="48234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PEP 명단 일치·점수 0.88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0292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판정 이력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1956" y="50292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2회 검토필요(자동낮춤)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40680" y="403250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50408" y="412394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상위 승인 결과 (= 4-eyes)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3982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67692" y="439826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50408" y="458114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50408" y="461772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[승인](2인)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67692" y="461772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→ 케이스 자동 생성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50408" y="482346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[반려](사유)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67692" y="482346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① 검토 필요로 회신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5394959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548639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상위 승인 시나리오 (4-eyes · maker≠checker)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6875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[승인(2인)] → 확정 매칭 → 케이스 자동 생성(제재/PEP 검토) → AML-CASE-002 + AML→FDS 전파(BE)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870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[반려(사유)] → ① 검토 필요로 회신(재검토) · 결재 후 payload 변경 시 무효(APPROVAL_PAYLOAD_CHANGED)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6053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처리 결과(확정/오탐)는 다음 ③ [처리 이력] 탭에 적재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· 승인·반려 aml:admin:approval (checker · maker≠checker)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②상위 승인 (①에서 상신된 ESCALATED 건)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상신자·상신 판정·이전 판정 이력 표시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[승인] → 확정·케이스 생성(AML-CASE-002) / [반려] → 검토 필요 회신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자기승인 차단 · payload_hash 고정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검토 필요 / 다음 → ③ 처리 이력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13308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.../screenings?status=ESCALATED · POST .../approvals/{id}:approve(2인) · :reject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③ 처리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③ 처리 이력 (확정·오탐·면제·자동낮춤)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47672" y="2084832"/>
            <a:ext cx="128198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매칭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생성 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39388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39388" y="2084832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49116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9116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49116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재검토 완료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31105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31105" y="2084832"/>
            <a:ext cx="128198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0833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 낮춤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40833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126 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0833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재스크리닝 대상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2822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22822" y="2084832"/>
            <a:ext cx="128198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32550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면제(FP_WHITELIST)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32550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32550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후 재스크리닝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14539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514539" y="2084832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24267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평균 처리 SLA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24267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2.3 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24267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완료 기준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47672" y="31272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20824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 전체  ▼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36392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78808" y="3291840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51960" y="3332988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36210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이력 (4-eyes 증적 · 감사 연결)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18104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1139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72100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최종 판정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32804" y="3986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판정자/승인자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58683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57400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scr-5b22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18104" y="42062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11396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72100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매칭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32804" y="42062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analyst.a/comp.b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58683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14:20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scr-7c01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8104" y="44119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11396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72100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32804" y="44119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analyst.b/comp.b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58683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11:05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57400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scr-1d40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18104" y="46177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11396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72100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면제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2804" y="46177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analyst.c/comp.a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58683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09:40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947672" y="544068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면제(FP_WHITELIST) 카드 [면제 현황 ▶ → AML-WL-003 ②] (v7.0) ]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면제 생명주기(활성/만료/해제) 관리·만료 임박 배지 → AML-WL-003 ② 오탐 면제 관리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③처리 이력 (확정/오탐/면제/자동낮춤 결과)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요약 카드 확정·오탐·면제(FP_WHITELIST)·자동낮춤 건수 / 평균 처리 SLA(일)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스크리닝ID·대상·명단군·최종 판정·판정자/승인자·일시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판정 4-eyes 증적·감사 로그(AML-AUD-001)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면제는 FP_WHITELIST 만료 후 재스크리닝 순환 → ① 검토 필요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4133087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면제 카드 [면제 현황 ▶ → AML-WL-003 ②] 생명주기 관리 (v7.0)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4709159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상위 승인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.../screenings?status=TRUE_MATCH,FALSE_POSITIVE,AUTO_DISCOUNTED&amp;from&amp;to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시뮬레이션 &gt; 단건 시뮬레이션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스크리닝 시뮬레이션·임의 수행 — ① 단건 시뮬레이션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AML-WLF-001 / AML-WL-001 ① 소스 목록에서 [시뮬레이션] 버튼 클릭 → 도구 화면(NAV 비항목)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6654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210769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단건 시뮬레이션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206654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210769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임의 수행(일괄)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6032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정보 입력 (분석 전용 · 스크리닝 결과 미생성 · 결재 불필요)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5688" y="281635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이름 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홍길동  [한글→영문 변환]  HONG GILDONG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개인/법인 · 국가 · 생년월일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 ▼ · KR ▼ · 1981-05-12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75688" y="371246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유사도 임계(%)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84448" y="367588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0" y="371703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92 (기본=정책팩 WLF 임계)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4133088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422452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매칭 후보 (즉시 조회 · raw PII 미노출)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4988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44988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엔트리(토큰)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6572" y="44988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적중률(%)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37276" y="4498848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매칭 근거 분해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68172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718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691" y="4718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wl_…7f2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6572" y="4718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96.4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37276" y="471830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0.97 · 생년 1.0 · 국가 1.0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924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정치인(PEP)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50691" y="4924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wl_…a10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6572" y="4924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88.1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37276" y="492404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0.91 · 음역 변형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129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50691" y="5129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wl_…c55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6572" y="5129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74.0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37276" y="512978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0.74 (임계 미만 참고)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5815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5907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단건 시뮬레이션 — [매칭 시뮬레이션 실행] · 룰·임계값 튜닝 검증 도구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6108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 조정값은 화면 일시 값 — 정책 반영은 정책팩 파라미터 4-eyes(AML-PP-001) 경유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6291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임의 수행(일괄) 탭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(시뮬레이션=읽기 전용)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AML-WLF-001 / AML-WL-001 [시뮬레이션] 버튼 (도구 화면)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단건 시뮬레이션 / ② 임의 수행(일괄)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이름(한글→영문 음역 변환)·개인/법인·국가·생년월일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유사도 임계(%) 화면 일시 조정 — 기본=정책팩 WLF 임계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명단군·엔트리(토큰)·적중률·매칭 근거 분해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분석 전용 — 스크리닝 결과 미생성·결재 불필요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2153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임의 수행(일괄)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.../screenings:simulate (제안 · 후속 API 정합)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시뮬레이션 &gt; 임의 수행(일괄)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스크리닝 시뮬레이션·임의 수행 — ② 임의 수행(일괄)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AML-WLF-001 / AML-WL-001 ① 소스 목록에서 [시뮬레이션] 버튼 클릭 → 도구 화면(NAV 비항목)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6654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210769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단건 시뮬레이션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206654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210769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임의 수행(일괄)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임의 수행 — 정규 배치와 별개의 수시(ad-hoc) 일괄 스크리닝 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[템플릿 다운로드] → 파일 업로드 → [일괄 스크리닝 수행]  ·  수행 자체 감사 기록 · 대량 수행 rate limit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0552" y="29260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검출 건은 정규 흐름과 동일 POSSIBLE_MATCH 생성 → AML-WLF-001 ① 검토 필요 큐 유입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310896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업로드 대상 정보는 처리 후 원문 미보존(즉시 토큰화 · D-05)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40156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4930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임의 수행 이력 (감사 기록)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7673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2928" y="37673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수행일시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37673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4336" y="37673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건수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37673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7979" y="37673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유사도(%)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26096" y="37673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9502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9867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06-12 09:30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6220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7433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35040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79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609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41925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41925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06-10 16:05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41925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74336" y="41925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41925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79" y="41925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6096" y="41925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982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2928" y="43982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06-09 11:20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74336" y="43982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3,800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5040" y="43982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97979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26096" y="43982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5404104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54955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검출 ▶ 클릭 → AML-WLF-001 ① 검토 필요 (해당 수행 건 필터)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단건 시뮬레이션  (시뮬레이션 2탭 끝)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(임의 수행=감사 기록)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임의 수행(일괄)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템플릿 다운로드 → 파일 업로드 → 일괄 스크리닝 수행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수행ID·수행일시·수행자·대상 건수·검출·유사도·상태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6517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검출 건 → POSSIBLE_MATCH 생성 → AML-WLF-001 ① 큐 유입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2278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업로드 원문 미보존(즉시 토큰화 · D-05) · rate limit(429)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단건 시뮬레이션  (시뮬레이션 2탭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.../screenings:bulk-run (제안 · 후속 API 정합)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" y="186006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알림·시나리오 &gt; 알림 적체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/ 시나리오 관리 — ① 알림 적체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알림 적체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출처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심각도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9437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6752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9944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309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2578608"/>
            <a:ext cx="684885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[고객사: 은행 A] · 행 ▶ → AML-CASE-002 (케이스 생성)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86634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7992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08042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 출처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01333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심각도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3056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239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alt-3301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86634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7992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08042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모니터링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01333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3056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9239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alt-3290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86634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7992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08042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모니터링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01333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매우높음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3056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1차분류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9239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alt-3277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86634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7992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08042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FDS 에스컬레이션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01333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3056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케이스생성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92390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alt-3260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6634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79926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cust_…45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08042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모니터링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01333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30568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92390" y="37810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47672" y="44897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075688" y="45811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알림 적체 — [케이스] 클릭 → AML-CASE-002 케이스 생성 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47823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발생 출처 컬럼·필터 — AML 모니터링 / FDS 에스컬레이션(source_origin) 구분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[기각](사유) · [상위 escalation]은 결재 불필요·감사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시나리오 관리 탭에서 시나리오 클릭 → AML-TM-002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케이스 전환 aml:case:update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알림 적체 / ② 시나리오 관리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시나리오·발생 출처·심각도·상태·기간 + 대상 식별자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알림ID·시나리오·대상(식별자)·발생 출처·심각도·상태·동작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발생 출처 AML 모니터링 / FDS 에스컬레이션 / 벤더 경보 (source_origin)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55701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심각도 낮음/중간/높음/매우높음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탐지/1차분류/케이스생성/기각/상위승인/STR권고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2153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시나리오 관리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/aml/alerts?status=PENDING&amp;sourceOrigin=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" y="186006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알림·시나리오 &gt; 시나리오 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/ 시나리오 관리 — ② 시나리오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적체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시나리오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상태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64992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유형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578608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목록 [고객사: 은행 A] · 행 ▶ → AML-TM-002 (빌더) · 효과성 ▶ → AML-STAT-001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 코드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버전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0216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알림(30일)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62038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전환율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STRUCTURING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6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04688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216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62038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RAPID_MOVE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328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6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62038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MULE_NETWORK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8328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6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04688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62038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39%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HIGH_RISK_CORRIDOR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09160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04688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0216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62038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8% 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FAKE_MERCHANT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83280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허위가맹점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09160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04688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초안(DRAFT)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00216" y="398678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62038" y="398678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91272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49926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0840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시나리오 관리 — 시나리오 클릭 → AML-TM-002 빌더 상세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효과성 요약(알림 30일·케이스 전환율)은 화면 파생값 — 비정상 전환율 ⚠ = 튜닝 후보 → AML-STAT-001 ② 드릴다운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시나리오 활성화·편집은 AML-TM-002(condition_builder 기반 빌더)에서 4-eyes 진행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알림 적체  (TM 2탭 끝)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시나리오 조회 aml:admin:policy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시나리오 관리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시나리오 상태(활성/초안/비활성) / 유형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시나리오 코드·명·활성 버전·상태·알림(30일)·전환율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요약 = 화면 파생값(알림 집계) · ⚠=튜닝 후보 배지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상세 드릴다운 → AML-STAT-001 ② 룰 효과성 (벤치마크 보강)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구조화거래/급속이동/뮬 네트워크/고위험 corridor/허위가맹점 등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2153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클릭 → AML-TM-002 빌더 상세 편집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알림 적체  (TM 2탭 끝)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.../tm-scenarios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시나리오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03704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STR 보고 현황 통계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STR·룰 효과성 통계 — ① STR 보고 현황 통계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70078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5727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STR 보고 현황 통계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98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30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90일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95827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8979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종류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47672" y="2578608"/>
            <a:ext cx="128198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추출(후보)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112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기간 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9388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39388" y="2578608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49116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완료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49116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98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49116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87.5%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31105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31105" y="2578608"/>
            <a:ext cx="128198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40833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0833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0833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2822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2822" y="2578608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32550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완료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32550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 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32550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접수 35 · 실패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14539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514539" y="2578608"/>
            <a:ext cx="128198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24267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지연 보고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24267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4267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법정 SLA 초과 ⚠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362102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보고 일수 분포 (법정 SLA 대비)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98678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01963" y="398678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57400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4206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내 (D-3 이전)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01963" y="4206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4411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임박 (D-3~D-1)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01963" y="4411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617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당일 (D-day)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01963" y="4617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7400" y="4823459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01963" y="4823459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40680" y="362102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50408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미보고(기각·취소) 사유 분포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50408" y="398678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 코드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94971" y="398678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50408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50408" y="4206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확정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94971" y="4206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50408" y="4411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 보고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94971" y="4411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50408" y="4617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법정 제외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4971" y="4617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50408" y="4823459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기타(사유 기재)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94971" y="4823459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947672" y="544068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STR 통계 — 준법감시 전담 role 한정(tipping-off) · read-only 집계 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개별 건 드릴다운 → AML-REP-001 · 지연 보고 일수=법정 SLA(STR 3영업일·CTR 30일) 기준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룰 효과성 탭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AML-STAT-001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aml:case:read — STR 통계는 준법감시 전담 한정(tipping-off)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STR 보고 현황 통계 / ② 룰 효과성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추출→검토→결재→제출 퍼널 + 지연 보고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지연 보고 일수 분포 — 법정 SLA(STR 3영업일·CTR 30일) 기준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미보고(기각·취소) 사유 코드 분포 — 사후 검증·감사 추적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항목 read-only 집계 파생값(bo-api 소유·30~60초 캐시·PII 미포함)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13308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룰 효과성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/api/v1/bo/aml/stats/str (제안 · bo-api 집계 소유)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시나리오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03704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룰 효과성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STR·룰 효과성 통계 — ② 룰 효과성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7007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5727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보고 현황 통계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989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30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AML-TM-001 ② 시나리오 관리에서 [효과성 ▶] 클릭 → 시나리오 코드 컨텍스트 진입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45059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61518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65633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95827" y="261518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68979" y="265633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상태 활성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94436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0358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시나리오(룰)별 효과성 — 행 ▶ → AML-TM-002 (시나리오 튜닝)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3101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33101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알림(A)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331012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전환(a)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0630" y="33101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보고(B)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03570" y="33101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전환율(B/A)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1686" y="33101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대비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3508" y="33101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4930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5295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6220" y="35295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4063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03570" y="35295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31686" y="35295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+4%p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3508" y="35295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7353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37353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37353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40630" y="37353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03570" y="37353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31686" y="37353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+1%p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37353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94106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280" y="394106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394106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40630" y="394106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03570" y="394106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31686" y="394106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-2%p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3508" y="394106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14680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280" y="414680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46220" y="414680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40630" y="414680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03570" y="414680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31686" y="414680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-6%p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3508" y="414680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⚠ 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47672" y="4946903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03834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룰 효과성 — 룰 라이프사이클 폐루프(정의→임계→시뮬레이션→효과성 평가) 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전환율 비정상(과소·과다 추출) 시나리오 = 튜닝 후보 ⚠ — 조정·중단은 AML-TM-002 4-eyes 경유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화면은 판단 근거만 제공(read-only) · 이전 ← ① STR 보고 현황 통계  (통계 2탭 끝)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AML-STAT-001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룰 효과성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통계·내부통제 / AML-TM-001 ② 행 ▶ 드릴다운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시나리오·알림(A)·케이스 전환(a)·보고(B)·전환율(B/A)·전월 대비·권고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튜닝 후보 ⚠ 행 ▶ → AML-TM-002 (조정·중단 4-eyes TM_SCENARIO)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read-only 집계 — 룰 튜닝 거버넌스의 판단 근거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STR 보고 현황 통계  (통계 2탭 끝)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/api/v1/bo/aml/stats/scenarios (제안 · bo-api 집계 소유)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점수 분포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① 점수 분포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은행 A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15383" y="2249424"/>
            <a:ext cx="133045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88536" y="2290572"/>
            <a:ext cx="123901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RA-KR v4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28,900 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68% · 재심사 36개월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12,880 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30% · 재심사 24개월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3% · 재심사 12개월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 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즉시 케이스 생성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3621024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재심사 예정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986784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62868" y="3986784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57400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420624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30일 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2868" y="420624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41198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임박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62868" y="441198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61772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초과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62868" y="461772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823459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버전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62868" y="4823459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v4 (활성)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40680" y="3621024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50408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분포 요약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0408" y="398678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16781" y="398678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45882" y="398678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50408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50408" y="4206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16781" y="420624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28,900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45882" y="420624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68%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50408" y="4411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16781" y="441198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12,880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5882" y="441198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50408" y="46177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16781" y="461772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45882" y="461772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50408" y="4823459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16781" y="4823459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45882" y="4823459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07492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1663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점수 분포 — 등급별 현황 카드·분포 요약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3675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고위험 목록 탭에서 높음·거래금지 대상 목록 및 상세 진입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점수 분포 / ② 고위험 목록 (순수 모니터링)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고객사 / 서비스 / 모델 버전 선택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KPI 카드 낮음/중간/높음/거래금지 인원·비율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예정 30일 내 · 기한 임박 ⚠ · 초과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고위험 목록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(분포 집계·bo-api)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고위험 목록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② 고위험 목록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높음·거래금지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2249424"/>
            <a:ext cx="142646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64992" y="2290572"/>
            <a:ext cx="1335024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factor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2803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0118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임박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목록 (높음·거래금지) · 행 ▶ → AML-RA-003 (대상 상세)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294436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42866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721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주요 factor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798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재심사일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6220" y="316382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2866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721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법인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33695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2866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721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불명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8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06-12 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cust_…780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28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3575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42866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721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match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9798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28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46220" y="37810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42866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721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고위험국가·UBO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9798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47672" y="49469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고위험 목록 — 행 클릭 → AML-RA-003 (대상 상세·EDD 착수) 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재심사 기한 임박/초과 ⚠ · 케이스(EDD 재심사) 딥링크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점수 분포  (RA 분포 2탭 끝) · 모델 초안 검증·시뮬레이션은 AML-RA-002 ③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고위험 목록 (높음·거래금지 대상)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등급 / 주요 factor / 재심사 임박 ⚠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대상(식별자) · 유형 · 점수 · 등급 · 주요 factor · 재심사일 · 상세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주요 factor 고위험국가·UBO 불명·WLF match·거래 행동 등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AML-RA-003 (상세·EDD 착수)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시뮬레이션은 AML-RA-002 ③ 시뮬레이션 탭에서 수행(모델 저작 활동)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점수 분포  (RA 분포 2탭 끝)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956048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(고위험 목록 집계·bo-api) · GET /api/v1/aml/customers/{ref}/risk (개별 조회)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factor breakdown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① factor breakdown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AML-RA-001 ② 고위험 목록에서 [대상 행 ▶] 클릭 → 대상 상세·EDD 착수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450592"/>
            <a:ext cx="335584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/ 등급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 (개인)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점수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높음(HIGH)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재심사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권고 조치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수행(requiredAction)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450592"/>
            <a:ext cx="335584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factor breakdown (근거 분해)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81635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4971" y="281635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303580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4971" y="303580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24154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미완료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4971" y="324154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44728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매칭 이력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4971" y="344728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65302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송금 다발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4971" y="365302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85876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이상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4971" y="385876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4041648"/>
            <a:ext cx="6848856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413308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체크리스트 실행 (강화된 고객확인)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40740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체크 항목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11396" y="44074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9512" y="440740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28332" y="44074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57400" y="45902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57400" y="462686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1396" y="46268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39512" y="46268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28332" y="46268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83260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11396" y="48326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39512" y="48326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28332" y="48326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50383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11396" y="50383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39512" y="503834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8332" y="50383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53126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54041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factor breakdown — [EDD 케이스 착수] → AML-CASE-002 ]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[고객 프로필 ▶ → AML-CDD-002] CDD 프로필 원장(read-only) 드릴다운 (v7.0)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수동 조정이 필요하면 → AML-RA-002 ④ 등급 조정 이력(RISK_OVERRIDE 하향 4-eyes)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관계·UBO 탭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EDD 케이스 생성 aml:case:update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AML-RA-001 ② 고위험 목록 행 클릭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factor breakdown / ② 관계·UBO / ③ 재심사 이력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 국가위험·UBO 불명·WLF match·거래 행동 기여도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사유는 AML-HRR-001 분류 기준 파생 표기 (v7.0)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[고객 프로필 ▶ → AML-CDD-002] 드릴다운 (v7.0)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조치 CDD 갱신/EDD/관계검토/없음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EDD 체크리스트 정의는 AML-CDD-001 정책 따름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12064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관계·UBO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36752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/aml/customers/{ref}/risk · POST .../cdd/cases(EDD 착수)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관계·UBO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② 관계·UBO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 구조 (연결 상대방)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관계 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23773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8330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23773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8330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23773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8330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23773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8330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287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고객사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23773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핀테크 B (전 고객)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8330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현황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 (지분 구조도 미제출)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 (EDD 체크리스트 미완료)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이름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마스킹(aml:pii:reveal 필요)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국적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39044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39959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관계·UBO — 연결 구조 시각화 · UBO 확인 상태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UBO 지분 구조도 미제출 → EDD 체크리스트 '실소유자(UBO) 확인' 미완료 상태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원문(UBO 이름·국적) 열람 → aml:pii:reveal + 사유 + 감사 로그 필수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factor breakdown  /  다음 → ③ 재심사 이력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PII 열람 aml:pii:reveal(감사)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관계·UBO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 유형 실소유자(UBO) · 거래 상대방 · 연결 계좌 · 이전 고객사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UBO 확인 상태 완료/미완료 · 지분 구조도 첨부 여부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PII(이름·국적) 마스킹 · 원문 열람 감사 자동 기록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factor breakdown  /  다음 → ③ 재심사 이력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/aml/customers/{ref}/relationships · /ubo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재심사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③ 재심사 이력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재심사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최초 2025-06-01~현재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등급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(88점)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2026-06-01 평가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변화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낮음→중간→높음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2회 상승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재심사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12개월 주기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12724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이력 (RA 평가 이력)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49300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18104" y="349300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14750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10278" y="3493008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주요 factor 변화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62038" y="3493008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57400" y="37124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18104" y="37124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14750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10278" y="371246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+25, UBO 미완료 +20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62038" y="371246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정기 자동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9182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18104" y="39182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14750" y="39182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10278" y="391820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match +18 신규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62038" y="391820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 재평가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1239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2025-09-01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18104" y="41239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14750" y="41239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10278" y="412394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이상 +10 진입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62038" y="412394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정기 자동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3296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2025-06-01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18104" y="4329683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14750" y="43296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10278" y="4329683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 충족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62038" y="4329683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평가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51755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2669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재심사 이력 — 등급 변화 추이·factor 변화 추적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낮음 → 중간 → 높음 이력 · factor 기여 변화 확인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관계·UBO  (RA 대상 상세 3탭 끝)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재심사 이력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평가일 · 점수 · 등급 · 주요 factor 변화 · 평가 방식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방식 정기 자동 / 수동 재평가 / EDD 착수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변화 추이로 위험 상승 패턴 분석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관계·UBO  (RA 대상 상세 3탭 끝)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/aml/customers/{ref}/risk/history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" y="256798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고객 프로필 &gt; CDD 프로필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CDD 프로필 원장 — ① CDD 프로필(신원확인·검증)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프로필(신원확인·검증)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위험·활동 요약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AML-RA-003 ① / AML-CASE-002 ① / AML-WLF-001 하단 상세에서 [고객 프로필 ▶] 클릭 (read-only 원장)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공통 · 신원확인 (마스킹)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 (개인)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이름 / 실명번호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 (pii:reveal 필요)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국적 / 거주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/ 거주자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신원확인 증표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주민등록증 (대면)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방법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신분증 진위 확인 + 안면 대조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0645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상태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56" y="40645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 (등록 2025-03-10)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2702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 상태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1956" y="42702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확인 완료 (2026-01-15)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40680" y="245059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 추가 정보 (CDD 수집 항목)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281635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67692" y="281635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0408" y="30358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직업 / 업종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30358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회사원 / 제조업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2415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원천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7692" y="32415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근로소득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4472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목적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67692" y="34472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송금(가족 생활비)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6530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월평균 소득 구간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67692" y="36530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300~500만원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38587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대면 여부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67692" y="38587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비대면 (영상 확인)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50408" y="40645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추가정보 수집 대상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67692" y="40645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 (EDD L2)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50408" y="42702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67692" y="42702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이벤트 기준 표시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4636007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47274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CDD 프로필 — read-only 원장 (편집 불가 · 수집/수정은 고객사 소스 시스템 소관)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법인 고객은 법인 유형·상장 여부·비영리 설립목적 검증·실소유자(UBO) 확인 면제 여부·대표자 요약으로 분기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1114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 열람 aml:pii:reveal + 사유 + RAW_DATA_ACCESS 감사 · 다음 → ② 위험·활동 요약 탭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(read-only) / 원문 aml:pii:reveal(감사)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911095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AML-RA-003 ① · AML-CASE-002 ① · AML-WLF-001 [고객 프로필 ▶]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CDD 프로필 / ② 위험·활동 요약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06323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공통 식별자·국적·신원확인 증표·검증 방법·고객 상태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 직업·업종·자금 원천·거래 목적·소득 구간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법인 법인유형·상장·비영리 설립목적·UBO 확인 면제·대표자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편집 불가 — CDD 수집·수정은 고객사 소스 시스템(ingest) 소관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8737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위험·활동 요약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/aml/customers/{ref}/profile (제안 · 후속 API 정합)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" y="256798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고객 프로필 &gt; 위험·활동 요약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CDD 프로필 원장 — ② 위험·활동 요약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 프로필(신원확인·검증)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위험·활동 요약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 등급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(88점)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재이행 예정 06-20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스크리닝 이력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확정 1 · 오탐 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진행 케이스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EDD 조사중 ▶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보고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준법감시 전담 한정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사유 (AML-HRR-001 분류 파생)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49300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13779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해당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371246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13779" y="371246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91820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업종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13779" y="391820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412394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매칭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13779" y="41239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(당연초고위험)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29683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고액자산가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13779" y="4329683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535423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거절 이력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13779" y="4535423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(2025-11)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40680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관계·UBO 요약 (→ AML-RA-003 ②)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04964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50408" y="37124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4964" y="37124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0408" y="39182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04964" y="39182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412394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04964" y="412394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329683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04964" y="4329683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49469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위험·활동 요약 — 전 항목 화면 파생값 (각 도메인 집계 · 별도 저장 없음)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드릴다운 케이스 ▶ → AML-CASE-002 · 스크리닝 ▶ → AML-WLF-003 · RA 상세 ▶ → AML-RA-003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STR 보고 건수·플래그는 준법감시 전담 role에만 렌더링(비전담 미노출 · tipping-off)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CDD 프로필 (고객 프로필 2탭 끝)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STR 건수 준법감시 전담 한정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위험·활동 요약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RA 등급·스크리닝 이력·진행 케이스·STR 보고(전담)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사유 AML-HRR-001 분류 기준 파생 표기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 요약 → AML-RA-003 ② 드릴다운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수치 전부 화면 파생값(도메인 조회 API 집계)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CDD 프로필 (2탭 끝)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/aml/customers/{ref}/profile (제안 · 후속 API 정합)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AML-HRR-001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팩터·코드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4496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당연고위험 레지스트리 &gt; 분류 기준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레지스트리 — ① 당연고위험 분류 기준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당연고위험 분류 기준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참조 리스트 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분류 팩터 (점수 무관 등급 강제 상향)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8317" y="2450592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8317" y="26700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(AML-CTRY-001 파생)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8317" y="287578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업종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98317" y="308152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상품/서비스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87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98317" y="328726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보고 다발 · FDS 이상거래 연계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49300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8317" y="349300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매칭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6987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8317" y="36987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고액자산가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904487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98317" y="3904487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 위험 대상(직권)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선택 팩터 코드 상세 — 고위험 업종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52230" y="24505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코드명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0426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6499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52230" y="267004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 금융업(대부 등)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20426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52230" y="287578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사행시설 운영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426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4774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52230" y="308152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귀금속·보석 소매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20426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328726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6612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52230" y="328726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환전영업자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20426" y="3287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49300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7399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52230" y="349300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 연계 서비스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20426" y="34930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 리스트 연동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427024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436168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분류 기준 — RA 모델 점수와 별개의 오버라이드 규칙 가시화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당연고위험 → 등급 '높음' 강제 · 당연초고위험 → '높음' + EDD 즉시 트리거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47457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RA 결과(AML-RA-003 ①)에 '당연고위험 사유' 별도 표기 — 점수 분해와 구분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국가 팩터 정본은 AML-CTRY-001(파생 표시 · 이중 관리 금지) · 다음 → ② 참조 리스트 탭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AML-HRR-001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변경 aml:admin:policy(2인)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분류 기준 / ② 참조 리스트 관리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국가·업종·상품/서비스·STR 다발·FDS 연계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당연초고위험 WLF 확정·고액자산가·기타(직권)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팩터 행 선택 → 우측 해당 코드 목록 상세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강제 상향은 RA 모델 가중치(AML-RA-002)와 독립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039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참조 리스트 관리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.../high-risk-registry (제안 · 후속 API 정합)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AML-HRR-001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팩터·코드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4496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당연고위험 레지스트리 &gt; 참조 리스트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레지스트리 — ② 참조 리스트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분류 기준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참조 리스트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52247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43103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리스트 종류 상품/서비스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7987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302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위험도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57860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상품/서비스 위험 리스트 [템플릿 다운로드] [파일 업로드]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9443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상품/서비스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분류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692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67628" y="2944368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316382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선불 상품권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622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0692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중위험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7628" y="316382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KoFIU 보고상품 매핑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3695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가맹점 정산(PG)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4622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0692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저위험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67628" y="336956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575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송금(고위험 corridor)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4622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송금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0692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67628" y="357530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트리거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123944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421538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가상자산사업자(VASP) 식별 리스트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44897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법인명(토큰)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15868" y="44897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사업자번호(hash)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44897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키워드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8331" y="44897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057400" y="46725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470916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ent_…v01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15868" y="47091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biz_…12f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7091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거래소·코인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8331" y="470916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91490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ent_…v02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15868" y="49149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biz_…88a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39512" y="49149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월렛·커스터디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8331" y="491490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2026-04-11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5440679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553211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참조 리스트 — 변경 [상신(2인 · HIGH_RISK_REGISTRY 제안)] · 고액자산가 기준 포함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고액자산가 기준 — 기준금액 30억원 이상 · 추출 주기 월간 (개별 확정·예외는 케이스 흐름 재사용)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리스트 갱신 영향 대상 재평가는 차기 정기 RA 배치 반영(즉시 재평가는 후속 오픈결정)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60990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분류 기준 (레지스트리 2탭 끝)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AML-HRR-001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aml:admin:policy(2인 · 준법감시 책임자)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참조 리스트 관리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상품/서비스 위험 리스트 — 상품·분류·위험도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VASP 식별 리스트 — 법인명(토큰)·사업자번호(hash)·키워드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고액자산가 기준 — 기준금액·추출 주기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템플릿 다운로드 → 파일 업로드 일괄 등록 + 변경 상신(2인)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8039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변경 이력 감사 보존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분류 기준 (2탭 끝)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4622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.../high-risk-registry/{category}(2인) (제안 · 후속 API 정합)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케이스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 케이스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타입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95827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8979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1139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454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 전체  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26964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0011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 전체  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 [고객사: 은행 A] · 행 ▶ → AML-CASE-002 (케이스 상세)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19222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7690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0468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6509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2945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담당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19222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강화된 고객확인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77690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6509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2945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 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case-760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19222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검토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77690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0468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승인대기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66509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긴급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2945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⚠ 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case-744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19222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검토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77690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0468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66509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945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06-25 ▶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case-732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19222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대포통장·뮬계좌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77690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04688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66509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2945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(미배정)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06-22 ▶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48554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케이스 발단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AML-CASE-002 (케이스 상세 · 타임라인·조치·종결·관계거절)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발단 WLF 확정(AML-WLF-002) · RA 높음(AML-RA-003) · TM 알림(AML-TM-001) · 주기 재심사 · 수동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기한 임박/초과 ⚠ · STR/CTR 필요 시 AML-REP-002 보고 초안 연계(상태 보고)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생성 aml:case:update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내 케이스 / 전체 / 기한 임박 / 종결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케이스 타입·상태·우선순위·담당자 + 대상 식별자 · 기한 임박/초과 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케이스ID·타입·대상(식별자)·상태·우선·담당·기한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1455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타입 제재/요주의 인물/강화된 고객확인/STR/CTR/무역기반/Travel Rule/가맹점·셀러/대포통장/B2B/이커머스 정산/내부통제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신규/조사중/승인대기/이상없음/보고/종결 · 우선 낮음/중간/높음/긴급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AML-CASE-002 (상세·조치·종결)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WLF 확정·RA 높음·TM 알림·주기 재심사·수동(발단 식별자 연결)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 · POST .../cdd/cases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타임라인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① 타임라인 (case-771 강화된 고객확인)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AML-CASE-001 케이스 목록에서 [케이스 행 ▶] 클릭 → 케이스 상세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2450592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81635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23773" y="2816352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0358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23773" y="303580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강화된 고객확인(EDD_REVIEW)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415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23773" y="324154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472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/ 우선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23773" y="344728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 / 높음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6530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23773" y="365302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8587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23773" y="385876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score-…77 (RA 높음)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40680" y="2450592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 / 종결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04964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0408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경과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 6일차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트리거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4964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높음·UBO 불명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예정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04964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381304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390448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타임라인 (append-only · 수정 불가)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17880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41788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11396" y="4178808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57400" y="43616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57400" y="43982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1396" y="439826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 트리거(AML-RA-003 EDD 착수)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6040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83280" y="46040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11396" y="460400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 김분석 배정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48097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11:20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83280" y="48097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11396" y="480974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지분 구조도 증빙 요청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50154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83280" y="50154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11396" y="501548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 증빙 첨부(manifest hash 0x9c…)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947672" y="52669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075688" y="53583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타임라인 — 조치 시나리오 (4-eyes) 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[메모/증빙 추가] [상태·담당·우선 변경] (결재 불필요·timeline append)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7424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[종결 상신(2인·EDD_CLOSE)] → 승인 시 종결 · [STR 보고 연계] → AML-REP-002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9253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[고객 프로필 ▶ → AML-CDD-002] 대상 고객 CDD 프로필 원장 (v7.0) · 다음 → ② CDD/EDD 체크 탭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변경·메모 aml:case:update / 종결·관계거절 aml:case:update(2인)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AML-CASE-001 행 클릭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타임라인 / ② CDD/EDD 체크 / ③ 관계·UBO / ④ 증빙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 생성·배정·메모·증빙(append-only·수정 불가)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메모·증빙·상태/담당/우선 변경 결재 불필요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종결 4-eyes(EDD_CLOSE)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[고객 프로필 ▶ → AML-CDD-002] 드릴다운 (v7.0)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CDD/EDD 체크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 · PATCH · /timeline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CDD/EDD 체크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② CDD/EDD 체크 (case-771)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실행 (AML-CDD-001 정책 기준)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체크 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622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67628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95744" y="2450592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267004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고객확인(신원·실명)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622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6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7628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26700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4622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6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7628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95744" y="287578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081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4622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6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67628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95744" y="3081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2872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46220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09160" y="3287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67628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95744" y="32872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49300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349300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09160" y="34930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67628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95744" y="349300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CDD/EDD 체크 — 미완료 항목은 증빙 요청·메모 처리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 항목 정의·증빙 요건은 AML-CDD-001(체크리스트 정의) 정책 따름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UBO 확인 미완료 → 지분 구조도 증빙 요청(타임라인 메모 추가)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타임라인  /  다음 → ③ 관계·UBO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체크 상태 변경 aml:case:update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CDD/EDD 체크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체크 항목 · 필수 · 증빙 · 상태 · 처리자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2402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완료/미완료/진행중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정의는 AML-CDD-001 정책 따름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타임라인  /  다음 → ③ 관계·UBO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.../cdd/cases/{id}/checklist · PATCH (상태 변경)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관계·UBO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③ 관계·UBO (case-771)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 구조 (연결 상대방)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관계 유형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23773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8330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23773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8330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23773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78330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23773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8330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현황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 (미제출)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이름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마스킹(aml:pii:reveal)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요청 일자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11:20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39044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39959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관계·UBO — UBO 지분 구조도 미제출 · PII 마스킹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원문(UBO 이름) 열람 → aml:pii:reveal + 사유 + 감사 로그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관계거절·온보딩 보류 상신(2인·RELATIONSHIP_REJECT) → 승인 시 관계 거절 확정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CDD/EDD 체크  /  다음 → ④ 증빙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관계거절 aml:case:update(2인)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관계·UBO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 유형 UBO · 거래 상대방 · 연결 계좌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UBO 확인 상태 완료/미완료 · PII 마스킹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관계거절·온보딩 보류 4-eyes(RELATIONSHIP_REJECT)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CDD/EDD 체크  /  다음 → ④ 증빙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.../cdd/cases/{id}/relationships · :reject-relationship(2인)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증빙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④ 증빙 (case-771)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 목록 (manifest hash 고정 · 변조 불가)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2034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파일명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첨부일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ev-301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2034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 증빙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income_doc.pdf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0216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0x9c…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2034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81044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wlf_scr9f3a.pdf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0216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2034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81044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id_doc.pdf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10:15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0216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0x7d…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407407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4988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④ 증빙 — manifest hash 고정·변조 불가 · [증빙 추가]로 첨부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7000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[증빙 추가] → 파일 업로드(manifest hash 자동 생성) → 타임라인 append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8828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다운로드 URL 만료 관리 · 원문 접근 감사 자동 기록(aml:pii:reveal)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065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관계·UBO  (케이스 상세 4탭 끝)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증빙 추가·다운로드 aml:case:update / 원문 접근 aml:pii:reveal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④ 증빙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증빙ID · 유형 · 파일명 · 첨부일 · manifest hash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고정(업로드 시 생성) · 변조 불가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다운로드 만료 URL · 접근 감사 자동 기록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관계·UBO  (케이스 상세 4탭 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.../cdd/cases/{id}/evidence · POST (첨부) · GET (다운로드 URL)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27591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예외 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① 예외 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완전성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94376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6752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거래소 C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2578608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 큐 (정보 누락·위험 지갑) [고객사: 거래소 C]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9222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송신VASP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13631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수취VASP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08042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0981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완전성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9098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27214" y="294436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19222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13631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08042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0981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9098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27214" y="316382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[예외처리]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tr-8990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19222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13631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(미확인)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08042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ETH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70981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9098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위험지갑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27214" y="33695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[예외처리]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4535424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4626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예외 큐 — tr-8990 예외 처리 시나리오 (4-eyes · TRAVEL_RULE_EXCEPTION)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4828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수취 VASP 정보 미확인 · 수취 지갑주소(hash) 위험 명단(가상자산위험) 매칭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처리 [추가확인 요청 ▼](추가확인/보류/반송/케이스 생성) 사유 [______]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[예외 처리 확정 상신(2인)] → 승인(maker≠checker) → 확정(EXECUTED)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전체 이전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예외 확정 aml:case:update(2인)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예외 큐 / ② 전체 이전 / ③ 처리 이력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완전성·위험·기간 + 이전 식별자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이전ID·송신VASP·수취VASP·자산·완전성·위험·동작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처리 4-eyes(TRAVEL_RULE_EXCEPTION)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전체 이전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.../travel-rule/transfers?status=EXCEPTION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27591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전체 이전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② 전체 이전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완전성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자산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전체 이전 [고객사: 거래소 C] · 대상=마스킹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1922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송신VASP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7337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수취VASP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7545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3839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6651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완전성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94626" y="294436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1922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47337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7545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3839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 BTC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6651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94626" y="316382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1922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7337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7545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USDT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3839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651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94626" y="33695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19222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7337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75454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38394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 BTC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6651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94626" y="35753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예외처리중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tr-8990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19222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7337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(미확인)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75454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38394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5.0 ETH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6651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94626" y="37810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예외처리중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398678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tr-8977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19222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7337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75454" y="398678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USDT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38394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50,000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66510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26" y="39867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0383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전체 이전 — 완전/예외처리중 포함 전체 이전 이력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완전성 완전 / 정보 누락 · 위험 지갑·제재 지갑 매칭(지갑주소 hash)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예외 큐  /  다음 → ③ 처리 이력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전체 이전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82880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완전성 / 기간 / 자산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07568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이전ID·송신VASP·수취VASP·자산·금액·완전성·처리 상태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정보 hash/token만 표시 (원문 PII 미노출)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예외 큐  /  다음 → ③ 처리 이력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 (전체)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27591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처리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③ 처리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유형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이력 (4-eyes 증적 · TRAVEL_RULE_EXCEPTION)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2928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유형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78808" y="2944368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결과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상신자/승인자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52928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추가확인 요청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78808" y="316382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 정보 수령 → 완전 처리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14:20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tr-8850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52928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생성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78808" y="336956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AML-CASE-002(TR 검토) 생성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5392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김분석/이감리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11:30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tr-8800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52928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78808" y="357530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VASP 응답 대기 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65392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06-03 10:00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49011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75688" y="49926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처리 이력 — 4-eyes 예외 처리 증적 · 케이스 연결 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케이스 생성 → AML-CASE-002(Travel Rule 검토) / 보고 필요 → AML-REP-002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전체 이전  (Travel Rule 3탭 끝)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처리 이력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 · 처리 유형 · 처리 결과 · 상신자/승인자 · 처리일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유형 추가확인 요청/보류/반송/케이스 생성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처리 4-eyes 증적 감사 보존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전체 이전  (Travel Rule 3탭 끝)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.../travel-rule/transfers/exceptions/history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보고 초안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STR 후보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① STR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정보누설금지 (tipping-off)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 정보의 외부 누설은 특정금융정보법 제4조의2 위반 — 준법감시 전담 조회·열람 감사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47672" y="26700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28346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20824" y="28757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63240" y="28346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36392" y="28757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1638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2552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후보 목록 [고객사: 은행 A] · 행 ▶ → AML-REP-002 (보고 상세)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20340" y="352958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84398" y="35295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2514" y="35295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1748" y="352958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38394" y="35295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기한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7628" y="352958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27214" y="352958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37124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7490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20340" y="37490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84398" y="37490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2514" y="37490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1748" y="37490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38394" y="37490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D-2 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8" y="374904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 의심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27214" y="374904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9547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20340" y="395478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84398" y="39547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2514" y="39547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case-760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1748" y="39547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38394" y="39547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D-3 ⚠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67628" y="395478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확정·PEP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27214" y="395478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(제출 대기) 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1605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20340" y="41605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84398" y="41605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cust_…61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2514" y="41605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case-701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41748" y="41605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38394" y="41605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67628" y="416052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고위험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27214" y="416052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 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4366259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20340" y="4366259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84398" y="4366259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2514" y="43662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case-732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41748" y="4366259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38394" y="43662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67628" y="4366259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escalation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27214" y="4366259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47672" y="498348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75688" y="50749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STR 후보 — 행 클릭 → AML-REP-002 (보고 상세·제출 4-eyes) 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2760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보고 기한 = 법정 SLA(STR 결재 후 3영업일 · 지체 없이) — D-3 임박/초과 ⚠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4589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기각/취소는 사유 코드 필수 + 보고 책임자 결재(2인·자기승인 금지)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56418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CTR 데이터 탭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— 준법감시 전담 role 한정(tipping-off)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상시 경고 배너 + 열람 감사 · STR 사실 비전담 노출 금지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STR 후보 / ② CTR 데이터 / ③ 제출 이력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보고ID·대상·케이스·상태·보고 기한·발단·제출 참조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초안/검토중/승인/제출완료/접수/제출실패/반려/취소 (8종)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기한 D-3 임박/초과 ⚠ (설계서 §14.4 법정 SLA)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기각/취소 사유 코드 필수 + 보고 책임자 4-eyes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CTR 데이터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.../reports?type=STR · {reportId}:reject(2인)·:cancel(2인)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CTR 데이터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② CTR 데이터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이번달 CTR 대상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1거래 1천만원↑ 현금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접수 완료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 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 수신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 임박 1 ⚠ (D+30)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기준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1천만원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1거래 현금 · 정책팩 정본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36210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데이터 [고객사: 은행 A] · [제외 처리(2인)] — 법정 제외대상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6634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14750" y="39867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거래금액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10278" y="398678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06924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기한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36158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7980" y="398678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 / 제외 사유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57400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86634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14750" y="4206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2,500만원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10278" y="4206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06924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36158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97980" y="4206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86634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cust_…45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14750" y="4411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1,200만원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10278" y="4411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06924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36158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97980" y="4411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86634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ent_…80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14750" y="4617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5,000만원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10278" y="4617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06924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836158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97980" y="4617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57400" y="48234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86634" y="4823459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14750" y="4823459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3,000만원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0278" y="4823459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06924" y="48234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836158" y="4823459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제외(취소)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97980" y="4823459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금융회사 간 거래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47672" y="544068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CTR 데이터 — 기준: 1거래 1천만원 이상 현금거래(정책팩 정본 기준) 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[제외 처리(2인)] 사유 코드 ▼(국가·지자체/금융회사 간/기타 법정 제외) 필수 + 책임자 승인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제외 이력(사유 코드·증적·처리자·승인자) 표시 · 감사 보존 · 보고 기한 = 거래일+30일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30552" y="60990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STR 후보  /  다음 → ③ 제출 이력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aml:case:read(전담) / 제외 처리 2인(보고 책임자)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CTR 데이터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기준 1거래 1천만원 이상 현금거래(정책팩 정본·AML-PP-001)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보고ID·대상·거래금액·거래일·보고 기한·상태·제출 참조/제외 사유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[제외 처리] 법정 제외대상 — 사유 코드 필수 + 4-eyes · 제외 이력·감사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기한 거래일+30일 · D-3 임박 ⚠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STR 후보  /  다음 → ③ 제출 이력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.../reports?type=CTR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제출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③ 제출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종류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이력 — FIU 회신 폐루프 (접수/제출실패·재제출 추적)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6634" y="294436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79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10278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8746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재제출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86634" y="316382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79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14:30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10278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68746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9574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86634" y="33695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83279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10278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68746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9574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86634" y="3575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79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05-30 09:20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10278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68746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95744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 ▶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rep-195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86634" y="37810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83279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05-28 09:00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10278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FIU-2026-000195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68746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95744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47672" y="50383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제출 이력 — FIU 회신으로 종결(접수) 또는 정정 후 재제출 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제출완료(전송·회신 대기) → 접수(FIU 접수번호 저장·종단) / 제출실패(오류코드 저장)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제출실패 → [정정 후 재제출](보고 상세 AML-REP-002 ③ · 기존 제출 4-eyes 재사용)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CTR 데이터  (규제 보고 3탭 끝)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aml:case:read(전담)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제출 이력 — FIU 회신 폐루프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보고ID·종류·제출일·FIU 접수번호·오류코드·재제출·상태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제출완료(회신 대기)/접수(종단)/제출실패(재제출 대상)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재제출 횟수·회차별 이력 보존(resubmitCount)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제출실패 행 ▶ → AML-REP-002 ③ [정정 후 재제출]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CTR 데이터  (규제 보고 3탭 끝)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.../reports?status=SUBMITTED,ACKNOWLEDGED,SUBMISSION_FAILED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보고 본문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① 보고 본문 (rep-220 STR)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AML-REP-001에서 [보고 후보 행 ▶] 클릭 → 보고 상세·제출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450592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정보누설금지 (tipping-off)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 정보의 외부 누설은 특정금융정보법 제4조의2 위반 — 전담 조회·열람 감사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035808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12724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개요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40156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49228" y="340156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358444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362102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보고ID / 종류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49228" y="362102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rep-220 / STR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82676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9228" y="382676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03250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연관 케이스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9228" y="403250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23824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49228" y="423824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검토중(UNDER_REVIEW)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44398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49228" y="444398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 의심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64972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의심유형 코드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49228" y="464972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102 자금출처 불분명 외 1 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40680" y="3035808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312724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증빙 manifest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4015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34015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50408" y="358444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50408" y="362102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67692" y="362102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3건(거래내역·WLF·EDD)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382676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67692" y="382676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0xab…(고정)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403250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본문 PII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67692" y="403250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hash/token 보존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50408" y="423824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어댑터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67692" y="423824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고객사별(D-04)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5038344"/>
            <a:ext cx="684885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57400" y="512978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본문 (요약 · PII는 hash/token)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54041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81044" y="540410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57400" y="55869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57400" y="56235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 거래 요약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81044" y="5623560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7일 9건 분할 입금 합계 9,500만원(보고 기준 회피 의심)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58293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WLF·RA 근거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81044" y="5829300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명단 유사도 0.92(scr-9f3a) · 위험 등급 높음(88점)·고위험국가·UBO 불명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47672" y="6172199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75688" y="626363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보고 본문 — 편집(초안 결재 불필요) · 제출 4-eyes 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6464807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[본문 편집(초안)] · [제출 상신(2인·보고 책임자)] · [기각(사유 코드·2인)] · 다음 → ② 첨부 증빙 탭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초안 편집 aml:case:update / 제출 aml:case:update(2인·보고 책임자)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조회 준법감시 전담 role 한정(tipping-off) · 상시 경고 배너·열람 감사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AML-REP-001 행 클릭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보고 본문 / ② 첨부 증빙 / ③ 제출 이력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 의심 거래 요약·WLF 근거·RA 근거 (PII hash/token)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의심유형 코드 — KoFIU 분류(KR 정책팩 코드표) 복수 선택, 시나리오별 기본값 자동 제안+수동 보정(벤치마크 보강)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초안 편집 결재 불필요 / 제출 4-eyes(STR_SUBMIT) / 기각 사유 코드+2인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2029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첨부 증빙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.../reports/{id} · PATCH (본문 편집) · {id}:reject(2인)·:cancel(2인)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첨부 증빙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② 첨부 증빙 (rep-220 STR)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 목록 (manifest hash 고정 · 변조 불가)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2034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파일명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첨부일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ev-301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2034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거래내역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txn_hist.pdf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0216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0x9c…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2034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1044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wlf_scr9f3a.pdf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0216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2034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결과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81044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edd_report.pdf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10:15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0x7d…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첨부 증빙 — [증빙 추가] · manifest hash 자동 생성 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[증빙 추가] → 파일 업로드 → manifest hash 자동 생성(변조 불가)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다운로드 만료 URL · 접근 감사 자동 기록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보고 본문  /  다음 → ③ 제출 이력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증빙 추가 aml:case:update / 다운로드 aml:evidence:export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첨부 증빙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증빙ID · 유형 · 파일명 · 첨부일 · manifest hash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고정·변조 불가 · 만료 URL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보고 본문  /  다음 → ③ 제출 이력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.../reports/{id}/evidence · POST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제출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③ 제출 이력 (rep-220 STR)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정보 (FIU 회신 폐루프)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제출실패(SUBMISSION_FAILED)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(접수 시 저장)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 (FIU 반려)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재제출 횟수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회 (이력 보존)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어댑터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고객사별(D-04)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시나리오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[제출 상신(2인)]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→ 외부 전송(회신 대기)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접수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 확정 · 접수번호 저장(종단)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전송 실패·반려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 · 오류코드 저장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[정정 후 재제출(2인)]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제출실패에서만 · 4-eyes 재사용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385876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회차별 제출·회신 이력 (재제출 추적)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4224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회차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20340" y="4224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43984" y="4224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9864" y="4224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60920" y="4224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57400" y="44439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20340" y="444398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(정정 후 재제출 대기)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43984" y="44439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 복귀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69864" y="44439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60920" y="44439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6497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20340" y="464972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05-30 09:20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43984" y="46497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69864" y="46497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60920" y="46497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53126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54041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제출 이력 — [정정 후 재제출]은 제출실패 상태에서만 노출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정정(검토중 복귀) → [제출 상신(2인·보고 책임자)] 기존 결재 절차 그대로 재사용 · 재제출 횟수 증가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접수 확정 시 FIU 접수번호·manifest hash 증적 저장 · 케이스 상태 보고(REPORTED)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첨부 증빙  (보고 상세 3탭 끝)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제출·재제출 aml:case:update (2인·보고 책임자)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제출 이력 — FIU 회신 폐루프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4-eyes(STR_SUBMIT·CTR_SUBMIT) maker≠checker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회신 접수(FIU 접수번호·종단) / 제출실패(오류코드)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[정정 후 재제출] 제출실패에서만 · 기존 4-eyes 재사용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재제출 횟수·회차별 이력 보존 · 케이스 보고(REPORTED) 연동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첨부 증빙  (보고 상세 3탭 끝)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.../reports/{id}:submit(2인·재제출 동일) · GET (이력)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보고 회차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380685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보고 회차·지표 등록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① 보고 회차·지표 등록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보고 회차 — KR 확장 plugin 전용 (정책팩 KR_DEFAULT 위 활성화 고객사만 노출)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회차: 보고 기준일 2027-03-01 · 데이터 기준월 2026-12 (자동지표 산출 배치 수행 후 잠금)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진행: 확정 87 / 전체 152 지표  ·  입력 원천 = 자동 수집 / 직전 보고값 복사 / 수기(증빙 필수)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47672" y="285292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0824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위험구분 전체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36392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카테고리 전체  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8808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51960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입력방식 전체  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94376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67528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항목상태 전체  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47672" y="3346704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43814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지표 등록 [회차 2027-03-01] (인라인 편집 · 확정/취소)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지표번호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86634" y="37124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위험구분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49574" y="3712464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06924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0982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입력방식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66510" y="37124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직전값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29450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58683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2742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389534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39319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I.1.01.01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6634" y="39319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고유위험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49574" y="393192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고객 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06924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70982" y="39319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66510" y="39319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1,180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29450" y="39319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8683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2742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1376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I.1.02.03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86634" y="413766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고유위험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49574" y="413766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비거주자 고객 비율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06924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70982" y="41376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66510" y="413766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3.1%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9450" y="41376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3.4%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58683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2742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43434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O.2.01.02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86634" y="434340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운영위험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49574" y="434340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교육 이수율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06924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70982" y="43434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자동(EDU)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66510" y="434340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29450" y="43434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58683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2742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미확정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057400" y="45491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O.2.03.01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86634" y="45491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운영위험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49574" y="454914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 인력 자격 보유 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06924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70982" y="45491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수기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66510" y="45491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29450" y="45491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[입력]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58683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[첨부]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2742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미확정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47672" y="534924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075688" y="544068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등록 — [자동 가져오기] [직전보고 가져오기] [확정/취소] 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30552" y="56418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결과·제출 결재 탭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aml:admin:policy / 조회 aml:case:read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회차·지표 등록 / ② 결과·제출 결재 / ③ 보고 현황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회차 보고 기준일·데이터 기준월 — 배치 수행 후 기준월 잠금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지표 152종 — 위험구분(고유/운영)·카테고리·배점·입력방식(자동/수동)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원천 자동 수집(케이스·WLF·RA·EDU 집계) / 직전값 / 수기(증빙 필수)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진행 카운터 확정 n / 전체 N · 확정 후 변경 시 재확정 필요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지표 마스터 = KR plugin 정책 store(versioned · 고시 개정 시 갱신)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48737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결과·제출 결재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512064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.../ira/reports · PUT .../indicators (제안 · 후속 정합)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80685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결과·제출 결재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② 결과·제출 결재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고유위험 점수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62.4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 합산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운영위험 점수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28.1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 합산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지표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152/152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전수 확정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상태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책임자(2인)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12724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결과 집계·제출 결재 (4-eyes · 보고 책임자)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4930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15868" y="3493008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30568" y="349300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보고파일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15868" y="371246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ira_2027-03-01.xml (manifest hash 0x4e…)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30568" y="37124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[보고파일 생성]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9182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15868" y="391820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12건 (수기 지표 증빙)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30568" y="391820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[첨부 관리]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1239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결재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15868" y="412394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→ 승인(maker≠checker) → 제출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30568" y="412394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[제출 상신(2인)]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4672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4764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결재 — subjectType=IRA_SUBMIT(제안) · 회차·지표값·증빙·결재 감사 5년 보존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확정 후 입력값 변경 시 확정 해제 + 재확정 (payload_hash 고정 원칙 준용)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회차·지표 등록  /  다음 → ③ 보고 현황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제출 2인(보고 책임자) — subjectType=IRA_SUBMIT(제안)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결과·제출 결재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고유위험·운영위험 점수 / 확정 지표 / 결재 상태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보고파일 생성 — manifest hash 고정 · 첨부 증빙 관리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변경 시 재확정 · 전 과정 감사 보존(5년)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등록  /  다음 → ③ 보고 현황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039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.../ira/reports/{id}:submit (제안 · 2인)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80685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보고 현황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③ 보고 현황(FIU 회신)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위험구분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카테고리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회신 — 최근 3회차 점수·peer 비교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2928" y="29443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6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점수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0468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peer 평균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651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순위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95744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직전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2497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변동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I.1.01.01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31638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고객 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6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0468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651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12/38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95744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497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+0.2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I.1.02.03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33695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비거주자 고객 비율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6651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20/38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95744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2497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-0.1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O.2.01.02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2928" y="357530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교육 이수율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0916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0468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651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5/38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95744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2497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+0.1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4672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4764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보고 현황 — FIU 회신 점수·동료그룹(peer) 평균·최근 3회차 추이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지표 행 클릭 → 회차별 점수 추이 비교(읽기 전용)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결과·제출 결재  (기관 RBA 보고 3탭 끝)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보고 현황(FIU 회신)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지표번호·지표명·최근 점수·peer 평균·순위·직전·변동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FIU 회신 점수·peer 그룹 평균·최근 3회차 추이 비교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read-only — 차기 회차 개선 계획 입력 근거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결과·제출 결재  (3탭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.../ira/reports/{id}/feedback (제안 · 후속 정합)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AML-APR-001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상신자·대상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3983834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결재 대기함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 / 승인·반려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내가 상신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완료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종류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라인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59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2511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[고객사: 은행 A]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52928" y="294436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45102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라인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798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26096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apr-551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2928" y="316382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판정 확정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45102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scr-9f3a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9512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Maker-Checker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6096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2h ⚠ 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33695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제출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45102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39512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98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6096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1d 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52928" y="35753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활성화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45102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 책임자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9798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26096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3d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52928" y="37810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변경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45102" y="37810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country v8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9512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 책임자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9798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26096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2d 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52928" y="39867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import 적용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45102" y="398678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v142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39512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Maker-Checker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97980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26096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6h ▶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4855464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결재 상세 (행 클릭) — 결재 종류 총 16종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결재 상세 (대상 payload·사유·payload_hash 잠금 확인) · [승인] [반려](사유)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 종류 WLF 판정(WLF_DECISION)/오탐 면제(FP_WHITELIST)/RA 모델(RA_MODEL)/등급 조정(RISK_OVERRIDE)/EDD 종결(EDD_CLOSE)/관계거절(RELATIONSHIP_REJECT)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STR 제출(STR_SUBMIT)/CTR 제출(CTR_SUBMIT)/Travel Rule 예외(TRAVEL_RULE_EXCEPTION)/명단 import(WATCHLIST_IMPORT)/국가위험(COUNTRY_RISK)/정책팩(POLICY_PACK)/secret 변경(SECRET_CHANGE)/체크리스트 변경(CHECKLIST_CHANGE)/재심사 주기 변경(PERIODIC_REVIEW_CHANGE)/TM 시나리오(TM_SCENARIO)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상신자와 동일인은 승인 불가(maker≠checker) · 결재 승인 ≠ 실행(승인 후 엔진 실행·결과·시각 표기)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AML-APR-001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조회·승인·반려 aml:admin:approval (maker≠checker 강제)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대기(SUBMITTED) / 내가 상신 / 처리 완료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결재 종류·결재 라인·기간 + 상신자/대상 · 만료 임박 ⚠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결재ID·결재 종류·대상·결재 라인·상신자·만료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980944"/>
            <a:ext cx="285292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종류 총 16종: WLF 판정·오탐 면제·RA 모델·등급 조정·EDD 종결·관계거절·STR 제출(STR_SUBMIT)·CTR 제출(CTR_SUBMIT)·Travel Rule 예외·명단 import·국가위험·정책팩·secret 변경·체크리스트 변경(CHECKLIST_CHANGE)·재심사 주기 변경(PERIODIC_REVIEW_CHANGE)·TM 시나리오(TM_SCENARIO)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라인 Maker-Checker/AML 책임자/준법감시 책임자/보고 책임자/보안 관리자/임원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결재 상세(payload_hash 잠금 확인·승인/반려)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619048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승인 maker≠checker 강제 · 자기 승인 차단(AML.SELF_APPROVAL_FORBIDDEN)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69311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변경 시 무효화(재상신) · 결재 승인 ≠ 실행(분리)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75072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만료·취소는 미실행 · AI agent 상신·초안만(승인자 불가)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79187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.../approvals?status=SUBMITTED · {id}:approve · {id}:reject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고객사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 — 목록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전체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99815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7296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7971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21123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001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3267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194560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 [플랫폼 운영자] (SaaS 운영자 전용)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18104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1396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9864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95744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26096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18104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9864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95744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6096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18104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핀테크 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 인프라 설치형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9864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고객배포완료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95744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26096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18104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1396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공유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9864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95744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26096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4014215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41056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하단 배포 유형별 집계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4306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총 3 고객사  /  매니지드 전용 2  ·  자체 인프라 설치형 1  ·  소규모 공유 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SaaS 운영자 전용 (aml:admin:policy · bo-api 소유 엔드포인트)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배포 유형 / 온보딩 상태 / 운영 상태 / 리전 4축 + 고객사명 텍스트 (region= API §5 optional)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48716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매니지드 전용(MANAGED_DEDICATED) / 자체 인프라 설치형(SELF_HOSTED) / 소규모 공유(SHARED)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 신청/프로비저닝중/배포됨/검증됨/활성 · 패키지 발급/고객배포완료/등록 완료 (8종)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96849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온보딩중(ONBOARDING)/운영중(ACTIVE)/정지(SUSPENDED)/해지완료(OFFBOARDED) — 운영 생명주기 4종(DB §5.28b)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48737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진행 단계 상세 배지는 onboardingStatus 조건으로 렌더링 (status enum 별도)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561441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AML-TNT-002 상세(4탭: 기본정보·배포온보딩·소스시스템·정책팩)  /  [+ 새 고객사] → AML-TNT-003 등록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65196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footer 배포 유형별 건수 표시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6931152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/api/v1/bo/aml/tenants?deploymentModel=&amp;onboardingStatus=&amp;status=&amp;region= (bo-api · region optional)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기본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① 기본 정보 (은행 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정보]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tnnt-001  (불변)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 [편집]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ACTIVE  [변경]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[요약 · 탭 바로가기]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 (→ ② 배포·온보딩)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ACTIVE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3건 연결  (→ ③ 소스 시스템)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KR_DEFAULT  (→ ④ 정책팩)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376732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7400" y="385876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 정보 (KoFIU 보고 헤더 — v7.0 보강)  [편집]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1330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50691" y="413308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72100" y="41330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0216" y="4133088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57400" y="431596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43525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 코드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50691" y="435254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LR0160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72100" y="4352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435254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준법감시실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5582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50691" y="455828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김책임 (compliance.lead)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72100" y="45582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0216" y="455828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이담당 (02-1234-5678)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47672" y="5084064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75688" y="51755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보고기관 정보 = STR/CTR 보고 본문 헤더에 파생 결합 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AML-REP-002 ① 보고 본문 헤더에 자동 결합 · 변경은 aml:admin:policy + 감사 기록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aml:admin:policy (bo-api 소유)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기본 정보 / 배포·온보딩 / 소스 시스템 / 정책팩 (4탭 연속)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가능 displayName · status (policyPackCode 변경은 ④ 정책팩 탭 4-eyes)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보고기관 정보(v7.0) 보고기관 코드·명·보고 책임자·담당자 — KoFIU 보고 헤더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6393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보고기관 정보는 AML-REP-002 ① 보고 본문 헤더에 파생 결합 (제안 API · 후속 정합)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AML-TNT-001 목록 → 행 클릭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79145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배포·온보딩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/PUT /api/v1/bo/aml/tenants/{tenantId} (bo-api)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배포·온보딩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② 배포·온보딩 (은행 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47672" y="2084832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MANAGED_DEDICATED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67199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67199" y="2084832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6928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6928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6928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PROVISIONING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6728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86728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96456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96456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aml-tnnt-001-kr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6456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tf-stack (읽기 전용)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3127248"/>
            <a:ext cx="33558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진행 상태 (이력)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74684" y="3493008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09694" y="3493008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37124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74684" y="371246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9694" y="371246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9182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74684" y="391820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09694" y="391820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12394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배포됨 (예정)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74684" y="412394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09694" y="412394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32968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검증됨·활성 (예정)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74684" y="4329683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09694" y="4329683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40680" y="3127248"/>
            <a:ext cx="33558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IaC 트리거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50408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04964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50408" y="37124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IaC 템플릿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04964" y="37124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[aml-dedicated-kr-v2 ▼]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39182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리전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04964" y="39182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[KR ▼]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12394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04964" y="412394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[IaC 프로비저닝 시작]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453542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4626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자체 인프라 설치형 — 고객 등록 콜백 (SELF_HOSTED 전용)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4828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설치 인스턴스 ID  [______]   등록 토큰  [______]  ※ 보안 채널 전달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콜백 엔드포인트   [______]        [설치형 등록 처리]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유형·온보딩 상태·인프라 참조 읽기 전용 (프로비저닝 산출)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5819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매니지드 전용 IaC → POST .../onboarding/provision → 202 (PROVISIONING)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자체 인프라 설치형 등록 콜백 → POST .../onboarding/register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8986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deploymentModel 직접 변경 → 409 AML.TENANT_DEPLOYMENT_MODEL_IMMUTABLE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기본 정보  /  다음 → ③ 소스 시스템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05079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.../onboarding · POST .../provision · POST .../register (bo-api)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 시스템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인입 모니터링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소스 시스템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③ 소스 시스템 (은행 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2084832"/>
            <a:ext cx="684885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연결된 소스 시스템 [이 고객사] · [인입 모니터링 ▶ → AML-ING-001]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85516" y="2450592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6572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38394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연결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2450592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94625" y="2450592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91271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src-core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85516" y="26700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회원·계좌 (CORE)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6572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38394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0216" y="267004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94625" y="267004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91271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src-txn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85516" y="287578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(TRANSACTION)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6572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38394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287578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94625" y="287578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91271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src-kyc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85516" y="3081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 데이터 (KYC)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6572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38394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6" y="308152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38분 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4625" y="308152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91271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381304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390448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소스 시스템 = 이 고객사의 데이터 인입 경로 (신호 표준 = PRD §1.11 확정)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105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회원·거래·KYC 피드를 정규 이벤트로 수집 → 스크리닝·RA·TM 입력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288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● 수신중 / ⚠ 지연 / ✕ 중단 · 폴링 시점·큐 적체 상세 → [인입 모니터링 ▶ → AML-ING-001]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44714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명단 소스·임포트 이력은 AML-WL-001(명단 소스·임포트) 메뉴에서 관리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 (bo-api 소유)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ID · 종류 · 연동 방식 · 연결 상태 · 마지막 수신 · 신호 · 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방식(v8.0) REST 전송/큐/폴링/변경수집/스냅샷/벤더브릿지 6종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수신·신호(v8.0) §1.11 확정 — ● 수신중/⚠ 지연/✕ 중단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 회원·계좌(CORE) / 거래(TRANSACTION) / KYC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[인입 모니터링 ▶ → AML-ING-001] 수신 API·폴링·큐·백필 상세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4622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배포·온보딩  /  다음 → ④ 정책팩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8737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/api/v1/bo/aml/tenants/{tenantId}/source-systems (bo-api)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정책팩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④ 정책팩 (은행 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Policy Pack — 필수 baseline · 잠금]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37412" y="2450592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67004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코드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37412" y="267004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(KR_DEFAULT)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7578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37412" y="287578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기본 적용 (필수·끄기 불가)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08152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37412" y="308152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v12 (effective 2026-05-01)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28726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기준금액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412" y="328726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1거래 1천만원↑ 현금거래 (4-eyes)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위험 임계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37412" y="349300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0.75 (4-eyes 변경)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[확장 Policy Pack — plugin · 토글 추가]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확장 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93148" y="2450592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관할(jurisdiction)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93148" y="267004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단일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 확장 plugin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3148" y="287578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 [▸추가]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업권 확장 plugin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93148" y="308152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 [▸추가]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 방식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93148" y="328726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기본팩 위에 토글 + 4-eyes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3858768"/>
            <a:ext cx="6848856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기본팩(KR_DEFAULT) 구성 — 필수 baseline 일괄 적용(개별 영역 토글 아님 · 어떤 룰 기반인가)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224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46220" y="4224528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기본 반영 기준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57400" y="444398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/ 재심사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46220" y="444398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고객확인·실소유자(UBO)·자금출처 · 등급별 재심사 주기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64972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/ CTR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46220" y="464972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 보고 / 1거래 1천만원↑ 현금거래 수집·검증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7400" y="48554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Sanctions·PEP·RCA / VASP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46220" y="485546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필터링·정치인(PEP/RCA) 관리 / Travel Rule 100만원↑·지갑 risk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5061203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임계 / Privacy·Audit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46220" y="5061203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0.75↑ → EDD 트리거 / 최소수집·append-only 증적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47672" y="543153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52297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정책팩 = 기본 번들(잠금) + 확장 plugin(토글) · 변경은 4-eyes(POLICY_PACK) 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KR_DEFAULT는 AML 최소 요건 일괄 적용 — 개별 영역(CDD·STR/CTR…) 토글 불가 · 파라미터(CTR·RA임계)는 버전 변경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국가·업권 확장은 기본팩 위에 plugin 토글로 추가 → [변경 상신 → 4-eyes] → effective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[기본팩 전체·확장·버전 이력 ▶ → AML-PP-001] · 이전 ← ③ 소스 시스템 (상세 4탭 끝)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 · 변경 4-eyes (POLICY_PACK)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 = 기본 번들(KR_DEFAULT·필수·잠금) + 확장 plugin(국가·업권·토글 추가)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32257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기본팩 구성 CDD·STR/CTR·Sanctions/PEP·RCA/VASP·RA임계·Privacy/Audit — 일괄 적용(개별 토글 아님)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FDS와 차이 AML은 단일 baseline 번들 + 확장, FDS는 법령별 팩 개별 토글(서비스 규제 모델 차이)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96849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확장 plugin 국가(jurisdiction)·업권 확장을 기본팩 위에 토글 추가(현재 은행 A: KR 단일·확장 없음)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파라미터(CTR 기준금액·RA 임계)는 effective 버전에 종속 — 4-eyes 변경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2852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[기본팩 전체·확장·버전 이력 ▶ → AML-PP-001] 드릴다운(Policy Pack 관리 소관)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60258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소스 시스템  (상세 4탭 끝)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6437376"/>
            <a:ext cx="28529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 (policyPackCode 파생 표시) · POST /api/v1/admin/aml/policy-packs:change(2인)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새 고객사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등록 (배포 유형 선택 + 온보딩 신청)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75688" y="1792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별도 생성 화면 — 목록 [+ 새 고객사]에서 진입 (상세 4탭 바와 분리)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30552" y="1993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배포 유형은 온보딩 신청 시점에 선택하며 등록 후 불변(격리는 프로비저닝 산출)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30552" y="2176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매니지드 전용 → 등록 후 상세 ② 배포·온보딩에서 IaC 파이프라인 트리거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0552" y="2359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자체 인프라 설치형 → 패키지 발급 후 고객이 직접 설치·등록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651760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743200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기본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017520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5137" y="3017520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320040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23697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 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55137" y="323697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[__________] (불변)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44271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 *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5137" y="344271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[__________]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64845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리전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55137" y="364845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[KR ▼]  (선택, 기본값 KR)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85419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55137" y="385419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[한국 기본팩 ▼]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059935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55137" y="4059935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 ← 자동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0680" y="2651760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0408" y="2743200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선택 *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3017520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선택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48145" y="3017520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50408" y="320040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0408" y="323697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매니지드 전용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48145" y="323697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클라우드 · 전용 DB · IaC 자동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344271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자체 인프라 설치형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48145" y="344271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인프라 · Helm/Docker · 패키지 제공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50408" y="364845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소규모 공유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8145" y="364845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공유 DB + 행 격리 · 즉시 활성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SaaS 운영자 전용 aml:admin:policy (bo-api 소유)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격리 라디오 없음 — 배포 유형 드롭다운 3종만 (프로비저닝이 격리 산출)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리전 선택(기본값 KR) — 필수 아님(API §3.16 region required 미포함)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소규모 공유 → 즉시 활성(ACTIVE)  매니지드/설치형 → 온보딩 흐름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성공 → AML-TNT-002(상세 ① 기본 정보)로 이동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/api/v1/bo/aml/tenants → 201 + TenantDto (bo-api)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469175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인입 모니터링 &gt; 수신 API 카탈로그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① 수신 API 카탈로그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 [고객사: 은행 A] (정본 = PRD §1.11 ② · API §3.1~3.4)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6220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2452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2804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24h 호출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95744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호출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56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/aml/events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수신·백필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9512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비동기(큐)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2452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2804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95744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56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/aml/screen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46220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스크리닝(WLF)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02452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2804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95744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756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081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…/risk-assessments/evaluate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46220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위험평가(RA)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39512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2452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OAuth2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32804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95744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5초 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756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2872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…/transactions/evaluate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46220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모니터링(TM)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02452" y="32872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32804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310K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95744" y="32872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756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385876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× 표시 신호 확정표 (PRD §1.11 ① 확정 — 6종)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224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방식(코드)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13632" y="4224528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화면 표시 신호 (확정)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57400" y="444398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 (REST_PUSH)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3632" y="444398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수신(n초 전) · ● 수신중 · 수신율(TPS) · 서명 실패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6497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(QUEUE)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13632" y="464972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· lag · DLQ 적체 · 마지막 메시지 — aml-ingest(+.fifo) · aml-ingest-dlq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48554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 (POLLING)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13632" y="485546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 · 다음 폴링 예정 · 주기 · 현재 커서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506120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 (CDC)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13632" y="506120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change stream lag · 마지막 변경분 적용 시각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526694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 (SNAPSHOT)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13632" y="526694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스냅샷 일시 · 초기 적재(백필) 진행률 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547268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벤더브릿지 (VENDOR_BRIDGE)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13632" y="547268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벤더 경보 · VENDOR 인입 건수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47672" y="590702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75688" y="59984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카탈로그 — 어떤 API로 데이터가 들어오는가 (read-only) 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61996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상태 ● 수신중(기본 60초 내 수신) / ⚠ 지연(SLA 초과) / ✕ 중단 (§1.11 ③ 확정)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6382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초기 셋업(백필) = /aml/events 대량 적재·SNAPSHOT — 진행률 ② 탭 · 다음 → ② 인입 라이브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AML-ING-001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aml:admin:source-system (read-only 집계)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감사·증적 / AML-TNT-002 ③ [인입 모니터링 ▶]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수신 API 카탈로그 / ② 인입 라이브 모니터링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API·용도·방식(동기/비동기)·인증·24h 호출·마지막 호출·신호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방식×표시 신호 확정표 6종 (PRD §1.11 ① 파생 표시)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aml-ingest(+.fifo)·aml-ingest-dlq (integration §2.1)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인증 API Key+HMAC / OAuth2 / mTLS (소스별 authMode · D-13)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2029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초기 셋업(백필) /aml/events 대량 적재 — SNAPSHOT 연계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77900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인입 라이브 모니터링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/api/v1/bo/aml/ingest/catalog (제안 · 후속 API 정합)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469175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인입 모니터링 &gt; 인입 라이브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② 인입 라이브 모니터링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24h 수신 이벤트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1.58 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15 family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 소스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/ 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 수신중 기준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DLQ 적체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aml-ingest-dlq ⚠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전체 소스 최신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312724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소스×연동 방식별 라이브 상태 (행 ▶ → AML-AUD-001 ③ 소스 관리)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85516" y="349300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78808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74336" y="349300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04688" y="3493008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방식별 상태 (PRD §1.11 ① 확정)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src-core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85516" y="37124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78808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74336" y="37124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04688" y="3712464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42 · 서명(HMAC) 실패 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9182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src-txn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85516" y="39182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aml-ingest.fifo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78808" y="39182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74336" y="391820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04688" y="3918204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120 · lag 4초 · DLQ 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1239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src-kyc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85516" y="41239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78808" y="41239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38분 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74336" y="412394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04688" y="4123944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09:10 · 다음 09:40 · 주기 30분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3296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src-legacy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85516" y="43296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벤더브릿지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78808" y="43296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4분 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74336" y="4329683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04688" y="4329683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 경보 12건/24h (VENDOR)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57400" y="453542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snapshot-init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85516" y="453542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78808" y="453542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74336" y="4535423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04688" y="4535423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초기 적재(백필) 78% (1.2M/1.55M)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5129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5221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라이브 모니터링 — 지금 데이터가 들어오고 있는가 (30~60초 캐시·자동 새로고침)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⚠/✕ 행은 AML-DASH-001 운영 알림과 동일 이벤트 소스 (알림 클릭 → 본 탭 딥링크)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운영 조치(소스 비활성·secret 변경 2인)는 AML-AUD-001 ③ 소관 — 본 화면 모니터링 전용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수신 API 카탈로그 (인입 모니터링 2탭 끝)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AML-ING-001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aml:admin:source-system (read-only 집계)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24h 수신·라이브 소스·DLQ 적체·마지막 수신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REST 마지막 수신·TPS / 큐 depth·lag·DLQ / 폴링 마지막·다음·주기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CDC stream lag / 스냅샷 최근 일시·백필 진행률 / 벤더 마지막 경보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31012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aml-ingest(+.fifo)·aml-ingest-dlq (integration §2.1)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신호 ● 수신중/⚠ 지연/✕ 중단 (§1.11 ③ · 임계 소스별 설정)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조치는 AML-AUD-001 ③ (모니터링/운영 분리)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50383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수신 API 카탈로그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28523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/api/v1/bo/aml/ingest/health (제안 · 후속 API 정합)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소스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소스 목록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① 소스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종류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[고객사: 은행 A] · [시뮬레이션 → AML-WLF-004]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코드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제공자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3984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245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버전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056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갱신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美 재무부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3984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0245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056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UN_CONSOL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43984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245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3056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DOWJONES_WL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8328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 Jones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4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정치인·제재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2452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3056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2386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INTERNAL_BL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43984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내부블랙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02452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30568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2386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소스 목록 — 소스 코드 immutable · 공통(플랫폼) 소스는 SaaS 운영자 정의 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클릭(또는 소스 선택) → [임포트 업로드(diff 생성)]으로 임포트 이력 탭으로 이동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[시뮬레이션] 버튼 → AML-WLF-004 (단건 매칭 사전 테스트·임의 수행 도구)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임포트 이력 탭에서 OFAC_SDN 등 변경분 확인·적용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조회·임포트 적용 aml:admin:watchlist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소스 목록 / ② 임포트 이력 / ③ 명단 엔트리 조회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[시뮬레이션] 버튼 → AML-WLF-004 도구 화면 (QA #5 정합)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명단 종류 / 상태 + 소스명 텍스트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코드·제공자·명단 종류·활성 버전·마지막 갱신·상태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종류 제재/정치인/PEP관련자/부정뉴스/내부블랙/수사기관/가상자산위험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운영/비활성 + 신선도(최신/지연)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코드 immutable · 등록·임포트·적용·반려·롤백 감사 보존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95604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임포트 이력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.../watchlist-sources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임포트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② 임포트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임포트 이력 — OFAC_SDN · [임포트 업로드(diff 생성)]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2034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 시각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622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 건수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06924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신규/변경/삭제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798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350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2034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4622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12,043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06924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 / 6 /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350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검토대기 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2034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06924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+9 / 3 / 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98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350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2034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03:00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4622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06924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+5 / 2 / 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9798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47183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48097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임포트 이력 — 변경분(검토대기) 클릭 → AML-WL-002 (diff 상세·4-eyes 적용)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임포트 직전 활성 버전 대비 변경분(diff) 산출·DRAFT 보관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검토대기 v142 클릭 → AML-WL-002 변경분 상세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소스 목록  /  다음 → ③ 명단 엔트리 조회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임포트 적용 aml:admin:watchlist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임포트 이력 (소스별 임포트 버전·변경분)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993391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/ 상태 / 기간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24027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버전·수신 시각·수신 건수·신규/변경/삭제·검증·상태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6517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검토대기 / 적용완료 / 반려 / 롤백대기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06323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변경분(검토대기) 클릭 → AML-WL-002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소스 목록  /  다음 → ③ 명단 엔트리 조회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.../watchlist-sources/{code}/imports · POST (diff 생성)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명단 엔트리 조회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③ 명단 엔트리 조회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종류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엔트리 조회 (마스킹 · 소스·정규화 토큰 기준)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코드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3983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7275" y="294436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토큰(hash)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entry_…C9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50691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43983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37275" y="316382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entry_…D3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43983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7275" y="336956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entry_…P5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50691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DOWJONES_WL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43983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37275" y="357530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tok_…e8f1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entry_…X2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50691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43983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37275" y="378104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tok_…g8h9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삭제(제재해제)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48097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명단 엔트리 조회 — 마스킹 엔트리 기반 조회 (원문 PII 미노출)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정규화 토큰(hash)으로 조회 · 원문 열람은 aml:pii:reveal + 사유 + 감사 로그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임포트 이력  (명단 소스 3탭 끝)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aml:admin:watchlist / 원문 열람 aml:pii:reveal(감사)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명단 엔트리 조회 (마스킹 엔트리)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/ 명단 종류 / 상태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엔트리ID · 소스 코드 · 명단 종류 · 정규화 토큰(hash) · 상태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정규화 토큰 hash는 실제 이름·문서번호 해시값 (원문 미노출)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활성/삭제(제재해제)/비활성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임포트 이력  (명단 소스 3탭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.../watchlist-entries?sourceCode=&amp;listType=&amp;status=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 &gt; 변경분 상세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변경분 상세 / 디프 승인 — OFAC_SDN v142 (4-eyes)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AML-WL-001 ② 임포트 이력에서 [변경분(검토대기) ▶] 클릭 → 디프 상세·4-eyes 적용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6654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변경분 요약 (v141 → v142)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32304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00140" y="2432304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65176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건수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00140" y="265176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12,043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85750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신규(추가)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00140" y="285750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06324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변경(수정)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0140" y="306324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6898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삭제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0140" y="326898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47472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00140" y="347472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통과(서명·checksum)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206654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게이트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243230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8604" y="243230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65176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건수·포맷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18604" y="265176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28575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18604" y="28575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3063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급증 임계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18604" y="3063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통과(배수 미초과)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68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서명/checksum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18604" y="3268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47672" y="3429000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57400" y="352044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엔트리 디프 (추가/삭제, 마스킹)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794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52928" y="379476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46220" y="379476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06924" y="3794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토큰(hash)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95744" y="379476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57400" y="397764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57400" y="40142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 추가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52928" y="40142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entry_…C9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46220" y="40142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06924" y="40142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95744" y="40142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 신규 지정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2199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 추가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52928" y="42199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entry_…D3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46220" y="42199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06924" y="42199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95744" y="42199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지정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44256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~ 변경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52928" y="44256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entry_…A1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46220" y="44256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06924" y="442569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tok_…e6f7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95744" y="44256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별칭(alias) 추가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463143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삭제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52928" y="46314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entry_…X2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46220" y="46314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06924" y="463143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tok_…g8h9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95744" y="463143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해제(delisting)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24865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3400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적용 시나리오 (4-eyes · subjectType=WATCHLIST_IMPORT)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5412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[변경분 적용 상신(2인)] → 승인(maker≠checker) → 활성 버전 v142 승격(EXECUTED)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승인 후에만 명단 반영 + 영향 대상 재스크리닝 트리거(BE) · [반려](사유)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급증·서명/checksum 실패는 검증=경고/실패 → 반영 보류 · 적용 후 롤백도 결재·감사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임포트 적용 aml:admin:watchlist (2인)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AML-WL-001 변경분(검토대기) 클릭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변경분 요약 수신·신규/변경/삭제 건수 + 검증 게이트 결과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디프 목록 추가/변경/삭제 엔트리(정규화 토큰 hash·마스킹)·근거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4-eyes(WATCHLIST_IMPORT) 상신→승인→활성 버전 승격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승인 후 명단 반영 + 영향 대상 재스크리닝(BE) · 멱등(중복 1건만)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경고/실패(급증·서명·checksum)는 반영 보류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적용·반려·롤백 이력 감사 보존(aml_audit_events)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.../watchlist-sources/{code}/imports/{ver}:apply(2인) · GET .../watchlist-entries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수기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내부 요주의 명단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명단·오탐 면제 — ① 내부 요주의 명단 등록·관리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2057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929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내부 요주의 명단 등록·관리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96512" y="1700784"/>
            <a:ext cx="2651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9664" y="1741932"/>
            <a:ext cx="252374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면제(White List) 관리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19456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 수기 등록 (자체 블랙리스트 · INTERNAL_BL 소스)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5688" y="24505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61518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개인/법인 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84448" y="2615184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개인   ○ 법인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국문명 · 영문명 *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홍길동 · HONG GILDONG  (저장 시 정규화 토큰화)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생년월일·국적 / 등록 사유 *·적용 시작일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1981-05-12 · KR  /  수사기관 요청 · 2026-06-15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390448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399592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명단 등록 건 (diff 초안 → AML-WL-002 4-eyes 적용)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2702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엔트리(토큰)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42702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사유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74336" y="42702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시작일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67628" y="42702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42702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 여부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45312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4897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tok_…i2b1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3280" y="44897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수사기관 요청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4336" y="44897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7628" y="44897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검토대기 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3508" y="44897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46954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tok_…i1a9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3280" y="46954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적발(직권)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74336" y="46954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8" y="46954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46954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9011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tok_…i0f3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280" y="49011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거절 이력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74336" y="49011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67628" y="49011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8" y="49011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53583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54498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내부 명단 — [등록 상신] = diff 초안 생성 (즉시 반영 아님)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기존 명단 임포트 흐름 재사용 — 검토대기 ▶ → AML-WL-002 디프 승인(WATCHLIST_IMPORT 2인)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8338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적용 시작일(발효일) 도래 시점부터 스크리닝 매칭 대상 · 다음 → ② 오탐 면제 관리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(등록·해제 2인)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내부 요주의 명단 / ② 오탐 면제(White List)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수기 등록 개인/법인·국문/영문명·생년월일·국적·등록 사유(필수)·적용 시작일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569463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= diff 초안 → AML-WL-002 4-eyes 적용 재사용(별도 결재 종류 없음)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14553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엔트리(토큰)·등록 사유·적용 시작일·결재 상태·사용 여부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정규화 토큰(hash) 표시 — 원문 미보존(D-05)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이력 감사 보존(aml_audit_events)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오탐 면제 관리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.../watchlist-sources/{code}/entries:draft (제안 · 후속 API 정합)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오탐 면제 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명단·오탐 면제 — ② 오탐 면제(White List)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057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929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내부 요주의 명단 등록·관리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96512" y="1700784"/>
            <a:ext cx="265176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69664" y="1741932"/>
            <a:ext cx="252374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오탐 면제(White List) 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활성 면제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FP_WHITELIST 유효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 임박(D-7)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후 재스크리닝 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수동 해제(2인)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47672" y="31272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20824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36392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78808" y="3291840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51960" y="3332988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90일  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3621024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면제 목록 — 생명주기(활성/만료/해제) [면제 해제(2인)]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면제ID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20340" y="39867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14750" y="3986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매칭 엔트리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40630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사유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33922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96862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58684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57400" y="42062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20340" y="420624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14750" y="42062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 (제재)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40630" y="42062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동명이인 확인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33922" y="42062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96862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08-12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58684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44119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fpw-029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20340" y="441198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14750" y="44119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 (부정뉴스)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40630" y="44119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기사 오보 확인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33922" y="44119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04-02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96862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06-18 ⚠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58684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46177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20340" y="461772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cust_…208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14750" y="46177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tok_…e8f1 (정치인)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40630" y="46177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동명이인 확인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33922" y="46177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03-01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96862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58684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30352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3949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오탐 면제 생명주기 — 등록(WLF-001 4-eyes)→활성→만료(자동)→해제(수동 2인)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596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만료·해제 시 해당 대상 재스크리닝 트리거 → 검출 시 AML-WLF-001 ① 검토 필요 큐 순환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진입 AML-WLF-003 면제 카드 [면제 현황 ▶]에서도 가능 · 이전 ← ① 내부 요주의 명단 (2탭 끝)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(해제 2인)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오탐 면제(White List) 관리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활성·만료 임박(D-7 ⚠)·만료·해제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면제ID·대상·매칭 엔트리·등록 사유·등록일·만료일·상태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28163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등록은 AML-WLF-001 FP_WHITELIST 4-eyes(기존) — 본 화면은 생명주기 관리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만료(자동)·해제(수동 2인) 시 재스크리닝 → AML-WLF-001 ① 순환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등록/만료/해제 전 이력 감사 보존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내부 요주의 명단 (2탭 끝)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.../screenings/fp-whitelist · POST .../fp-whitelist/{id}:revoke(2인) (제안)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" y="522269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시나리오 &gt; 빌더 상세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 — 구조화거래 (4-eyes)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AML-TM-001 ② 시나리오 관리에서 [시나리오 편집 ▶] 클릭 → 시나리오 빌더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66544"/>
            <a:ext cx="6848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217627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조건 (문장형) [시나리오: 구조화거래(STRUCTURING)]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75688" y="243230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대상 *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개인·법인 고객의 입금 거래 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· ③ 기간 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건수 ▼ · 합산 금액 ▼  ·  최근 7일 ▼ 동안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④ 기준값 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9 건 이상 이고 합산 9,000만원 이상이면 탐지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474720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688" y="3575304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⑤ 추가 조건 — 패턴을 AND/OR로 결합 (구조화/반복/고위험국가/비정상정산)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75688" y="38221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394106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53512" y="394106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73752" y="394106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75688" y="415137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30552" y="421995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42616" y="419252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97480" y="421995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개별 거래 금액  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79745" y="419252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34609" y="421995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미만  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30166" y="419252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85030" y="421995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고액현금거래 기준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03920" y="421995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75688" y="442569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75688" y="443026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75688" y="461314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30552" y="468172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42616" y="465429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97480" y="468172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상대방 반복  ▼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79745" y="465429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34609" y="468172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 이상  ▼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730166" y="465429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785030" y="468172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 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03920" y="468172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75688" y="4887468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4892040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75688" y="5074920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30552" y="5143500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42616" y="5116068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97480" y="5143500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상대국 위험  ▼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79745" y="5116068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34609" y="5143500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이상  ▼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30166" y="5116068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85030" y="5143500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03920" y="5143500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75688" y="5129784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075688" y="5166360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035808" y="5129784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035808" y="5166360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56832" y="5166360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5686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6601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자연어 미리보기 · 적용 시나리오 (4-eyes · subjectType=TM_SCENARIO)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8613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"최근 7일 입금이 9건 이상이고 합산 9,000만원 이상이며, 추가조건[개별 금액 고액현금 기준 미만 AND 동일 상대방 5건↑ AND 상대국 위험 높음↑]이면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60441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'구조화거래' 높음 심각도 알림을 생성하고 케이스 후보(STR_REVIEW)로 연결한다."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6227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[임시저장] [시뮬레이션(과거기간 백테스트·결재 불필요)] [시나리오 변경 적용 상신(2인)]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시나리오 정책 aml:admin:policy (적용=2인)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AML-TM-001 시나리오 목록 클릭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①대상 ②측정 ③기간 ④기준값 ⑤추가조건 ⑥동작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4048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⑤ 추가 조건 = condition_builder(AND/OR 결합 · 필드+연산자+값 · 그룹 괄호)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패턴 구조화거래·반복·고위험국가·비정상정산을 조건으로 구성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연산자 미만/이상/초과/같음/포함 등 · 업무 용어 드롭다운(scenario DSL 비노출)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자연어 미리보기로 결합 논리 확인 후 결재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변경 적용 4-eyes(TM_SCENARIO·준법감시 책임자)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1206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전 시뮬레이션(과거기간 백테스트) 권장(결재 불필요)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5321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변경 시 무효화 · 자기 승인 차단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61081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.../tm-scenarios · simulate · {code}:activate(2인 · TM_SCENARIO)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버전 목록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① 버전 목록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버전 목록 [RA-KR]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3983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활성화일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7275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 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32803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3507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0691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초안(DRAFT)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3983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37275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32803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3507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50691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활성(ACTIVE)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43983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37275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32803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3507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[비교]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50691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비활성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3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2025-09-01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37275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32803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7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[비교]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버전 목록 — 활성 버전 1개 유지 · 초안 편집 → ② factor 편집 탭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[새 버전 생성] → 초안(DRAFT) 생성 · [편집 ▶] 클릭 → ② factor 편집 탭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활성화는 ② factor 편집 탭에서 [활성화 상신(2인·RA_MODEL)] → AML-APR-001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factor 편집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조회·초안 생성 aml:admin:policy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버전 목록 / ② factor 편집 / ③ 시뮬레이션 / ④ 등급 조정 이력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 · 상태 · 활성화일 · factor 수 · 작성자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초안(DRAFT) / 활성(ACTIVE) / 비활성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활성 버전 1개 유지 · 비교 리포트 보존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factor 편집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 · POST (새 버전)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factor 편집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② factor 편집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19456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 factor 편집 — 문장형 빌더 [모델: RA-KR]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75688" y="24505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75688" y="261518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대상 *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4448" y="257860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0" y="261975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개인·법인 고객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항목 *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고위험 국가 거주 여부 ▼ (국가위험 등급표 연동 · AML-CTRY-001)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③ 가중치 · ④ 등급 임계 *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+25 점  ·  높음 70 점 / 거래금지 90 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47672" y="3584448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75688" y="368503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⑤ 추가 조건 — 여러 조건을 AND/OR로 결합 (충족 시 추가 가산)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75688" y="3931920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050792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53512" y="405079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73752" y="405079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75688" y="4261104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30552" y="432968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42616" y="4302252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97480" y="4329684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  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79745" y="4302252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34609" y="4329684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30166" y="4302252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85030" y="4329684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20" y="4329684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75688" y="4535424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539996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75688" y="472287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30552" y="479145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42616" y="476402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97480" y="479145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1년 고위험국가 송금  ▼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79745" y="476402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34609" y="479145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 이상  ▼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730166" y="476402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85030" y="479145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03920" y="479145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75688" y="499719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5688" y="500176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75688" y="518464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30552" y="525322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642616" y="522579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97480" y="525322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매칭 이력  ▼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79745" y="522579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34609" y="525322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30166" y="522579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85030" y="525322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있음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03920" y="525322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075688" y="5239512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5276088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35808" y="5239512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035808" y="5276088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56832" y="5276088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6784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769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factor 편집 — 자연어 미리보기 · 활성화 상신 (4-eyes)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"고위험 국가 거주 고객은 25점 가산, 추가조건[UBO 미완료 AND 고위험국가 송금 3건↑ AND WLF 매칭 있음] 모두 만족이면 +15점.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6153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합산 70점↑ '높음', 90점↑ '거래금지'로 분류한다."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30552" y="6336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[임시저장] [시뮬레이션(→ ③ 시뮬레이션 탭)] [활성화 상신(2인·RA_MODEL)]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모델 활성화 상신 aml:admin:policy (2인)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factor 편집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①대상 ②측정 항목 ③가중치 ④등급 임계 ⑤추가조건 ⑥동작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'고위험 국가'는 AML-CTRY-001 국가위험 등급표 연동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자연어 미리보기로 결합 논리 확인 → ③ 시뮬레이션 검증 → 활성화 상신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활성화 4-eyes(RA_MODEL·준법감시 책임자)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자기 승인 차단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버전 목록  /  다음 → ③ 시뮬레이션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47914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.../ra-models/versions/{v} · :activate(2인·RA_MODEL)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시뮬레이션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③ 시뮬레이션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AML-RA-002 ② factor 편집에서 [시뮬레이션] 클릭 → 편집한 RA-KR v5 초안을 활성화 전 검증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47672" y="245059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615184"/>
            <a:ext cx="181051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0824" y="2656332"/>
            <a:ext cx="171907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RA-KR v5 초안 ▼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67912" y="2615184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41064" y="2656332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최근 90일 신규 ▼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947672" y="294436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높음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+142 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증가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87318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87318" y="294436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97046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중간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7046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-88 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7046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감소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26964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26964" y="294436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36692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낮음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36692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-54 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36692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감소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66609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6609" y="294436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76338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예상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76338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+6%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76338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v4 대비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398678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407822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시뮬레이션 설정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3525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37412" y="435254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453542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57400" y="457200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비교 모델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37412" y="457200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 초안(② 편집) vs v4 (활성)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77774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기간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37412" y="477774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90일 신규 고객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98348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37412" y="498348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2,400명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18922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실행 시간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37412" y="518922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 30초 (결재 불필요)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40680" y="398678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50408" y="407822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factor 변화 영향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35254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18604" y="435254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영향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50408" y="453542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50408" y="45720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가중치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18604" y="45720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+5pt → 높음 증가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50408" y="47777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조건 완화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18604" y="47777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 일부 낮음으로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50408" y="49834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신규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18604" y="49834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기존 v4 미적용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50408" y="518922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오탐율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18604" y="518922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v4: 4% → v5: 10%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947672" y="548640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075688" y="557784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시뮬레이션 — 활성화 전 초안 검증(분석 전용 · 등급 변경 없음 · 결재 불필요) 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[시뮬레이션 실행] → factor 변화·등급 이동·오탐율 미리보기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9618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검증 후 활성화는 ② factor 편집 → [활성화 상신(2인·RA_MODEL)] → AML-APR-001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61447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factor 편집  /  다음 → ④ 등급 조정 이력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시뮬레이션 aml:admin:policy (결재 불필요·분석 전용)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시뮬레이션 (② factor 편집의 초안 모델 검증 — 모델 저작 흐름)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 비교 모델(편집 중 초안 vs 활성) / 샘플 기간 / 샘플 수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등급 이동(높음/중간/낮음 delta) + 오탐율 예상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변화 영향 표 (변경 factor별 등급 이동 설명)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후 결재 없이 분석 결과만 표시 · 활성화는 ② factor 편집에서 상신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factor 편집  /  다음 → ④ 등급 조정 이력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.../ra-models/{modelCode}/simulate (결재 불필요)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등급 조정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④ 등급 조정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33045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123901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조정 유형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785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6100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수동 조정 이력 (4-eyes · RISK_OVERRIDE)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조정ID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2034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8104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기존 등급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6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조정 등급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7276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3056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상신자/승인자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ov-090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2034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8104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높음(88)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6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37276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완료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056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김분석/이감리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15:30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ov-085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2034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8104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높음(91)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0916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37276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재확인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3056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11:20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47183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48097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④ 등급 조정 이력 — 등급 수동 조정은 여기서 신청 + 이력 확인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수동 조정: score 높음(88) → [중간 ▼] 사유 [EDD 완료] [등급 조정 상신(2인·RISK_OVERRIDE 하향)]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하향 조정 4-eyes(RISK_OVERRIDE) · 상향·동일은 사유 후 즉시(감사) · 사유 필수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시뮬레이션  (RA 모델 4탭 끝)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등급 조정 aml:case:update (2인 하향)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④ 등급 조정 이력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조정ID · 대상 · 기존 등급 · 조정 등급 · 사유 · 상신자/승인자 · 일시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하향 4-eyes(RISK_OVERRIDE) · 상향/동일 즉시(사유+감사)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9809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조정 이력 감사 보존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시뮬레이션  (RA 모델 4탭 끝)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63931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.../risk-scores/overrides · POST .../override(2인·RISK_OVERRIDE)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" y="557666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체크리스트 정의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① 체크리스트 정의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항목 (정책 store · 강화된 고객확인 v4)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1396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6924" y="245059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63156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트리거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고객확인(신원·실명)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6924" y="267004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3156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1396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06924" y="287578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63156" y="287578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법인·고위험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1396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06924" y="3081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63156" y="3081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287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6924" y="32872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63156" y="328726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높음↑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49300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1396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06924" y="349300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63156" y="349300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498848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59028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체크리스트 정의 — 정책 store(versioned) · 변경은 ③ 변경 이력에서 4-eyes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체크리스트 항목·필수여부·증빙 유형·위험 트리거(업무 용어, 변수명 비노출)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재심사 주기 탭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체크리스트 정의 / ② 재심사 주기 / ③ 변경 이력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항목·필수여부·증빙 유형·위험 트리거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 store(versioned) · 물리 마스터 테이블 미보유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AML-RA-003 EDD 체크리스트 실행이 본 정의를 따름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재심사 주기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.../cdd/checklists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" y="557666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재심사 주기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② 재심사 주기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재심사(periodic review) 주기 — 등급별 재확인 주기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등급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1396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재확인 주기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2450592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유예 기간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1396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36개월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267004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11396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24개월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5392" y="287578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1396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12개월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308152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1396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328726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72160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381304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재심사 주기 — 등급별 주기·유예 기간 · 변경은 4-eyes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40142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[재심사 주기 변경 상신(2인)] 등급별 주기·유예 변경 → 승인 후 적용 · 차기 재심사 일정 반영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재심사 스케줄은 BE(T-13)가 케이스 자동 생성 → AML-CASE-001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체크리스트 정의  /  다음 → ③ 변경 이력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재심사 주기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등급별 재확인 주기(개월) · 유예 기간(일)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2402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 변경 4-eyes(PERIODIC_REVIEW_CHANGE)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차기 재심사 일정에 반영 (BE 스케줄러)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체크리스트 정의  /  다음 → ③ 변경 이력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.../cdd/periodic-review-policy(2인)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" y="557666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변경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③ 변경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 (4-eyes 증적 · CHECKLIST_CHANGE / PERIODIC_REVIEW_CHANGE)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52928" y="245059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유형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8808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2804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8332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91272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52928" y="26700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체크리스트 변경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78808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항목 '법인·고위험' 조건 추가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2804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8332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91272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apr-455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287578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주기 변경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78808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24개월 → 12개월 단축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32804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8332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91272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52928" y="3081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체크리스트 변경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78808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 항목 신규 추가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32804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8332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1272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2025-11-20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변경 이력 — 체크리스트·주기 변경 4-eyes 증적 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체크리스트 변경(CHECKLIST_CHANGE) · 재심사 주기 변경(PERIODIC_REVIEW_CHANGE) 이력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조회·초안은 결재 불필요 · 변경 적용만 4-eyes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재심사 주기  (CDD 체크리스트 3탭 끝)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변경 이력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결재ID · 변경 유형 · 변경 내용 · 상신자 · 상태 · 처리일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유형 체크리스트 변경(CHECKLIST_CHANGE) / 재심사 주기 변경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변경 4-eyes 증적 감사 보존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재심사 주기  (CDD 체크리스트 3탭 끝)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.../cdd/checklists/history · /periodic-review-policy/history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AML-CTRY-001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국가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" y="575364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국가위험 관리 &gt; 국가위험 등급표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 관리 — ① 국가위험 등급표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등급표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등급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 소스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등급표 (정책 store · effective v7) — 근거 소스 분해(벤치마크 보강)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국가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5868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등급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3983" y="29443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근거 소스 (FATF·제재·CPI 분해)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97979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19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IR (이란)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43983" y="316382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고위험 · UN/OFAC/EU 제재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7979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0919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KP (북한)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43983" y="336956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고위험 · UN/OFAC 제재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7979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0919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(미얀마)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15868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3983" y="357530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이행취약 · CPI 하위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979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60919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 (필리핀)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15868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3" y="37810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97979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60919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(한국)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15868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43983" y="3986783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97979" y="398678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60919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0383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등급표 — RA factor '고위험 국가'의 앞단 관리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근거 소스 = 정책팩 KR_DEFAULT 산정 근거 파생 표시 (FATF 고위험/이행취약·UN/OFAC/EU 제재·부패인식지수)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정책 store(versioned) · 물리 마스터 테이블 미보유(설계서 §2.6)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변경 상신·이력 탭에서 4-eyes 변경 상신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AML-CTRY-001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 (변경=2인)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국가위험 등급표 / ② 변경 상신·이력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위험 등급 / 근거 소스 + 국가 텍스트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국가(ISO) · 위험 등급 · 근거 소스 · 버전 · 적용 시점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위험 등급 낮음/중간/높음/거래금지 (RA 등급과 동일 축)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39242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근거 소스 FATF 고위험/이행취약·UN/OFAC/EU 제재·부패인식지수(CPI) — 정책팩 산정 근거 파생 표시(외부 지표 자동 갱신=후속 오픈결정)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2976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.../country-risk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AML-CTRY-001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국가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" y="575364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국가위험 관리 &gt; 변경 상신·이력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 관리 — ② 변경 상신·이력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국가위험 등급표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변경 시나리오 (4-eyes · subjectType=COUNTRY_RISK)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변경 [국가 추가/등급 조정 ▼]  예: MM 높음 → 거래금지   근거 [FATF 업데이트 ▼]  사유 [______]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[국가위험 변경 상신(2인)] → 승인(maker≠checker) → 정책 store 반영(EXECUTED)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실행 후 변경 국가 관련 대상 재평가(RA) 트리거 · RA factor '고위험 국가 거주'에 반영(→ AML-RA-002)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30358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1272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상신 이력 (4-eyes 증적)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2928" y="3401568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2100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8332" y="34015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3584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2928" y="362102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높음 → 거래금지 (FATF 업데이트)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72100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0216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8332" y="36210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2928" y="382676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 낮음 → 중간 (고위험 corridor)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72100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0216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8332" y="38267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52928" y="403250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 중간 → 높음 (제재 강화)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72100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8332" y="40325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2025-12-20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AML-CTRY-001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변경 상신·이력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 국가 추가/등급 조정 + 근거(FATF/제재/corridor) + 사유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4-eyes(COUNTRY_RISK) 상신→승인→정책 store(versioned) 반영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후 변경 국가 관련 대상 RA 재평가 트리거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이력 컬럼 결재ID · 변경 내용 · 상신자 · 상태 · 처리일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변경 상신·승인·적용 감사 보존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42153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국가위험 등급표  (국가위험 2탭 끝)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.../country-risk:change(2인 · COUNTRY_RISK) · GET (이력)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AML-PP-001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" y="593062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Policy Pack &gt; 적용 팩 / 기준금액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관리 — ① 적용 팩 / 기준금액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적용 팩 / 기준금액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Policy Pack [고객사: 은행 A]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00140" y="2450592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팩(필수·잠금)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0140" y="267004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기본팩(KR_DEFAULT) 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effective 버전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0140" y="287578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v12 (2026-05-01)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국가·업권 확장 plugin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00140" y="308152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(토글 추가)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시점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0140" y="328726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40680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기준금액 (effective)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2450592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06787" y="2450592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67004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고액현금거래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06787" y="267004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1거래 1천만원↑ 현금(정본)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287578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보고 기준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06787" y="287578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 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08152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기준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06787" y="308152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100만원 상당 이상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28726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 의심 임계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06787" y="328726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9,000만원/7일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3630168"/>
            <a:ext cx="6848856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37216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팩(KR_DEFAULT) 영역별 기본 반영 — 필수 baseline 일괄 적용(개별 토글 아님)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9959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81044" y="3995928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기본 반영 기준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57400" y="41788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7400" y="421538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81044" y="421538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고객확인·실소유자·자금출처/거래목적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42112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/ CTR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81044" y="442112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 후보·보고 / 고액현금거래 수집·검증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462686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Sanctions·PEP·RCA / VASP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81044" y="462686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필터링·정치인(PEP/RCA) 관리 / Travel Rule·지갑 risk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832603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임계 / Privacy·Audit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81044" y="4832603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0.75↑ → EDD 트리거 / 최소수집·append-only 증적 보존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47672" y="5202936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75688" y="52943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적용 팩 / 기준금액 — 기본 번들(잠금) + 확장 plugin(토글), 변경은 ② 탭 4-eyes 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4955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KR_DEFAULT는 AML 최소 요건 일괄 적용(개별 영역 토글 불가) · 국가·업권 확장은 plugin 토글로 추가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56784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CTR/STR/Travel Rule 기준금액(파라미터)은 AML-REP-001/002·AML-TM-002에 연동 · 다음 → ② 변경 상신·이력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AML-PP-001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적용 팩 / 기준금액 · ② 변경 상신·이력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팩 한국 기본팩(KR_DEFAULT) + 국가·업권 확장 plugin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569463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기준금액 CTR·STR·Travel Rule·분할 의심 임계(effective)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14553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영역 CDD/STR/CTR/Sanctions/PEP/VASP/Privacy/Audit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721607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96849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 (policyPackCode 파생) · POST .../policy-packs:change(2인)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AML-PP-001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" y="593062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Policy Pack &gt; 변경 상신·이력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관리 — ② 변경 상신·이력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팩 / 기준금액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변경 시나리오 (4-eyes · subjectType=POLICY_PACK)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변경 [기준금액 조정 / jurisdiction 확장 추가 ▼]  예: CTR 1,000→ effective 갱신  사유 [고시 개정 ▼]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[정책팩 변경 상신(2인·준법감시 책임자)] → 승인 → tenant policy pack effective version 갱신(EXECUTED)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법령·감독규정 변경 가능성으로 effective version 관리 · 국가별 확장은 별도 jurisdiction plugin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30358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1272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상신 이력 (4-eyes 증적 · POLICY_PACK)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2928" y="3401568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37276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5392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19" y="34015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3584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2928" y="362102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기준금액 800만원 → 1천만원 (고시 개정)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7276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65392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19" y="36210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2026-04-01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apr-455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2928" y="382676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 의심 임계 1억원/7일 → 9,000만원/7일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37276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60919" y="38267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apr-380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52928" y="403250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기준 150만원 → 100만원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7276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65392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0919" y="40325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2025-07-01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AML-PP-001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(2인·준법감시 책임자)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변경 상신·이력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4-eyes(POLICY_PACK) 상신→승인→effective 갱신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이력 컬럼 결재ID · 변경 내용 · 상신자 · 상태 · 처리일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effective version 관리(법령·감독규정 변경 대응)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적용 팩 / 기준금액  (Policy Pack 2탭 끝)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96849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.../policy-packs:change(2인·POLICY_PACK) · GET .../approvals?subjectType=POLICY_PACK (이력)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AML-EDU-001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직원·과정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과정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" y="6284582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교육 과정·이수 현황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교육·자격 관리 — ① 교육 과정·이수 현황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교육 과정·이수 현황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 보유 현황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교육 대상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59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2511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직전 1년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교육 과정 (특정금융정보법 §5 내부통제 — 교육·연수)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과정명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15868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제작 기관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1396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형태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433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2452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8332" y="2944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이수율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기본 과정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15868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협회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1396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온라인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7433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 직원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2452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01-02~12-31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8332" y="31638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작성 실무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15868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1396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집합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7433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전담부서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02452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03-10~03-11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8332" y="33695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스크리닝 심화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15868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외부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1396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온라인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7433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전담부서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2452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05-01~06-30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8332" y="357530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78% ⚠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4398264"/>
            <a:ext cx="6848856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57400" y="448970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미이수자 (기준 기간: 직전 1년)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4764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사번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85516" y="4764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3632" y="47640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부서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06924" y="476402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미이수 과정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60920" y="47640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57400" y="494690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57400" y="4983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e-1024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85516" y="4983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김OO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13632" y="49834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06924" y="498348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스크리닝 심화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60920" y="49834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5189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e-1187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85516" y="5189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이OO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13632" y="51892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06924" y="518922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기본 과정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60920" y="51892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12-31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577839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6692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교육 — 이수 데이터는 AML-IRA-001 운영위험 지표 자동 수집 원천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870447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자격 보유 현황 탭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AML-EDU-001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등록·관리 aml:admin:policy / 조회 aml:case:read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교육 과정·이수 현황 / ② 자격 보유 현황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과정명·제작 기관·형태·대상(전담부서 포함)·기간·시간·이수율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미이수자 목록 — 기준 기간 프리셋(직전 1년)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이수 데이터 → AML-IRA-001 운영위험 지표 자동 수집(§12-B.2)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기준일자 스냅샷 보존(감독·검사 증적) · 등록·변경 감사 기록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13308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자격 보유 현황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/api/v1/bo/aml/training/courses (제안 · bo-api 소유)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AML-EDU-001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직원·과정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" y="6284582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자격 보유 현황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교육·자격 관리 — ② 자격 보유 현황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교육 과정·이수 현황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자격 보유 현황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부서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자격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8808" y="2249424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2290572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기준일 2026-06-12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직원 × 자격 보유 매트릭스 (취득일 표시 · 기준일자 스냅샷)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6634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82162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부서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398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CAMS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04688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KCAMS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65392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핵심요원(전문)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239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핵심요원(기초)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e-0901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6634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박OO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82162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398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2023-04-01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5392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2022-10-15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9239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2021-05-20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86634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김OO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82162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398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2024-08-12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65392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9239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2023-02-10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e-1187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6634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이OO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82162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4398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04688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65392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92390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2024-11-03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46268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47183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자격 — [템플릿 다운로드] → 파일 업로드 일괄 등록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9194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임직원 식별은 사번·표시명 수준(인사 원장 비보유 — IAM/조직 연계는 bo-api 소관)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교육 미이수·자격 미달 임계 알림은 대시보드 운영 알림 연계 후보(후속 오픈결정)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교육 과정·이수 현황  (내부통제 2탭 끝)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AML-EDU-001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등록·관리 aml:admin:policy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자격 보유 현황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매트릭스 직원 × 자격(CAMS·KCAMS·핵심요원 전문/기초) 취득일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템플릿 다운로드 → 파일 업로드 일괄 등록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사번·표시명 수준 식별(인사 원장 비보유 · §1.6 경계 준용)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2278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 데이터 → AML-IRA-001 운영위험 지표 자동 수집(§12-B.2)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교육 과정·이수 현황  (내부통제 2탭 끝)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2153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/api/v1/bo/aml/certifications (제안 · bo-api 소유)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" y="646156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감사 로그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① 감사 로그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카테고리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918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649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 [고객사: 은행 A] (append-only · hash chain) · 대상=마스킹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0691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카테고리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1396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0692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67628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승인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692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apr-551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7628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승인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692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67628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증빙 열람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50691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import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1396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0692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v142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7628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변경분 +18/6/2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15:30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50691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 변경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11396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06924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country v7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67628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높음→거래금지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50691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생성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1396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06924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67628" y="3986783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 트리거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58683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감사 로그 — append-only · hash chain 검증 · 수정·삭제 불가 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감사 카테고리 결재 승인/반려·원문 접근·명단 import·정책 변경·케이스 종결 등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원문(PII) 열람 이력 aml:pii:reveal+사유+자동 감사(RAW_DATA_ACCESS)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증적 Export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감사 조회 aml:admin:audit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감사 로그 / ② 증적 Export / ③ 소스 시스템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감사 카테고리·기간 + 작업자/대상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append-only(수정·삭제 불가) · hash chain 검증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카테고리 결재 승인/반려·원문 접근·명단 import·정책 변경·케이스 종결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557015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증적 Export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8039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/api/v1/bo/aml/audit (bo-api)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" y="646156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증적 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② 증적 Export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생성 설정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[STR 증적 ▼]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포맷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[PDF ▼]  (CSV/Excel/PDF/API)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[2026-01 ~ 2026-03]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[검사 대응]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[+ 증적 생성]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08483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 이력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증적ID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52230" y="245059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42236" y="2450592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포맷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81331" y="2450592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행 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0426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hash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exp-77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52230" y="267004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증적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42236" y="267004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PDF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81331" y="267004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0426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exp-71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52230" y="287578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42236" y="287578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CSV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81331" y="287578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20426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0x7c…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50408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exp-65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52230" y="308152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리포트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42236" y="308152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Excel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81331" y="308152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2,400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20426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0x3d…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353872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363016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증적 Export — manifest hash 고정 · 만료 URL 다운로드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3831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증적 유형 CDD/EDD·WLF 등록부·RA 리포트·TM 이력·STR/CTR·Travel Rule·명단 변경·PII 접근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40142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생성자·사유·기간·row count·manifest hash 기록 · 만료 URL 다운로드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감사 로그  /  다음 → ③ 소스 시스템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증적 export aml:evidence:export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증적 Export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유형·포맷·기간·사유 설정 후 생성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포맷 CSV/Excel/PDF/API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 · 만료 URL 다운로드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감사 로그  /  다음 → ③ 소스 시스템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/evidence/aml/exports · GET (이력·다운로드 URL)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" y="646156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소스 시스템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③ 소스 시스템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관리 [고객사: 은행 A]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0691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880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7210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2804" y="245059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장애 정책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회원·계좌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7880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큐(MQ)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7210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API Key+HMAC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32804" y="26700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수동검토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onboarding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50691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7880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7210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mTLS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2804" y="287578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차단(fail-closed)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transaction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50691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7880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변경수집(CDC)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7210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OAuth2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32804" y="3081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지연허용(D-14)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kyc-feed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50691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78808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72100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mTLS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32804" y="32872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수동검토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58683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41330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42245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소스 시스템 — 소스 등록·secret 변경 4-eyes(SECRET_CHANGE)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44256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소스 등록(2인)] · secret 변경 = 4-eyes(SECRET_CHANGE·보안 관리자) · secret 마스킹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연동 방식 REST 전송/큐/폴링/변경수집/스냅샷/벤더브릿지 · 인증 API Key+HMAC/OAuth2/mTLS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증적 Export  (감사·증적 3탭 끝)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소스·secret aml:admin:source-system (2인)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소스 시스템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ID · 종류 · 연동 방식 · 인증 · 장애 정책 · 상태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REST/큐/폴링/변경수집/스냅샷/벤더브릿지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인증 API Key+HMAC / OAuth2 / mTLS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장애 정책 수동검토/차단(fail-closed)/지연허용(D-14)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등록·secret 변경 4-eyes(SECRET_CHANGE·보안 관리자)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증적 Export  (감사·증적 3탭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9560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.../source-systems · :change-secret(2인·SECRET_CHANGE)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