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0" r:id="rId23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618"/>
  </p:normalViewPr>
  <p:slideViewPr>
    <p:cSldViewPr snapToGrid="0" snapToObjects="1">
      <p:cViewPr varScale="1">
        <p:scale>
          <a:sx n="210" d="100"/>
          <a:sy n="210" d="100"/>
        </p:scale>
        <p:origin x="13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23" Type="http://schemas.openxmlformats.org/officeDocument/2006/relationships/slide" Target="slides/slide2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200000"/>
          </a:xfrm>
          <a:prstGeom prst="rect">
            <a:avLst/>
          </a:prstGeom>
          <a:solidFill>
            <a:srgbClr val="1A3268"/>
          </a:solidFill>
          <a:ln w="9525">
            <a:solidFill>
              <a:srgbClr val="1A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16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백오피스 이상거래 탐지(FdsSvc) 기획서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3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B8D8"/>
                </a:solidFill>
                <a:latin typeface="맑은 고딕"/>
              </a:rPr>
              <a:t>룰 관리 · 그룹 · 탐지 모니터링 · AML 보고 화면 구성 및 기능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46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C8C"/>
                </a:solidFill>
                <a:latin typeface="맑은 고딕"/>
              </a:rPr>
              <a:t>BO-FDS-001  |  v1.0  |  작성자: SM Kim  |  Hanpass Global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000" y="5100000"/>
            <a:ext cx="3000000" cy="20000"/>
          </a:xfrm>
          <a:prstGeom prst="rect">
            <a:avLst/>
          </a:prstGeom>
          <a:solidFill>
            <a:srgbClr val="1890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1A3268"/>
          </a:solidFill>
          <a:ln w="9525">
            <a:solidFill>
              <a:srgbClr val="1A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300000" y="150000"/>
            <a:ext cx="8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1800" b="1">
                <a:solidFill>
                  <a:srgbClr val="FFFFFF"/>
                </a:solidFill>
                <a:latin typeface="맑은 고딕"/>
              </a:rPr>
              <a:t>문서 이력관리</a:t>
            </a:r>
          </a:p>
        </p:txBody>
      </p:sp>
      <p:sp>
        <p:nvSpPr>
          <p:cNvPr id="103" name="t"/>
          <p:cNvSpPr txBox="1"/>
          <p:nvPr/>
        </p:nvSpPr>
        <p:spPr>
          <a:xfrm>
            <a:off x="9692000" y="180000"/>
            <a:ext cx="220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ko-KR" sz="900" b="0">
                <a:solidFill>
                  <a:srgbClr val="A0B8D8"/>
                </a:solidFill>
                <a:latin typeface="맑은 고딕"/>
              </a:rPr>
              <a:t>BO-FDS-001</a:t>
            </a:r>
          </a:p>
        </p:txBody>
      </p:sp>
      <p:sp>
        <p:nvSpPr>
          <p:cNvPr id="104" name="t"/>
          <p:cNvSpPr txBox="1"/>
          <p:nvPr/>
        </p:nvSpPr>
        <p:spPr>
          <a:xfrm>
            <a:off x="300000" y="900000"/>
            <a:ext cx="11592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1200" b="1">
                <a:solidFill>
                  <a:srgbClr val="262626"/>
                </a:solidFill>
                <a:latin typeface="맑은 고딕"/>
              </a:rPr>
              <a:t>문서 변경 이력</a:t>
            </a:r>
          </a:p>
        </p:txBody>
      </p:sp>
      <p:sp>
        <p:nvSpPr>
          <p:cNvPr id="105" name="r"/>
          <p:cNvSpPr/>
          <p:nvPr/>
        </p:nvSpPr>
        <p:spPr>
          <a:xfrm>
            <a:off x="300000" y="1300000"/>
            <a:ext cx="11592000" cy="30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360000" y="1360000"/>
            <a:ext cx="102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버전</a:t>
            </a:r>
          </a:p>
        </p:txBody>
      </p:sp>
      <p:sp>
        <p:nvSpPr>
          <p:cNvPr id="107" name="t"/>
          <p:cNvSpPr txBox="1"/>
          <p:nvPr/>
        </p:nvSpPr>
        <p:spPr>
          <a:xfrm>
            <a:off x="1560000" y="1360000"/>
            <a:ext cx="162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일자</a:t>
            </a:r>
          </a:p>
        </p:txBody>
      </p:sp>
      <p:sp>
        <p:nvSpPr>
          <p:cNvPr id="108" name="t"/>
          <p:cNvSpPr txBox="1"/>
          <p:nvPr/>
        </p:nvSpPr>
        <p:spPr>
          <a:xfrm>
            <a:off x="3360000" y="1360000"/>
            <a:ext cx="132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작성자</a:t>
            </a:r>
          </a:p>
        </p:txBody>
      </p:sp>
      <p:sp>
        <p:nvSpPr>
          <p:cNvPr id="109" name="t"/>
          <p:cNvSpPr txBox="1"/>
          <p:nvPr/>
        </p:nvSpPr>
        <p:spPr>
          <a:xfrm>
            <a:off x="4860000" y="1360000"/>
            <a:ext cx="6860000" cy="1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변경 내용</a:t>
            </a:r>
          </a:p>
        </p:txBody>
      </p:sp>
      <p:sp>
        <p:nvSpPr>
          <p:cNvPr id="110" name="r"/>
          <p:cNvSpPr/>
          <p:nvPr/>
        </p:nvSpPr>
        <p:spPr>
          <a:xfrm>
            <a:off x="300000" y="1600000"/>
            <a:ext cx="11592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"/>
          <p:cNvSpPr/>
          <p:nvPr/>
        </p:nvSpPr>
        <p:spPr>
          <a:xfrm>
            <a:off x="1500000" y="1600000"/>
            <a:ext cx="10000" cy="7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"/>
          <p:cNvSpPr/>
          <p:nvPr/>
        </p:nvSpPr>
        <p:spPr>
          <a:xfrm>
            <a:off x="3300000" y="1600000"/>
            <a:ext cx="10000" cy="7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"/>
          <p:cNvSpPr/>
          <p:nvPr/>
        </p:nvSpPr>
        <p:spPr>
          <a:xfrm>
            <a:off x="4800000" y="1600000"/>
            <a:ext cx="10000" cy="700000"/>
          </a:xfrm>
          <a:prstGeom prst="rect">
            <a:avLst/>
          </a:prstGeom>
          <a:solidFill>
            <a:srgbClr val="D9D9D9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360000" y="1850000"/>
            <a:ext cx="102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ko-KR" sz="700" b="1">
                <a:solidFill>
                  <a:srgbClr val="1890FF"/>
                </a:solidFill>
                <a:latin typeface="맑은 고딕"/>
              </a:rPr>
              <a:t>1.0</a:t>
            </a:r>
          </a:p>
        </p:txBody>
      </p:sp>
      <p:sp>
        <p:nvSpPr>
          <p:cNvPr id="115" name="t"/>
          <p:cNvSpPr txBox="1"/>
          <p:nvPr/>
        </p:nvSpPr>
        <p:spPr>
          <a:xfrm>
            <a:off x="1560000" y="1850000"/>
            <a:ext cx="162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ko-KR" sz="700" b="0">
                <a:solidFill>
                  <a:srgbClr val="262626"/>
                </a:solidFill>
                <a:latin typeface="맑은 고딕"/>
              </a:rPr>
              <a:t>2026-06-02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360000" y="1850000"/>
            <a:ext cx="1320000" cy="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ko-KR" sz="700" b="0">
                <a:solidFill>
                  <a:srgbClr val="262626"/>
                </a:solidFill>
                <a:latin typeface="맑은 고딕"/>
              </a:rPr>
              <a:t>SM Kim</a:t>
            </a:r>
          </a:p>
        </p:txBody>
      </p:sp>
      <p:sp>
        <p:nvSpPr>
          <p:cNvPr id="117" name="t"/>
          <p:cNvSpPr txBox="1"/>
          <p:nvPr/>
        </p:nvSpPr>
        <p:spPr>
          <a:xfrm>
            <a:off x="4920000" y="1730000"/>
            <a:ext cx="68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최초 작성 — docs/plan/05-fds-functional-spec.md 기반. 모니터링 대시보드 · 룰 관리(4-eyes 라이프사이클) · 그룹(화이트/블랙) · 탐지 결정 조회/타임라인 · 시뮬레이션 · AML 보고 큐(CTR/STR) · CTR 임계치 · STR 사유 · AFASA 임시 동결 · 영업일 캘린더 · 감사 로그 — 12개 화면 그룹 / 20개 화면 정의 (그룹 등록 FDS-GRP-003 포함)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FDS-DASH-001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대시보드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FDS 모니터링 대시보드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"/>
          <p:cNvSpPr/>
          <p:nvPr/>
        </p:nvSpPr>
        <p:spPr>
          <a:xfrm>
            <a:off x="100000" y="115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● 대시보드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6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30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1" name="t"/>
          <p:cNvSpPr txBox="1"/>
          <p:nvPr/>
        </p:nvSpPr>
        <p:spPr>
          <a:xfrm>
            <a:off x="1950000" y="1700000"/>
            <a:ext cx="3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기간</a:t>
            </a:r>
          </a:p>
        </p:txBody>
      </p:sp>
      <p:sp>
        <p:nvSpPr>
          <p:cNvPr id="122" name="r"/>
          <p:cNvSpPr/>
          <p:nvPr/>
        </p:nvSpPr>
        <p:spPr>
          <a:xfrm>
            <a:off x="1950000" y="1830000"/>
            <a:ext cx="13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"/>
          <p:cNvSpPr txBox="1"/>
          <p:nvPr/>
        </p:nvSpPr>
        <p:spPr>
          <a:xfrm>
            <a:off x="2030000" y="186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최근 24시간 ▼</a:t>
            </a:r>
          </a:p>
        </p:txBody>
      </p:sp>
      <p:sp>
        <p:nvSpPr>
          <p:cNvPr id="124" name="r"/>
          <p:cNvSpPr/>
          <p:nvPr/>
        </p:nvSpPr>
        <p:spPr>
          <a:xfrm>
            <a:off x="3350000" y="1830000"/>
            <a:ext cx="13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3430000" y="186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채널 전체 ▼</a:t>
            </a:r>
          </a:p>
        </p:txBody>
      </p:sp>
      <p:sp>
        <p:nvSpPr>
          <p:cNvPr id="126" name="r"/>
          <p:cNvSpPr/>
          <p:nvPr/>
        </p:nvSpPr>
        <p:spPr>
          <a:xfrm>
            <a:off x="1950000" y="2160000"/>
            <a:ext cx="2180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"/>
          <p:cNvSpPr/>
          <p:nvPr/>
        </p:nvSpPr>
        <p:spPr>
          <a:xfrm>
            <a:off x="1950000" y="2160000"/>
            <a:ext cx="2180000" cy="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"/>
          <p:cNvSpPr txBox="1"/>
          <p:nvPr/>
        </p:nvSpPr>
        <p:spPr>
          <a:xfrm>
            <a:off x="2080000" y="228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595959"/>
                </a:solidFill>
                <a:latin typeface="맑은 고딕"/>
              </a:rPr>
              <a:t>실시간 평가(즉시)</a:t>
            </a:r>
          </a:p>
        </p:txBody>
      </p:sp>
      <p:sp>
        <p:nvSpPr>
          <p:cNvPr id="129" name="t"/>
          <p:cNvSpPr txBox="1"/>
          <p:nvPr/>
        </p:nvSpPr>
        <p:spPr>
          <a:xfrm>
            <a:off x="2080000" y="2480000"/>
            <a:ext cx="19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400" b="1">
                <a:solidFill>
                  <a:srgbClr val="1890FF"/>
                </a:solidFill>
                <a:latin typeface="맑은 고딕"/>
              </a:rPr>
              <a:t>128,402 건</a:t>
            </a:r>
          </a:p>
        </p:txBody>
      </p:sp>
      <p:sp>
        <p:nvSpPr>
          <p:cNvPr id="130" name="t"/>
          <p:cNvSpPr txBox="1"/>
          <p:nvPr/>
        </p:nvSpPr>
        <p:spPr>
          <a:xfrm>
            <a:off x="2080000" y="2820000"/>
            <a:ext cx="19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평균 41ms · 차단 0.24%</a:t>
            </a:r>
          </a:p>
        </p:txBody>
      </p:sp>
      <p:sp>
        <p:nvSpPr>
          <p:cNvPr id="131" name="r"/>
          <p:cNvSpPr/>
          <p:nvPr/>
        </p:nvSpPr>
        <p:spPr>
          <a:xfrm>
            <a:off x="4230000" y="2160000"/>
            <a:ext cx="2180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"/>
          <p:cNvSpPr/>
          <p:nvPr/>
        </p:nvSpPr>
        <p:spPr>
          <a:xfrm>
            <a:off x="4230000" y="2160000"/>
            <a:ext cx="2180000" cy="60000"/>
          </a:xfrm>
          <a:prstGeom prst="roundRect">
            <a:avLst/>
          </a:prstGeom>
          <a:solidFill>
            <a:srgbClr val="52C4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4360000" y="228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595959"/>
                </a:solidFill>
                <a:latin typeface="맑은 고딕"/>
              </a:rPr>
              <a:t>사후 평가</a:t>
            </a:r>
          </a:p>
        </p:txBody>
      </p:sp>
      <p:sp>
        <p:nvSpPr>
          <p:cNvPr id="134" name="t"/>
          <p:cNvSpPr txBox="1"/>
          <p:nvPr/>
        </p:nvSpPr>
        <p:spPr>
          <a:xfrm>
            <a:off x="4360000" y="2480000"/>
            <a:ext cx="19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400" b="1">
                <a:solidFill>
                  <a:srgbClr val="52C41A"/>
                </a:solidFill>
                <a:latin typeface="맑은 고딕"/>
              </a:rPr>
              <a:t>442,910 건</a:t>
            </a:r>
          </a:p>
        </p:txBody>
      </p:sp>
      <p:sp>
        <p:nvSpPr>
          <p:cNvPr id="135" name="t"/>
          <p:cNvSpPr txBox="1"/>
          <p:nvPr/>
        </p:nvSpPr>
        <p:spPr>
          <a:xfrm>
            <a:off x="4360000" y="2820000"/>
            <a:ext cx="19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지연 4.2초 · 미처리 0</a:t>
            </a:r>
          </a:p>
        </p:txBody>
      </p:sp>
      <p:sp>
        <p:nvSpPr>
          <p:cNvPr id="136" name="r"/>
          <p:cNvSpPr/>
          <p:nvPr/>
        </p:nvSpPr>
        <p:spPr>
          <a:xfrm>
            <a:off x="6510000" y="2160000"/>
            <a:ext cx="2180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"/>
          <p:cNvSpPr/>
          <p:nvPr/>
        </p:nvSpPr>
        <p:spPr>
          <a:xfrm>
            <a:off x="6510000" y="2160000"/>
            <a:ext cx="2180000" cy="60000"/>
          </a:xfrm>
          <a:prstGeom prst="roundRect">
            <a:avLst/>
          </a:prstGeom>
          <a:solidFill>
            <a:srgbClr val="FFA9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6640000" y="228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595959"/>
                </a:solidFill>
                <a:latin typeface="맑은 고딕"/>
              </a:rPr>
              <a:t>차단·조치</a:t>
            </a:r>
          </a:p>
        </p:txBody>
      </p:sp>
      <p:sp>
        <p:nvSpPr>
          <p:cNvPr id="139" name="t"/>
          <p:cNvSpPr txBox="1"/>
          <p:nvPr/>
        </p:nvSpPr>
        <p:spPr>
          <a:xfrm>
            <a:off x="6640000" y="2480000"/>
            <a:ext cx="19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400" b="1">
                <a:solidFill>
                  <a:srgbClr val="FFA940"/>
                </a:solidFill>
                <a:latin typeface="맑은 고딕"/>
              </a:rPr>
              <a:t>312 건 차단</a:t>
            </a:r>
          </a:p>
        </p:txBody>
      </p:sp>
      <p:sp>
        <p:nvSpPr>
          <p:cNvPr id="140" name="t"/>
          <p:cNvSpPr txBox="1"/>
          <p:nvPr/>
        </p:nvSpPr>
        <p:spPr>
          <a:xfrm>
            <a:off x="6640000" y="2820000"/>
            <a:ext cx="19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추가인증 88 · 동결 3</a:t>
            </a:r>
          </a:p>
        </p:txBody>
      </p:sp>
      <p:sp>
        <p:nvSpPr>
          <p:cNvPr id="141" name="r"/>
          <p:cNvSpPr/>
          <p:nvPr/>
        </p:nvSpPr>
        <p:spPr>
          <a:xfrm>
            <a:off x="1950000" y="3200000"/>
            <a:ext cx="6850000" cy="900000"/>
          </a:xfrm>
          <a:prstGeom prst="rect">
            <a:avLst/>
          </a:prstGeom>
          <a:solidFill>
            <a:srgbClr val="FFF7E6"/>
          </a:solidFill>
          <a:ln w="9525">
            <a:solidFill>
              <a:srgbClr val="FFA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"/>
          <p:cNvSpPr txBox="1"/>
          <p:nvPr/>
        </p:nvSpPr>
        <p:spPr>
          <a:xfrm>
            <a:off x="2060000" y="3270000"/>
            <a:ext cx="6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80" b="1">
                <a:solidFill>
                  <a:srgbClr val="D46B08"/>
                </a:solidFill>
                <a:latin typeface="맑은 고딕"/>
              </a:rPr>
              <a:t>[ 운영 알림 ]</a:t>
            </a:r>
          </a:p>
        </p:txBody>
      </p:sp>
      <p:sp>
        <p:nvSpPr>
          <p:cNvPr id="143" name="t"/>
          <p:cNvSpPr txBox="1"/>
          <p:nvPr/>
        </p:nvSpPr>
        <p:spPr>
          <a:xfrm>
            <a:off x="2120000" y="3470000"/>
            <a:ext cx="6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74D00"/>
                </a:solidFill>
                <a:latin typeface="맑은 고딕"/>
              </a:rPr>
              <a:t>[44_해외] 룰 탐지가 평소의 11배로 급증 — 자동 중지 임계 근접</a:t>
            </a:r>
          </a:p>
        </p:txBody>
      </p:sp>
      <p:sp>
        <p:nvSpPr>
          <p:cNvPr id="144" name="t"/>
          <p:cNvSpPr txBox="1"/>
          <p:nvPr/>
        </p:nvSpPr>
        <p:spPr>
          <a:xfrm>
            <a:off x="2120000" y="3670000"/>
            <a:ext cx="6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74D00"/>
                </a:solidFill>
                <a:latin typeface="맑은 고딕"/>
              </a:rPr>
              <a:t>AML 보고 2건이 제출 기한 24시간 이내 미결재 (담당자 알림 발송)</a:t>
            </a:r>
          </a:p>
        </p:txBody>
      </p:sp>
      <p:sp>
        <p:nvSpPr>
          <p:cNvPr id="145" name="t"/>
          <p:cNvSpPr txBox="1"/>
          <p:nvPr/>
        </p:nvSpPr>
        <p:spPr>
          <a:xfrm>
            <a:off x="2120000" y="3870000"/>
            <a:ext cx="6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74D00"/>
                </a:solidFill>
                <a:latin typeface="맑은 고딕"/>
              </a:rPr>
              <a:t>자동 중지된 룰 1건: [55_ATM] (최근 5분 탐지율 1.4%)</a:t>
            </a:r>
          </a:p>
        </p:txBody>
      </p:sp>
      <p:sp>
        <p:nvSpPr>
          <p:cNvPr id="146" name="r"/>
          <p:cNvSpPr/>
          <p:nvPr/>
        </p:nvSpPr>
        <p:spPr>
          <a:xfrm>
            <a:off x="1950000" y="4250000"/>
            <a:ext cx="3380000" cy="20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2060000" y="4320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262626"/>
                </a:solidFill>
                <a:latin typeface="맑은 고딕"/>
              </a:rPr>
              <a:t>가장 많이 탐지된 룰 (24시간)</a:t>
            </a:r>
          </a:p>
        </p:txBody>
      </p:sp>
      <p:sp>
        <p:nvSpPr>
          <p:cNvPr id="148" name="t"/>
          <p:cNvSpPr txBox="1"/>
          <p:nvPr/>
        </p:nvSpPr>
        <p:spPr>
          <a:xfrm>
            <a:off x="2080000" y="45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[VEL_ALL]</a:t>
            </a:r>
          </a:p>
        </p:txBody>
      </p:sp>
      <p:sp>
        <p:nvSpPr>
          <p:cNvPr id="149" name="t"/>
          <p:cNvSpPr txBox="1"/>
          <p:nvPr/>
        </p:nvSpPr>
        <p:spPr>
          <a:xfrm>
            <a:off x="3380000" y="45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거래 차단</a:t>
            </a:r>
          </a:p>
        </p:txBody>
      </p:sp>
      <p:sp>
        <p:nvSpPr>
          <p:cNvPr id="150" name="t"/>
          <p:cNvSpPr txBox="1"/>
          <p:nvPr/>
        </p:nvSpPr>
        <p:spPr>
          <a:xfrm>
            <a:off x="4750000" y="456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1890FF"/>
                </a:solidFill>
                <a:latin typeface="맑은 고딕"/>
              </a:rPr>
              <a:t>142</a:t>
            </a:r>
          </a:p>
        </p:txBody>
      </p:sp>
      <p:sp>
        <p:nvSpPr>
          <p:cNvPr id="151" name="t"/>
          <p:cNvSpPr txBox="1"/>
          <p:nvPr/>
        </p:nvSpPr>
        <p:spPr>
          <a:xfrm>
            <a:off x="2080000" y="48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[44_해외]</a:t>
            </a:r>
          </a:p>
        </p:txBody>
      </p:sp>
      <p:sp>
        <p:nvSpPr>
          <p:cNvPr id="152" name="t"/>
          <p:cNvSpPr txBox="1"/>
          <p:nvPr/>
        </p:nvSpPr>
        <p:spPr>
          <a:xfrm>
            <a:off x="3380000" y="48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거래 차단</a:t>
            </a:r>
          </a:p>
        </p:txBody>
      </p:sp>
      <p:sp>
        <p:nvSpPr>
          <p:cNvPr id="153" name="t"/>
          <p:cNvSpPr txBox="1"/>
          <p:nvPr/>
        </p:nvSpPr>
        <p:spPr>
          <a:xfrm>
            <a:off x="4750000" y="486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1890FF"/>
                </a:solidFill>
                <a:latin typeface="맑은 고딕"/>
              </a:rPr>
              <a:t>88</a:t>
            </a:r>
          </a:p>
        </p:txBody>
      </p:sp>
      <p:sp>
        <p:nvSpPr>
          <p:cNvPr id="154" name="t"/>
          <p:cNvSpPr txBox="1"/>
          <p:nvPr/>
        </p:nvSpPr>
        <p:spPr>
          <a:xfrm>
            <a:off x="2080000" y="51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[BL_IP]</a:t>
            </a:r>
          </a:p>
        </p:txBody>
      </p:sp>
      <p:sp>
        <p:nvSpPr>
          <p:cNvPr id="155" name="t"/>
          <p:cNvSpPr txBox="1"/>
          <p:nvPr/>
        </p:nvSpPr>
        <p:spPr>
          <a:xfrm>
            <a:off x="3380000" y="51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거래 차단</a:t>
            </a:r>
          </a:p>
        </p:txBody>
      </p:sp>
      <p:sp>
        <p:nvSpPr>
          <p:cNvPr id="156" name="t"/>
          <p:cNvSpPr txBox="1"/>
          <p:nvPr/>
        </p:nvSpPr>
        <p:spPr>
          <a:xfrm>
            <a:off x="4750000" y="516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1890FF"/>
                </a:solidFill>
                <a:latin typeface="맑은 고딕"/>
              </a:rPr>
              <a:t>31</a:t>
            </a:r>
          </a:p>
        </p:txBody>
      </p:sp>
      <p:sp>
        <p:nvSpPr>
          <p:cNvPr id="157" name="t"/>
          <p:cNvSpPr txBox="1"/>
          <p:nvPr/>
        </p:nvSpPr>
        <p:spPr>
          <a:xfrm>
            <a:off x="2080000" y="54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[STR_PEP]</a:t>
            </a:r>
          </a:p>
        </p:txBody>
      </p:sp>
      <p:sp>
        <p:nvSpPr>
          <p:cNvPr id="158" name="t"/>
          <p:cNvSpPr txBox="1"/>
          <p:nvPr/>
        </p:nvSpPr>
        <p:spPr>
          <a:xfrm>
            <a:off x="3380000" y="54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의심거래 적재</a:t>
            </a:r>
          </a:p>
        </p:txBody>
      </p:sp>
      <p:sp>
        <p:nvSpPr>
          <p:cNvPr id="159" name="t"/>
          <p:cNvSpPr txBox="1"/>
          <p:nvPr/>
        </p:nvSpPr>
        <p:spPr>
          <a:xfrm>
            <a:off x="4750000" y="546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1890FF"/>
                </a:solidFill>
                <a:latin typeface="맑은 고딕"/>
              </a:rPr>
              <a:t>12</a:t>
            </a:r>
          </a:p>
        </p:txBody>
      </p:sp>
      <p:sp>
        <p:nvSpPr>
          <p:cNvPr id="160" name="r"/>
          <p:cNvSpPr/>
          <p:nvPr/>
        </p:nvSpPr>
        <p:spPr>
          <a:xfrm>
            <a:off x="5470000" y="4250000"/>
            <a:ext cx="3330000" cy="20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"/>
          <p:cNvSpPr txBox="1"/>
          <p:nvPr/>
        </p:nvSpPr>
        <p:spPr>
          <a:xfrm>
            <a:off x="5580000" y="4320000"/>
            <a:ext cx="3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262626"/>
                </a:solidFill>
                <a:latin typeface="맑은 고딕"/>
              </a:rPr>
              <a:t>AML 보고 기한 현황</a:t>
            </a:r>
          </a:p>
        </p:txBody>
      </p:sp>
      <p:sp>
        <p:nvSpPr>
          <p:cNvPr id="162" name="t"/>
          <p:cNvSpPr txBox="1"/>
          <p:nvPr/>
        </p:nvSpPr>
        <p:spPr>
          <a:xfrm>
            <a:off x="5600000" y="45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CTR 기한 24시간 이내</a:t>
            </a:r>
          </a:p>
        </p:txBody>
      </p:sp>
      <p:sp>
        <p:nvSpPr>
          <p:cNvPr id="163" name="t"/>
          <p:cNvSpPr txBox="1"/>
          <p:nvPr/>
        </p:nvSpPr>
        <p:spPr>
          <a:xfrm>
            <a:off x="8000000" y="456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1">
                <a:solidFill>
                  <a:srgbClr val="FFA940"/>
                </a:solidFill>
                <a:latin typeface="맑은 고딕"/>
              </a:rPr>
              <a:t>2</a:t>
            </a:r>
          </a:p>
        </p:txBody>
      </p:sp>
      <p:sp>
        <p:nvSpPr>
          <p:cNvPr id="164" name="t"/>
          <p:cNvSpPr txBox="1"/>
          <p:nvPr/>
        </p:nvSpPr>
        <p:spPr>
          <a:xfrm>
            <a:off x="5600000" y="48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STR 기한 24시간 이내</a:t>
            </a:r>
          </a:p>
        </p:txBody>
      </p:sp>
      <p:sp>
        <p:nvSpPr>
          <p:cNvPr id="165" name="t"/>
          <p:cNvSpPr txBox="1"/>
          <p:nvPr/>
        </p:nvSpPr>
        <p:spPr>
          <a:xfrm>
            <a:off x="8000000" y="486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1">
                <a:solidFill>
                  <a:srgbClr val="FFA940"/>
                </a:solidFill>
                <a:latin typeface="맑은 고딕"/>
              </a:rPr>
              <a:t>1</a:t>
            </a:r>
          </a:p>
        </p:txBody>
      </p:sp>
      <p:sp>
        <p:nvSpPr>
          <p:cNvPr id="166" name="t"/>
          <p:cNvSpPr txBox="1"/>
          <p:nvPr/>
        </p:nvSpPr>
        <p:spPr>
          <a:xfrm>
            <a:off x="5600000" y="51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승인 후 미제출</a:t>
            </a:r>
          </a:p>
        </p:txBody>
      </p:sp>
      <p:sp>
        <p:nvSpPr>
          <p:cNvPr id="167" name="t"/>
          <p:cNvSpPr txBox="1"/>
          <p:nvPr/>
        </p:nvSpPr>
        <p:spPr>
          <a:xfrm>
            <a:off x="8000000" y="516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1">
                <a:solidFill>
                  <a:srgbClr val="52C41A"/>
                </a:solidFill>
                <a:latin typeface="맑은 고딕"/>
              </a:rPr>
              <a:t>0</a:t>
            </a:r>
          </a:p>
        </p:txBody>
      </p:sp>
      <p:sp>
        <p:nvSpPr>
          <p:cNvPr id="168" name="t"/>
          <p:cNvSpPr txBox="1"/>
          <p:nvPr/>
        </p:nvSpPr>
        <p:spPr>
          <a:xfrm>
            <a:off x="5600000" y="54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기한 초과</a:t>
            </a:r>
          </a:p>
        </p:txBody>
      </p:sp>
      <p:sp>
        <p:nvSpPr>
          <p:cNvPr id="169" name="t"/>
          <p:cNvSpPr txBox="1"/>
          <p:nvPr/>
        </p:nvSpPr>
        <p:spPr>
          <a:xfrm>
            <a:off x="8000000" y="546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1">
                <a:solidFill>
                  <a:srgbClr val="52C41A"/>
                </a:solidFill>
                <a:latin typeface="맑은 고딕"/>
              </a:rPr>
              <a:t>0</a:t>
            </a:r>
          </a:p>
        </p:txBody>
      </p:sp>
      <p:sp>
        <p:nvSpPr>
          <p:cNvPr id="170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FDS-DASH-001</a:t>
            </a:r>
          </a:p>
        </p:txBody>
      </p:sp>
      <p:sp>
        <p:nvSpPr>
          <p:cNvPr id="172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전용 — 모든 운영자(FDS_VIEWER)</a:t>
            </a:r>
          </a:p>
        </p:txBody>
      </p:sp>
      <p:sp>
        <p:nvSpPr>
          <p:cNvPr id="174" name="t"/>
          <p:cNvSpPr txBox="1"/>
          <p:nvPr/>
        </p:nvSpPr>
        <p:spPr>
          <a:xfrm>
            <a:off x="8990000" y="160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상단 필터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기간(1시간/24시간/7일/30일) · 채널 선택</a:t>
            </a:r>
          </a:p>
        </p:txBody>
      </p:sp>
      <p:sp>
        <p:nvSpPr>
          <p:cNvPr id="175" name="t"/>
          <p:cNvSpPr txBox="1"/>
          <p:nvPr/>
        </p:nvSpPr>
        <p:spPr>
          <a:xfrm>
            <a:off x="8990000" y="203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평가 카드 3종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실시간 평가(즉시) · 사후 평가 · 차단·조치 — 건수와 지표</a:t>
            </a:r>
          </a:p>
        </p:txBody>
      </p:sp>
      <p:sp>
        <p:nvSpPr>
          <p:cNvPr id="176" name="t"/>
          <p:cNvSpPr txBox="1"/>
          <p:nvPr/>
        </p:nvSpPr>
        <p:spPr>
          <a:xfrm>
            <a:off x="8990000" y="2636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운영 알림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룰 자동중지·탐지 급증·보고 기한 임박 (클릭 시 해당 화면 이동)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990000" y="323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가장 많이 탐지된 룰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룰 번호·동작·건수 Top 목록</a:t>
            </a:r>
          </a:p>
        </p:txBody>
      </p:sp>
      <p:sp>
        <p:nvSpPr>
          <p:cNvPr id="178" name="t"/>
          <p:cNvSpPr txBox="1"/>
          <p:nvPr/>
        </p:nvSpPr>
        <p:spPr>
          <a:xfrm>
            <a:off x="8990000" y="36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AML 보고 기한 현황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CTR/STR 기한 임박·미제출·기한 초과 건수</a:t>
            </a:r>
          </a:p>
        </p:txBody>
      </p:sp>
      <p:sp>
        <p:nvSpPr>
          <p:cNvPr id="179" name="t"/>
          <p:cNvSpPr txBox="1"/>
          <p:nvPr/>
        </p:nvSpPr>
        <p:spPr>
          <a:xfrm>
            <a:off x="8990000" y="410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현황 수치는 약 1분 주기로 갱신 (마지막 갱신 시각 표기)</a:t>
            </a:r>
          </a:p>
        </p:txBody>
      </p:sp>
      <p:sp>
        <p:nvSpPr>
          <p:cNvPr id="180" name="t"/>
          <p:cNvSpPr txBox="1"/>
          <p:nvPr/>
        </p:nvSpPr>
        <p:spPr>
          <a:xfrm>
            <a:off x="8990000" y="453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FDS-RULE-001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룰 관리 &gt; 목록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룰 목록</a:t>
            </a:r>
          </a:p>
        </p:txBody>
      </p:sp>
      <p:sp>
        <p:nvSpPr>
          <p:cNvPr id="105" name="r"/>
          <p:cNvSpPr/>
          <p:nvPr/>
        </p:nvSpPr>
        <p:spPr>
          <a:xfrm>
            <a:off x="7700000" y="1320000"/>
            <a:ext cx="1100000" cy="2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7700000" y="137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+ 새 룰</a:t>
            </a:r>
          </a:p>
        </p:txBody>
      </p:sp>
      <p:sp>
        <p:nvSpPr>
          <p:cNvPr id="107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9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11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4" name="r"/>
          <p:cNvSpPr/>
          <p:nvPr/>
        </p:nvSpPr>
        <p:spPr>
          <a:xfrm>
            <a:off x="100000" y="138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룰 관리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164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룰 목록 ◀</a:t>
            </a:r>
          </a:p>
        </p:txBody>
      </p:sp>
      <p:sp>
        <p:nvSpPr>
          <p:cNvPr id="117" name="t"/>
          <p:cNvSpPr txBox="1"/>
          <p:nvPr/>
        </p:nvSpPr>
        <p:spPr>
          <a:xfrm>
            <a:off x="360000" y="185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상세/버전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0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빌더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2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5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4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5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6" name="r"/>
          <p:cNvSpPr/>
          <p:nvPr/>
        </p:nvSpPr>
        <p:spPr>
          <a:xfrm>
            <a:off x="1950000" y="1640000"/>
            <a:ext cx="6850000" cy="4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20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카테고리</a:t>
            </a:r>
          </a:p>
        </p:txBody>
      </p:sp>
      <p:sp>
        <p:nvSpPr>
          <p:cNvPr id="128" name="r"/>
          <p:cNvSpPr/>
          <p:nvPr/>
        </p:nvSpPr>
        <p:spPr>
          <a:xfrm>
            <a:off x="20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21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DEVICE ▼ (7종)</a:t>
            </a:r>
          </a:p>
        </p:txBody>
      </p:sp>
      <p:sp>
        <p:nvSpPr>
          <p:cNvPr id="130" name="t"/>
          <p:cNvSpPr txBox="1"/>
          <p:nvPr/>
        </p:nvSpPr>
        <p:spPr>
          <a:xfrm>
            <a:off x="36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채널</a:t>
            </a:r>
          </a:p>
        </p:txBody>
      </p:sp>
      <p:sp>
        <p:nvSpPr>
          <p:cNvPr id="131" name="r"/>
          <p:cNvSpPr/>
          <p:nvPr/>
        </p:nvSpPr>
        <p:spPr>
          <a:xfrm>
            <a:off x="36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"/>
          <p:cNvSpPr txBox="1"/>
          <p:nvPr/>
        </p:nvSpPr>
        <p:spPr>
          <a:xfrm>
            <a:off x="37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전체 ▼ (7종)</a:t>
            </a:r>
          </a:p>
        </p:txBody>
      </p:sp>
      <p:sp>
        <p:nvSpPr>
          <p:cNvPr id="133" name="t"/>
          <p:cNvSpPr txBox="1"/>
          <p:nvPr/>
        </p:nvSpPr>
        <p:spPr>
          <a:xfrm>
            <a:off x="52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상태</a:t>
            </a:r>
          </a:p>
        </p:txBody>
      </p:sp>
      <p:sp>
        <p:nvSpPr>
          <p:cNvPr id="134" name="r"/>
          <p:cNvSpPr/>
          <p:nvPr/>
        </p:nvSpPr>
        <p:spPr>
          <a:xfrm>
            <a:off x="52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53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운영중 ▼ (6종)</a:t>
            </a:r>
          </a:p>
        </p:txBody>
      </p:sp>
      <p:sp>
        <p:nvSpPr>
          <p:cNvPr id="136" name="t"/>
          <p:cNvSpPr txBox="1"/>
          <p:nvPr/>
        </p:nvSpPr>
        <p:spPr>
          <a:xfrm>
            <a:off x="68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동작</a:t>
            </a:r>
          </a:p>
        </p:txBody>
      </p:sp>
      <p:sp>
        <p:nvSpPr>
          <p:cNvPr id="137" name="r"/>
          <p:cNvSpPr/>
          <p:nvPr/>
        </p:nvSpPr>
        <p:spPr>
          <a:xfrm>
            <a:off x="68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69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전체 ▼ (8종)</a:t>
            </a:r>
          </a:p>
        </p:txBody>
      </p:sp>
      <p:sp>
        <p:nvSpPr>
          <p:cNvPr id="139" name="r"/>
          <p:cNvSpPr/>
          <p:nvPr/>
        </p:nvSpPr>
        <p:spPr>
          <a:xfrm>
            <a:off x="7720000" y="1840000"/>
            <a:ext cx="5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"/>
          <p:cNvSpPr txBox="1"/>
          <p:nvPr/>
        </p:nvSpPr>
        <p:spPr>
          <a:xfrm>
            <a:off x="772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초기화</a:t>
            </a:r>
          </a:p>
        </p:txBody>
      </p:sp>
      <p:sp>
        <p:nvSpPr>
          <p:cNvPr id="141" name="r"/>
          <p:cNvSpPr/>
          <p:nvPr/>
        </p:nvSpPr>
        <p:spPr>
          <a:xfrm>
            <a:off x="8260000" y="1840000"/>
            <a:ext cx="500000" cy="20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"/>
          <p:cNvSpPr txBox="1"/>
          <p:nvPr/>
        </p:nvSpPr>
        <p:spPr>
          <a:xfrm>
            <a:off x="826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143" name="r"/>
          <p:cNvSpPr/>
          <p:nvPr/>
        </p:nvSpPr>
        <p:spPr>
          <a:xfrm>
            <a:off x="1950000" y="22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"/>
          <p:cNvSpPr txBox="1"/>
          <p:nvPr/>
        </p:nvSpPr>
        <p:spPr>
          <a:xfrm>
            <a:off x="1950000" y="226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룰 번호</a:t>
            </a:r>
          </a:p>
        </p:txBody>
      </p:sp>
      <p:sp>
        <p:nvSpPr>
          <p:cNvPr id="145" name="t"/>
          <p:cNvSpPr txBox="1"/>
          <p:nvPr/>
        </p:nvSpPr>
        <p:spPr>
          <a:xfrm>
            <a:off x="3050000" y="226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이름</a:t>
            </a:r>
          </a:p>
        </p:txBody>
      </p:sp>
      <p:sp>
        <p:nvSpPr>
          <p:cNvPr id="146" name="t"/>
          <p:cNvSpPr txBox="1"/>
          <p:nvPr/>
        </p:nvSpPr>
        <p:spPr>
          <a:xfrm>
            <a:off x="5200000" y="226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종류</a:t>
            </a:r>
          </a:p>
        </p:txBody>
      </p:sp>
      <p:sp>
        <p:nvSpPr>
          <p:cNvPr id="147" name="t"/>
          <p:cNvSpPr txBox="1"/>
          <p:nvPr/>
        </p:nvSpPr>
        <p:spPr>
          <a:xfrm>
            <a:off x="6150000" y="226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동작</a:t>
            </a:r>
          </a:p>
        </p:txBody>
      </p:sp>
      <p:sp>
        <p:nvSpPr>
          <p:cNvPr id="148" name="t"/>
          <p:cNvSpPr txBox="1"/>
          <p:nvPr/>
        </p:nvSpPr>
        <p:spPr>
          <a:xfrm>
            <a:off x="7250000" y="226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평가</a:t>
            </a:r>
          </a:p>
        </p:txBody>
      </p:sp>
      <p:sp>
        <p:nvSpPr>
          <p:cNvPr id="149" name="t"/>
          <p:cNvSpPr txBox="1"/>
          <p:nvPr/>
        </p:nvSpPr>
        <p:spPr>
          <a:xfrm>
            <a:off x="8050000" y="226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상태</a:t>
            </a:r>
          </a:p>
        </p:txBody>
      </p:sp>
      <p:sp>
        <p:nvSpPr>
          <p:cNvPr id="150" name="r"/>
          <p:cNvSpPr/>
          <p:nvPr/>
        </p:nvSpPr>
        <p:spPr>
          <a:xfrm>
            <a:off x="1950000" y="246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1950000" y="255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[10_해외]</a:t>
            </a:r>
          </a:p>
        </p:txBody>
      </p:sp>
      <p:sp>
        <p:nvSpPr>
          <p:cNvPr id="152" name="t"/>
          <p:cNvSpPr txBox="1"/>
          <p:nvPr/>
        </p:nvSpPr>
        <p:spPr>
          <a:xfrm>
            <a:off x="3050000" y="255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단말기변경 3시간내 4백만원 송금</a:t>
            </a:r>
          </a:p>
        </p:txBody>
      </p:sp>
      <p:sp>
        <p:nvSpPr>
          <p:cNvPr id="153" name="t"/>
          <p:cNvSpPr txBox="1"/>
          <p:nvPr/>
        </p:nvSpPr>
        <p:spPr>
          <a:xfrm>
            <a:off x="5200000" y="255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단말기</a:t>
            </a:r>
          </a:p>
        </p:txBody>
      </p:sp>
      <p:sp>
        <p:nvSpPr>
          <p:cNvPr id="154" name="t"/>
          <p:cNvSpPr txBox="1"/>
          <p:nvPr/>
        </p:nvSpPr>
        <p:spPr>
          <a:xfrm>
            <a:off x="6150000" y="255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모니터링</a:t>
            </a:r>
          </a:p>
        </p:txBody>
      </p:sp>
      <p:sp>
        <p:nvSpPr>
          <p:cNvPr id="155" name="t"/>
          <p:cNvSpPr txBox="1"/>
          <p:nvPr/>
        </p:nvSpPr>
        <p:spPr>
          <a:xfrm>
            <a:off x="7250000" y="255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사후</a:t>
            </a:r>
          </a:p>
        </p:txBody>
      </p:sp>
      <p:sp>
        <p:nvSpPr>
          <p:cNvPr id="156" name="t"/>
          <p:cNvSpPr txBox="1"/>
          <p:nvPr/>
        </p:nvSpPr>
        <p:spPr>
          <a:xfrm>
            <a:off x="8050000" y="255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운영중</a:t>
            </a:r>
          </a:p>
        </p:txBody>
      </p:sp>
      <p:sp>
        <p:nvSpPr>
          <p:cNvPr id="157" name="r"/>
          <p:cNvSpPr/>
          <p:nvPr/>
        </p:nvSpPr>
        <p:spPr>
          <a:xfrm>
            <a:off x="1950000" y="279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"/>
          <p:cNvSpPr txBox="1"/>
          <p:nvPr/>
        </p:nvSpPr>
        <p:spPr>
          <a:xfrm>
            <a:off x="1950000" y="288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[44_해외]</a:t>
            </a:r>
          </a:p>
        </p:txBody>
      </p:sp>
      <p:sp>
        <p:nvSpPr>
          <p:cNvPr id="159" name="t"/>
          <p:cNvSpPr txBox="1"/>
          <p:nvPr/>
        </p:nvSpPr>
        <p:spPr>
          <a:xfrm>
            <a:off x="3050000" y="288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동일 수취계좌 1,800만원 누적</a:t>
            </a:r>
          </a:p>
        </p:txBody>
      </p:sp>
      <p:sp>
        <p:nvSpPr>
          <p:cNvPr id="160" name="t"/>
          <p:cNvSpPr txBox="1"/>
          <p:nvPr/>
        </p:nvSpPr>
        <p:spPr>
          <a:xfrm>
            <a:off x="5200000" y="288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행동이상</a:t>
            </a:r>
          </a:p>
        </p:txBody>
      </p:sp>
      <p:sp>
        <p:nvSpPr>
          <p:cNvPr id="161" name="t"/>
          <p:cNvSpPr txBox="1"/>
          <p:nvPr/>
        </p:nvSpPr>
        <p:spPr>
          <a:xfrm>
            <a:off x="6150000" y="288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거래차단</a:t>
            </a:r>
          </a:p>
        </p:txBody>
      </p:sp>
      <p:sp>
        <p:nvSpPr>
          <p:cNvPr id="162" name="t"/>
          <p:cNvSpPr txBox="1"/>
          <p:nvPr/>
        </p:nvSpPr>
        <p:spPr>
          <a:xfrm>
            <a:off x="7250000" y="288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사후</a:t>
            </a:r>
          </a:p>
        </p:txBody>
      </p:sp>
      <p:sp>
        <p:nvSpPr>
          <p:cNvPr id="163" name="t"/>
          <p:cNvSpPr txBox="1"/>
          <p:nvPr/>
        </p:nvSpPr>
        <p:spPr>
          <a:xfrm>
            <a:off x="8050000" y="288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운영중</a:t>
            </a:r>
          </a:p>
        </p:txBody>
      </p:sp>
      <p:sp>
        <p:nvSpPr>
          <p:cNvPr id="164" name="r"/>
          <p:cNvSpPr/>
          <p:nvPr/>
        </p:nvSpPr>
        <p:spPr>
          <a:xfrm>
            <a:off x="1950000" y="312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"/>
          <p:cNvSpPr txBox="1"/>
          <p:nvPr/>
        </p:nvSpPr>
        <p:spPr>
          <a:xfrm>
            <a:off x="1950000" y="321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[BL_IP]</a:t>
            </a:r>
          </a:p>
        </p:txBody>
      </p:sp>
      <p:sp>
        <p:nvSpPr>
          <p:cNvPr id="166" name="t"/>
          <p:cNvSpPr txBox="1"/>
          <p:nvPr/>
        </p:nvSpPr>
        <p:spPr>
          <a:xfrm>
            <a:off x="3050000" y="321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차단 IP 즉시 차단</a:t>
            </a:r>
          </a:p>
        </p:txBody>
      </p:sp>
      <p:sp>
        <p:nvSpPr>
          <p:cNvPr id="167" name="t"/>
          <p:cNvSpPr txBox="1"/>
          <p:nvPr/>
        </p:nvSpPr>
        <p:spPr>
          <a:xfrm>
            <a:off x="5200000" y="321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블랙리스트</a:t>
            </a:r>
          </a:p>
        </p:txBody>
      </p:sp>
      <p:sp>
        <p:nvSpPr>
          <p:cNvPr id="168" name="t"/>
          <p:cNvSpPr txBox="1"/>
          <p:nvPr/>
        </p:nvSpPr>
        <p:spPr>
          <a:xfrm>
            <a:off x="6150000" y="321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거래차단</a:t>
            </a:r>
          </a:p>
        </p:txBody>
      </p:sp>
      <p:sp>
        <p:nvSpPr>
          <p:cNvPr id="169" name="t"/>
          <p:cNvSpPr txBox="1"/>
          <p:nvPr/>
        </p:nvSpPr>
        <p:spPr>
          <a:xfrm>
            <a:off x="7250000" y="321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즉시</a:t>
            </a:r>
          </a:p>
        </p:txBody>
      </p:sp>
      <p:sp>
        <p:nvSpPr>
          <p:cNvPr id="170" name="t"/>
          <p:cNvSpPr txBox="1"/>
          <p:nvPr/>
        </p:nvSpPr>
        <p:spPr>
          <a:xfrm>
            <a:off x="8050000" y="321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운영중</a:t>
            </a:r>
          </a:p>
        </p:txBody>
      </p:sp>
      <p:sp>
        <p:nvSpPr>
          <p:cNvPr id="171" name="r"/>
          <p:cNvSpPr/>
          <p:nvPr/>
        </p:nvSpPr>
        <p:spPr>
          <a:xfrm>
            <a:off x="1950000" y="345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"/>
          <p:cNvSpPr txBox="1"/>
          <p:nvPr/>
        </p:nvSpPr>
        <p:spPr>
          <a:xfrm>
            <a:off x="1950000" y="354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[55_ATM]</a:t>
            </a:r>
          </a:p>
        </p:txBody>
      </p:sp>
      <p:sp>
        <p:nvSpPr>
          <p:cNvPr id="173" name="t"/>
          <p:cNvSpPr txBox="1"/>
          <p:nvPr/>
        </p:nvSpPr>
        <p:spPr>
          <a:xfrm>
            <a:off x="3050000" y="354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베트남 IP ATM 백만원 출금</a:t>
            </a:r>
          </a:p>
        </p:txBody>
      </p:sp>
      <p:sp>
        <p:nvSpPr>
          <p:cNvPr id="174" name="t"/>
          <p:cNvSpPr txBox="1"/>
          <p:nvPr/>
        </p:nvSpPr>
        <p:spPr>
          <a:xfrm>
            <a:off x="5200000" y="354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위치</a:t>
            </a:r>
          </a:p>
        </p:txBody>
      </p:sp>
      <p:sp>
        <p:nvSpPr>
          <p:cNvPr id="175" name="t"/>
          <p:cNvSpPr txBox="1"/>
          <p:nvPr/>
        </p:nvSpPr>
        <p:spPr>
          <a:xfrm>
            <a:off x="6150000" y="354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거래차단</a:t>
            </a:r>
          </a:p>
        </p:txBody>
      </p:sp>
      <p:sp>
        <p:nvSpPr>
          <p:cNvPr id="176" name="t"/>
          <p:cNvSpPr txBox="1"/>
          <p:nvPr/>
        </p:nvSpPr>
        <p:spPr>
          <a:xfrm>
            <a:off x="7250000" y="354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즉시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050000" y="354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중지</a:t>
            </a:r>
          </a:p>
        </p:txBody>
      </p:sp>
      <p:sp>
        <p:nvSpPr>
          <p:cNvPr id="178" name="r"/>
          <p:cNvSpPr/>
          <p:nvPr/>
        </p:nvSpPr>
        <p:spPr>
          <a:xfrm>
            <a:off x="1950000" y="378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"/>
          <p:cNvSpPr txBox="1"/>
          <p:nvPr/>
        </p:nvSpPr>
        <p:spPr>
          <a:xfrm>
            <a:off x="1950000" y="387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[CTR_DAILY]</a:t>
            </a:r>
          </a:p>
        </p:txBody>
      </p:sp>
      <p:sp>
        <p:nvSpPr>
          <p:cNvPr id="180" name="t"/>
          <p:cNvSpPr txBox="1"/>
          <p:nvPr/>
        </p:nvSpPr>
        <p:spPr>
          <a:xfrm>
            <a:off x="3050000" y="387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영업일 누계 50만 페소</a:t>
            </a:r>
          </a:p>
        </p:txBody>
      </p:sp>
      <p:sp>
        <p:nvSpPr>
          <p:cNvPr id="181" name="t"/>
          <p:cNvSpPr txBox="1"/>
          <p:nvPr/>
        </p:nvSpPr>
        <p:spPr>
          <a:xfrm>
            <a:off x="5200000" y="387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AML보고</a:t>
            </a:r>
          </a:p>
        </p:txBody>
      </p:sp>
      <p:sp>
        <p:nvSpPr>
          <p:cNvPr id="182" name="t"/>
          <p:cNvSpPr txBox="1"/>
          <p:nvPr/>
        </p:nvSpPr>
        <p:spPr>
          <a:xfrm>
            <a:off x="6150000" y="3870000"/>
            <a:ext cx="10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CTR 보고</a:t>
            </a:r>
          </a:p>
        </p:txBody>
      </p:sp>
      <p:sp>
        <p:nvSpPr>
          <p:cNvPr id="183" name="t"/>
          <p:cNvSpPr txBox="1"/>
          <p:nvPr/>
        </p:nvSpPr>
        <p:spPr>
          <a:xfrm>
            <a:off x="7250000" y="387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사후</a:t>
            </a:r>
          </a:p>
        </p:txBody>
      </p:sp>
      <p:sp>
        <p:nvSpPr>
          <p:cNvPr id="184" name="t"/>
          <p:cNvSpPr txBox="1"/>
          <p:nvPr/>
        </p:nvSpPr>
        <p:spPr>
          <a:xfrm>
            <a:off x="8050000" y="387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운영중</a:t>
            </a:r>
          </a:p>
        </p:txBody>
      </p:sp>
      <p:sp>
        <p:nvSpPr>
          <p:cNvPr id="185" name="t"/>
          <p:cNvSpPr txBox="1"/>
          <p:nvPr/>
        </p:nvSpPr>
        <p:spPr>
          <a:xfrm>
            <a:off x="1950000" y="4190000"/>
            <a:ext cx="3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◀  1  2  3  …  ▶</a:t>
            </a:r>
          </a:p>
        </p:txBody>
      </p:sp>
      <p:sp>
        <p:nvSpPr>
          <p:cNvPr id="186" name="t"/>
          <p:cNvSpPr txBox="1"/>
          <p:nvPr/>
        </p:nvSpPr>
        <p:spPr>
          <a:xfrm>
            <a:off x="6400000" y="419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0">
                <a:solidFill>
                  <a:srgbClr val="8C8C8C"/>
                </a:solidFill>
                <a:latin typeface="맑은 고딕"/>
              </a:rPr>
              <a:t>총 86건 (운영중 71)</a:t>
            </a:r>
          </a:p>
        </p:txBody>
      </p:sp>
      <p:sp>
        <p:nvSpPr>
          <p:cNvPr id="187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FDS-RULE-001</a:t>
            </a:r>
          </a:p>
        </p:txBody>
      </p:sp>
      <p:sp>
        <p:nvSpPr>
          <p:cNvPr id="189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조회는 조회 권한 / 새 룰 작성은 작성 권한</a:t>
            </a:r>
          </a:p>
        </p:txBody>
      </p:sp>
      <p:sp>
        <p:nvSpPr>
          <p:cNvPr id="191" name="t"/>
          <p:cNvSpPr txBox="1"/>
          <p:nvPr/>
        </p:nvSpPr>
        <p:spPr>
          <a:xfrm>
            <a:off x="8990000" y="160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검색 조건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카테고리 · 채널 · 상태 · 동작 (+ 룰 번호 검색)</a:t>
            </a:r>
          </a:p>
        </p:txBody>
      </p:sp>
      <p:sp>
        <p:nvSpPr>
          <p:cNvPr id="192" name="t"/>
          <p:cNvSpPr txBox="1"/>
          <p:nvPr/>
        </p:nvSpPr>
        <p:spPr>
          <a:xfrm>
            <a:off x="8990000" y="203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룰 번호 · 이름 · 종류 · 동작 · 평가방식 · 상태</a:t>
            </a:r>
          </a:p>
        </p:txBody>
      </p:sp>
      <p:sp>
        <p:nvSpPr>
          <p:cNvPr id="193" name="t"/>
          <p:cNvSpPr txBox="1"/>
          <p:nvPr/>
        </p:nvSpPr>
        <p:spPr>
          <a:xfrm>
            <a:off x="8990000" y="246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[+ 새 룰]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룰 빌더로 이동(작성 권한)</a:t>
            </a:r>
          </a:p>
        </p:txBody>
      </p:sp>
      <p:sp>
        <p:nvSpPr>
          <p:cNvPr id="194" name="t"/>
          <p:cNvSpPr txBox="1"/>
          <p:nvPr/>
        </p:nvSpPr>
        <p:spPr>
          <a:xfrm>
            <a:off x="8990000" y="289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차단 영향이 큰 룰(즉시 차단·실패 시에도 차단)은 별도 표시</a:t>
            </a:r>
          </a:p>
        </p:txBody>
      </p:sp>
      <p:sp>
        <p:nvSpPr>
          <p:cNvPr id="195" name="t"/>
          <p:cNvSpPr txBox="1"/>
          <p:nvPr/>
        </p:nvSpPr>
        <p:spPr>
          <a:xfrm>
            <a:off x="8990000" y="333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자동 중지된 룰은 경고 아이콘과 중지 사유 안내</a:t>
            </a:r>
          </a:p>
        </p:txBody>
      </p:sp>
      <p:sp>
        <p:nvSpPr>
          <p:cNvPr id="196" name="t"/>
          <p:cNvSpPr txBox="1"/>
          <p:nvPr/>
        </p:nvSpPr>
        <p:spPr>
          <a:xfrm>
            <a:off x="8990000" y="376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조회 결과 1만 건 초과 시 팝업 노출 — 조건 좁히기 안내 후 재조회</a:t>
            </a:r>
          </a:p>
        </p:txBody>
      </p:sp>
      <p:sp>
        <p:nvSpPr>
          <p:cNvPr id="197" name="t"/>
          <p:cNvSpPr txBox="1"/>
          <p:nvPr/>
        </p:nvSpPr>
        <p:spPr>
          <a:xfrm>
            <a:off x="8990000" y="436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FDS-RULE-002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룰 관리 &gt; 상세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[44_해외] 룰 상세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38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룰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360000" y="164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목록</a:t>
            </a:r>
          </a:p>
        </p:txBody>
      </p:sp>
      <p:sp>
        <p:nvSpPr>
          <p:cNvPr id="115" name="t"/>
          <p:cNvSpPr txBox="1"/>
          <p:nvPr/>
        </p:nvSpPr>
        <p:spPr>
          <a:xfrm>
            <a:off x="360000" y="185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룰 상세/버전 ◀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0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빌더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2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950000" y="1700000"/>
            <a:ext cx="1140000" cy="2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1950000" y="1760000"/>
            <a:ext cx="11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20" b="1">
                <a:solidFill>
                  <a:srgbClr val="1890FF"/>
                </a:solidFill>
                <a:latin typeface="맑은 고딕"/>
              </a:rPr>
              <a:t>현재버전 조건</a:t>
            </a:r>
          </a:p>
        </p:txBody>
      </p:sp>
      <p:sp>
        <p:nvSpPr>
          <p:cNvPr id="126" name="r"/>
          <p:cNvSpPr/>
          <p:nvPr/>
        </p:nvSpPr>
        <p:spPr>
          <a:xfrm>
            <a:off x="3140000" y="1700000"/>
            <a:ext cx="1140000" cy="26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3140000" y="1760000"/>
            <a:ext cx="11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0">
                <a:solidFill>
                  <a:srgbClr val="595959"/>
                </a:solidFill>
                <a:latin typeface="맑은 고딕"/>
              </a:rPr>
              <a:t>버전 히스토리</a:t>
            </a:r>
          </a:p>
        </p:txBody>
      </p:sp>
      <p:sp>
        <p:nvSpPr>
          <p:cNvPr id="128" name="r"/>
          <p:cNvSpPr/>
          <p:nvPr/>
        </p:nvSpPr>
        <p:spPr>
          <a:xfrm>
            <a:off x="4330000" y="1700000"/>
            <a:ext cx="1260000" cy="26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4330000" y="1760000"/>
            <a:ext cx="12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0">
                <a:solidFill>
                  <a:srgbClr val="595959"/>
                </a:solidFill>
                <a:latin typeface="맑은 고딕"/>
              </a:rPr>
              <a:t>기준값(임계치)</a:t>
            </a:r>
          </a:p>
        </p:txBody>
      </p:sp>
      <p:sp>
        <p:nvSpPr>
          <p:cNvPr id="130" name="r"/>
          <p:cNvSpPr/>
          <p:nvPr/>
        </p:nvSpPr>
        <p:spPr>
          <a:xfrm>
            <a:off x="5640000" y="1700000"/>
            <a:ext cx="1020000" cy="26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5640000" y="1760000"/>
            <a:ext cx="102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0">
                <a:solidFill>
                  <a:srgbClr val="595959"/>
                </a:solidFill>
                <a:latin typeface="맑은 고딕"/>
              </a:rPr>
              <a:t>최근 Hit</a:t>
            </a:r>
          </a:p>
        </p:txBody>
      </p:sp>
      <p:sp>
        <p:nvSpPr>
          <p:cNvPr id="132" name="r"/>
          <p:cNvSpPr/>
          <p:nvPr/>
        </p:nvSpPr>
        <p:spPr>
          <a:xfrm>
            <a:off x="6710000" y="1700000"/>
            <a:ext cx="900000" cy="26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6710000" y="176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0">
                <a:solidFill>
                  <a:srgbClr val="595959"/>
                </a:solidFill>
                <a:latin typeface="맑은 고딕"/>
              </a:rPr>
              <a:t>결재 로그</a:t>
            </a:r>
          </a:p>
        </p:txBody>
      </p:sp>
      <p:sp>
        <p:nvSpPr>
          <p:cNvPr id="134" name="r"/>
          <p:cNvSpPr/>
          <p:nvPr/>
        </p:nvSpPr>
        <p:spPr>
          <a:xfrm>
            <a:off x="1950000" y="2120000"/>
            <a:ext cx="190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2020000" y="2215000"/>
            <a:ext cx="17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룰 종류</a:t>
            </a:r>
          </a:p>
        </p:txBody>
      </p:sp>
      <p:sp>
        <p:nvSpPr>
          <p:cNvPr id="136" name="r"/>
          <p:cNvSpPr/>
          <p:nvPr/>
        </p:nvSpPr>
        <p:spPr>
          <a:xfrm>
            <a:off x="3850000" y="2120000"/>
            <a:ext cx="49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3940000" y="2215000"/>
            <a:ext cx="479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행동이상 탐지  ·  해외송금  ·  거래 차단  ·  사후(비동기) 평가</a:t>
            </a:r>
          </a:p>
        </p:txBody>
      </p:sp>
      <p:sp>
        <p:nvSpPr>
          <p:cNvPr id="138" name="r"/>
          <p:cNvSpPr/>
          <p:nvPr/>
        </p:nvSpPr>
        <p:spPr>
          <a:xfrm>
            <a:off x="1950000" y="2450000"/>
            <a:ext cx="190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2020000" y="2545000"/>
            <a:ext cx="17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상태</a:t>
            </a:r>
          </a:p>
        </p:txBody>
      </p:sp>
      <p:sp>
        <p:nvSpPr>
          <p:cNvPr id="140" name="r"/>
          <p:cNvSpPr/>
          <p:nvPr/>
        </p:nvSpPr>
        <p:spPr>
          <a:xfrm>
            <a:off x="3850000" y="2450000"/>
            <a:ext cx="49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3940000" y="2545000"/>
            <a:ext cx="479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52C41A"/>
                </a:solidFill>
                <a:latin typeface="맑은 고딕"/>
              </a:rPr>
              <a:t>운영 중  ·  적용 시작 2026-06-01</a:t>
            </a:r>
          </a:p>
        </p:txBody>
      </p:sp>
      <p:sp>
        <p:nvSpPr>
          <p:cNvPr id="142" name="r"/>
          <p:cNvSpPr/>
          <p:nvPr/>
        </p:nvSpPr>
        <p:spPr>
          <a:xfrm>
            <a:off x="1950000" y="2780000"/>
            <a:ext cx="190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"/>
          <p:cNvSpPr txBox="1"/>
          <p:nvPr/>
        </p:nvSpPr>
        <p:spPr>
          <a:xfrm>
            <a:off x="2020000" y="2875000"/>
            <a:ext cx="17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현재 버전</a:t>
            </a:r>
          </a:p>
        </p:txBody>
      </p:sp>
      <p:sp>
        <p:nvSpPr>
          <p:cNvPr id="144" name="r"/>
          <p:cNvSpPr/>
          <p:nvPr/>
        </p:nvSpPr>
        <p:spPr>
          <a:xfrm>
            <a:off x="3850000" y="2780000"/>
            <a:ext cx="49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3940000" y="2875000"/>
            <a:ext cx="479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v3  (집계 기간 4시간 → 6시간 확대)</a:t>
            </a:r>
          </a:p>
        </p:txBody>
      </p:sp>
      <p:sp>
        <p:nvSpPr>
          <p:cNvPr id="146" name="r"/>
          <p:cNvSpPr/>
          <p:nvPr/>
        </p:nvSpPr>
        <p:spPr>
          <a:xfrm>
            <a:off x="1950000" y="3110000"/>
            <a:ext cx="6850000" cy="560000"/>
          </a:xfrm>
          <a:prstGeom prst="roundRect">
            <a:avLst/>
          </a:prstGeom>
          <a:solidFill>
            <a:srgbClr val="E6F7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2070000" y="3180000"/>
            <a:ext cx="661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1890FF"/>
                </a:solidFill>
                <a:latin typeface="맑은 고딕"/>
              </a:rPr>
              <a:t>[탐지 조건 요약]</a:t>
            </a:r>
          </a:p>
        </p:txBody>
      </p:sp>
      <p:sp>
        <p:nvSpPr>
          <p:cNvPr id="148" name="t"/>
          <p:cNvSpPr txBox="1"/>
          <p:nvPr/>
        </p:nvSpPr>
        <p:spPr>
          <a:xfrm>
            <a:off x="2070000" y="3370000"/>
            <a:ext cx="661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같은 수취계좌로 받은 금액 합계가 최근 24시간 동안 1,800만원 이상일 때, 그 수취계좌로 새 송금을 시도하면 차단</a:t>
            </a:r>
          </a:p>
        </p:txBody>
      </p:sp>
      <p:sp>
        <p:nvSpPr>
          <p:cNvPr id="149" name="t"/>
          <p:cNvSpPr txBox="1"/>
          <p:nvPr/>
        </p:nvSpPr>
        <p:spPr>
          <a:xfrm>
            <a:off x="1950000" y="37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262626"/>
                </a:solidFill>
                <a:latin typeface="맑은 고딕"/>
              </a:rPr>
              <a:t>단계별 동작</a:t>
            </a:r>
          </a:p>
        </p:txBody>
      </p:sp>
      <p:sp>
        <p:nvSpPr>
          <p:cNvPr id="150" name="r"/>
          <p:cNvSpPr/>
          <p:nvPr/>
        </p:nvSpPr>
        <p:spPr>
          <a:xfrm>
            <a:off x="1950000" y="3940000"/>
            <a:ext cx="2100000" cy="33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2020000" y="4035000"/>
            <a:ext cx="19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1단계 · 과거 집계</a:t>
            </a:r>
          </a:p>
        </p:txBody>
      </p:sp>
      <p:sp>
        <p:nvSpPr>
          <p:cNvPr id="152" name="r"/>
          <p:cNvSpPr/>
          <p:nvPr/>
        </p:nvSpPr>
        <p:spPr>
          <a:xfrm>
            <a:off x="4050000" y="3940000"/>
            <a:ext cx="47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"/>
          <p:cNvSpPr txBox="1"/>
          <p:nvPr/>
        </p:nvSpPr>
        <p:spPr>
          <a:xfrm>
            <a:off x="4130000" y="4035000"/>
            <a:ext cx="459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기준 = 수취계좌별   /   측정 = 받은 금액 합계   /   기간 = 최근 24시간   /   기준값 ≥ 1,800만원</a:t>
            </a:r>
          </a:p>
        </p:txBody>
      </p:sp>
      <p:sp>
        <p:nvSpPr>
          <p:cNvPr id="154" name="r"/>
          <p:cNvSpPr/>
          <p:nvPr/>
        </p:nvSpPr>
        <p:spPr>
          <a:xfrm>
            <a:off x="1950000" y="4270000"/>
            <a:ext cx="2100000" cy="33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"/>
          <p:cNvSpPr txBox="1"/>
          <p:nvPr/>
        </p:nvSpPr>
        <p:spPr>
          <a:xfrm>
            <a:off x="2020000" y="4365000"/>
            <a:ext cx="19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2단계 · 현재 거래</a:t>
            </a:r>
          </a:p>
        </p:txBody>
      </p:sp>
      <p:sp>
        <p:nvSpPr>
          <p:cNvPr id="156" name="r"/>
          <p:cNvSpPr/>
          <p:nvPr/>
        </p:nvSpPr>
        <p:spPr>
          <a:xfrm>
            <a:off x="4050000" y="4270000"/>
            <a:ext cx="47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"/>
          <p:cNvSpPr txBox="1"/>
          <p:nvPr/>
        </p:nvSpPr>
        <p:spPr>
          <a:xfrm>
            <a:off x="4130000" y="4365000"/>
            <a:ext cx="459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같은 수취계좌로 송금을 시도(견적 요청)할 때</a:t>
            </a:r>
          </a:p>
        </p:txBody>
      </p:sp>
      <p:sp>
        <p:nvSpPr>
          <p:cNvPr id="158" name="r"/>
          <p:cNvSpPr/>
          <p:nvPr/>
        </p:nvSpPr>
        <p:spPr>
          <a:xfrm>
            <a:off x="1950000" y="4600000"/>
            <a:ext cx="2100000" cy="33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"/>
          <p:cNvSpPr txBox="1"/>
          <p:nvPr/>
        </p:nvSpPr>
        <p:spPr>
          <a:xfrm>
            <a:off x="2020000" y="4695000"/>
            <a:ext cx="19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탐지 시 동작</a:t>
            </a:r>
          </a:p>
        </p:txBody>
      </p:sp>
      <p:sp>
        <p:nvSpPr>
          <p:cNvPr id="160" name="r"/>
          <p:cNvSpPr/>
          <p:nvPr/>
        </p:nvSpPr>
        <p:spPr>
          <a:xfrm>
            <a:off x="4050000" y="4600000"/>
            <a:ext cx="47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"/>
          <p:cNvSpPr txBox="1"/>
          <p:nvPr/>
        </p:nvSpPr>
        <p:spPr>
          <a:xfrm>
            <a:off x="4130000" y="4695000"/>
            <a:ext cx="459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거래 차단 + ‘재발방지 자동객체’ 그룹 등록(90일) → 다음 거래부터 자동 차단</a:t>
            </a:r>
          </a:p>
        </p:txBody>
      </p:sp>
      <p:sp>
        <p:nvSpPr>
          <p:cNvPr id="162" name="r"/>
          <p:cNvSpPr/>
          <p:nvPr/>
        </p:nvSpPr>
        <p:spPr>
          <a:xfrm>
            <a:off x="5100000" y="6430000"/>
            <a:ext cx="9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5100000" y="648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롤백</a:t>
            </a:r>
          </a:p>
        </p:txBody>
      </p:sp>
      <p:sp>
        <p:nvSpPr>
          <p:cNvPr id="164" name="r"/>
          <p:cNvSpPr/>
          <p:nvPr/>
        </p:nvSpPr>
        <p:spPr>
          <a:xfrm>
            <a:off x="6060000" y="6430000"/>
            <a:ext cx="13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"/>
          <p:cNvSpPr txBox="1"/>
          <p:nvPr/>
        </p:nvSpPr>
        <p:spPr>
          <a:xfrm>
            <a:off x="6060000" y="64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기준값 빠른변경</a:t>
            </a:r>
          </a:p>
        </p:txBody>
      </p:sp>
      <p:sp>
        <p:nvSpPr>
          <p:cNvPr id="166" name="r"/>
          <p:cNvSpPr/>
          <p:nvPr/>
        </p:nvSpPr>
        <p:spPr>
          <a:xfrm>
            <a:off x="7420000" y="6430000"/>
            <a:ext cx="138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"/>
          <p:cNvSpPr txBox="1"/>
          <p:nvPr/>
        </p:nvSpPr>
        <p:spPr>
          <a:xfrm>
            <a:off x="7420000" y="6480000"/>
            <a:ext cx="13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새 버전 만들기</a:t>
            </a:r>
          </a:p>
        </p:txBody>
      </p:sp>
      <p:sp>
        <p:nvSpPr>
          <p:cNvPr id="168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FDS-RULE-002</a:t>
            </a:r>
          </a:p>
        </p:txBody>
      </p:sp>
      <p:sp>
        <p:nvSpPr>
          <p:cNvPr id="170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권한</a:t>
            </a:r>
          </a:p>
        </p:txBody>
      </p:sp>
      <p:sp>
        <p:nvSpPr>
          <p:cNvPr id="172" name="t"/>
          <p:cNvSpPr txBox="1"/>
          <p:nvPr/>
        </p:nvSpPr>
        <p:spPr>
          <a:xfrm>
            <a:off x="8990000" y="14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상단 탭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현재버전 조건 · 버전 히스토리 · 기준값 · 최근 Hit · 결재 로그</a:t>
            </a:r>
          </a:p>
        </p:txBody>
      </p:sp>
      <p:sp>
        <p:nvSpPr>
          <p:cNvPr id="173" name="t"/>
          <p:cNvSpPr txBox="1"/>
          <p:nvPr/>
        </p:nvSpPr>
        <p:spPr>
          <a:xfrm>
            <a:off x="8990000" y="205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기본 정보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룰 종류 · 상태 · 현재 버전 표시</a:t>
            </a:r>
          </a:p>
        </p:txBody>
      </p:sp>
      <p:sp>
        <p:nvSpPr>
          <p:cNvPr id="174" name="t"/>
          <p:cNvSpPr txBox="1"/>
          <p:nvPr/>
        </p:nvSpPr>
        <p:spPr>
          <a:xfrm>
            <a:off x="8990000" y="248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탐지 조건 요약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자연어 + 단계별 동작(과거집계 → 현재거래 → 동작)</a:t>
            </a:r>
          </a:p>
        </p:txBody>
      </p:sp>
      <p:sp>
        <p:nvSpPr>
          <p:cNvPr id="175" name="t"/>
          <p:cNvSpPr txBox="1"/>
          <p:nvPr/>
        </p:nvSpPr>
        <p:spPr>
          <a:xfrm>
            <a:off x="8990000" y="2918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[새 버전 만들기](작성) · [기준값 빠른변경](운영) · [롤백](승인)</a:t>
            </a:r>
          </a:p>
        </p:txBody>
      </p:sp>
      <p:sp>
        <p:nvSpPr>
          <p:cNvPr id="176" name="t"/>
          <p:cNvSpPr txBox="1"/>
          <p:nvPr/>
        </p:nvSpPr>
        <p:spPr>
          <a:xfrm>
            <a:off x="8990000" y="352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버전 이력에 작성자·승인자·변경 요약을 7년 보존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990000" y="39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‘최근 Hit’ 탭에서 이 룰로 탐지된 거래를 바로 조회</a:t>
            </a:r>
          </a:p>
        </p:txBody>
      </p:sp>
      <p:sp>
        <p:nvSpPr>
          <p:cNvPr id="178" name="t"/>
          <p:cNvSpPr txBox="1"/>
          <p:nvPr/>
        </p:nvSpPr>
        <p:spPr>
          <a:xfrm>
            <a:off x="8990000" y="438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/admin/fds/rules/{id} · /history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FDS-RULE-003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룰 관리 &gt; 빌더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룰 빌더 (업무 용어 기반)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38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룰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360000" y="164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목록</a:t>
            </a:r>
          </a:p>
        </p:txBody>
      </p:sp>
      <p:sp>
        <p:nvSpPr>
          <p:cNvPr id="115" name="t"/>
          <p:cNvSpPr txBox="1"/>
          <p:nvPr/>
        </p:nvSpPr>
        <p:spPr>
          <a:xfrm>
            <a:off x="360000" y="185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상세/버전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0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룰 빌더 ◀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2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7300000" y="1320000"/>
            <a:ext cx="70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7300000" y="137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1">
                <a:solidFill>
                  <a:srgbClr val="FFFFFF"/>
                </a:solidFill>
                <a:latin typeface="맑은 고딕"/>
              </a:rPr>
              <a:t>쉬운 구성</a:t>
            </a:r>
          </a:p>
        </p:txBody>
      </p:sp>
      <p:sp>
        <p:nvSpPr>
          <p:cNvPr id="126" name="r"/>
          <p:cNvSpPr/>
          <p:nvPr/>
        </p:nvSpPr>
        <p:spPr>
          <a:xfrm>
            <a:off x="8050000" y="1320000"/>
            <a:ext cx="75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8050000" y="137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0">
                <a:solidFill>
                  <a:srgbClr val="595959"/>
                </a:solidFill>
                <a:latin typeface="맑은 고딕"/>
              </a:rPr>
              <a:t>DSL(JSON)</a:t>
            </a:r>
          </a:p>
        </p:txBody>
      </p:sp>
      <p:sp>
        <p:nvSpPr>
          <p:cNvPr id="131" name="t"/>
          <p:cNvSpPr txBox="1"/>
          <p:nvPr/>
        </p:nvSpPr>
        <p:spPr>
          <a:xfrm>
            <a:off x="1950000" y="1755000"/>
            <a:ext cx="1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① </a:t>
            </a:r>
            <a:r>
              <a:rPr lang="ko-KR" sz="720" b="1">
                <a:solidFill>
                  <a:srgbClr val="262626"/>
                </a:solidFill>
                <a:latin typeface="맑은 고딕"/>
              </a:rPr>
              <a:t>탐지 대상 기준</a:t>
            </a:r>
          </a:p>
        </p:txBody>
      </p:sp>
      <p:sp>
        <p:nvSpPr>
          <p:cNvPr id="128" name="r"/>
          <p:cNvSpPr/>
          <p:nvPr/>
        </p:nvSpPr>
        <p:spPr>
          <a:xfrm>
            <a:off x="3750000" y="1700000"/>
            <a:ext cx="26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3830000" y="1740000"/>
            <a:ext cx="24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회원별 ▼</a:t>
            </a:r>
          </a:p>
        </p:txBody>
      </p:sp>
      <p:sp>
        <p:nvSpPr>
          <p:cNvPr id="130" name="t"/>
          <p:cNvSpPr txBox="1"/>
          <p:nvPr/>
        </p:nvSpPr>
        <p:spPr>
          <a:xfrm>
            <a:off x="6430000" y="1755000"/>
            <a:ext cx="2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50" b="0">
                <a:solidFill>
                  <a:srgbClr val="8C8C8C"/>
                </a:solidFill>
                <a:latin typeface="맑은 고딕"/>
              </a:rPr>
              <a:t>(회원 / 가맹점 / 수취계좌 / 단말기 / IP / 지역 / 에이전트)</a:t>
            </a:r>
          </a:p>
        </p:txBody>
      </p:sp>
      <p:sp>
        <p:nvSpPr>
          <p:cNvPr id="135" name="t"/>
          <p:cNvSpPr txBox="1"/>
          <p:nvPr/>
        </p:nvSpPr>
        <p:spPr>
          <a:xfrm>
            <a:off x="1950000" y="2085000"/>
            <a:ext cx="1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② </a:t>
            </a:r>
            <a:r>
              <a:rPr lang="ko-KR" sz="720" b="1">
                <a:solidFill>
                  <a:srgbClr val="262626"/>
                </a:solidFill>
                <a:latin typeface="맑은 고딕"/>
              </a:rPr>
              <a:t>측정 항목</a:t>
            </a:r>
          </a:p>
        </p:txBody>
      </p:sp>
      <p:sp>
        <p:nvSpPr>
          <p:cNvPr id="132" name="r"/>
          <p:cNvSpPr/>
          <p:nvPr/>
        </p:nvSpPr>
        <p:spPr>
          <a:xfrm>
            <a:off x="3750000" y="2030000"/>
            <a:ext cx="26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3830000" y="2070000"/>
            <a:ext cx="24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거래금액 합계 ▼</a:t>
            </a:r>
          </a:p>
        </p:txBody>
      </p:sp>
      <p:sp>
        <p:nvSpPr>
          <p:cNvPr id="134" name="t"/>
          <p:cNvSpPr txBox="1"/>
          <p:nvPr/>
        </p:nvSpPr>
        <p:spPr>
          <a:xfrm>
            <a:off x="6430000" y="2085000"/>
            <a:ext cx="2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50" b="0">
                <a:solidFill>
                  <a:srgbClr val="8C8C8C"/>
                </a:solidFill>
                <a:latin typeface="맑은 고딕"/>
              </a:rPr>
              <a:t>(금액 합계 / 거래 건수 / 서로 다른 수취계좌 수 / 회원 수)</a:t>
            </a:r>
          </a:p>
        </p:txBody>
      </p:sp>
      <p:sp>
        <p:nvSpPr>
          <p:cNvPr id="143" name="t"/>
          <p:cNvSpPr txBox="1"/>
          <p:nvPr/>
        </p:nvSpPr>
        <p:spPr>
          <a:xfrm>
            <a:off x="1950000" y="2415000"/>
            <a:ext cx="1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③ </a:t>
            </a:r>
            <a:r>
              <a:rPr lang="ko-KR" sz="720" b="1">
                <a:solidFill>
                  <a:srgbClr val="262626"/>
                </a:solidFill>
                <a:latin typeface="맑은 고딕"/>
              </a:rPr>
              <a:t>집계 기간</a:t>
            </a:r>
          </a:p>
        </p:txBody>
      </p:sp>
      <p:sp>
        <p:nvSpPr>
          <p:cNvPr id="136" name="r"/>
          <p:cNvSpPr/>
          <p:nvPr/>
        </p:nvSpPr>
        <p:spPr>
          <a:xfrm>
            <a:off x="3750000" y="2360000"/>
            <a:ext cx="7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3830000" y="2400000"/>
            <a:ext cx="5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최근 ▼</a:t>
            </a:r>
          </a:p>
        </p:txBody>
      </p:sp>
      <p:sp>
        <p:nvSpPr>
          <p:cNvPr id="138" name="r"/>
          <p:cNvSpPr/>
          <p:nvPr/>
        </p:nvSpPr>
        <p:spPr>
          <a:xfrm>
            <a:off x="4510000" y="2360000"/>
            <a:ext cx="5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4590000" y="2400000"/>
            <a:ext cx="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3</a:t>
            </a:r>
          </a:p>
        </p:txBody>
      </p:sp>
      <p:sp>
        <p:nvSpPr>
          <p:cNvPr id="140" name="r"/>
          <p:cNvSpPr/>
          <p:nvPr/>
        </p:nvSpPr>
        <p:spPr>
          <a:xfrm>
            <a:off x="5070000" y="2360000"/>
            <a:ext cx="8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5150000" y="2400000"/>
            <a:ext cx="6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시간 ▼</a:t>
            </a:r>
          </a:p>
        </p:txBody>
      </p:sp>
      <p:sp>
        <p:nvSpPr>
          <p:cNvPr id="142" name="t"/>
          <p:cNvSpPr txBox="1"/>
          <p:nvPr/>
        </p:nvSpPr>
        <p:spPr>
          <a:xfrm>
            <a:off x="5950000" y="2415000"/>
            <a:ext cx="1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동안</a:t>
            </a:r>
          </a:p>
        </p:txBody>
      </p:sp>
      <p:sp>
        <p:nvSpPr>
          <p:cNvPr id="149" name="t"/>
          <p:cNvSpPr txBox="1"/>
          <p:nvPr/>
        </p:nvSpPr>
        <p:spPr>
          <a:xfrm>
            <a:off x="1950000" y="2745000"/>
            <a:ext cx="1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④ </a:t>
            </a:r>
            <a:r>
              <a:rPr lang="ko-KR" sz="720" b="1">
                <a:solidFill>
                  <a:srgbClr val="262626"/>
                </a:solidFill>
                <a:latin typeface="맑은 고딕"/>
              </a:rPr>
              <a:t>기준값(임계치)</a:t>
            </a:r>
          </a:p>
        </p:txBody>
      </p:sp>
      <p:sp>
        <p:nvSpPr>
          <p:cNvPr id="144" name="r"/>
          <p:cNvSpPr/>
          <p:nvPr/>
        </p:nvSpPr>
        <p:spPr>
          <a:xfrm>
            <a:off x="3750000" y="2690000"/>
            <a:ext cx="14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3830000" y="2730000"/>
            <a:ext cx="12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4,000,000</a:t>
            </a:r>
          </a:p>
        </p:txBody>
      </p:sp>
      <p:sp>
        <p:nvSpPr>
          <p:cNvPr id="146" name="r"/>
          <p:cNvSpPr/>
          <p:nvPr/>
        </p:nvSpPr>
        <p:spPr>
          <a:xfrm>
            <a:off x="5210000" y="2690000"/>
            <a:ext cx="7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5290000" y="2730000"/>
            <a:ext cx="5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원 ▼</a:t>
            </a:r>
          </a:p>
        </p:txBody>
      </p:sp>
      <p:sp>
        <p:nvSpPr>
          <p:cNvPr id="148" name="t"/>
          <p:cNvSpPr txBox="1"/>
          <p:nvPr/>
        </p:nvSpPr>
        <p:spPr>
          <a:xfrm>
            <a:off x="5970000" y="2745000"/>
            <a:ext cx="1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FF4D4F"/>
                </a:solidFill>
                <a:latin typeface="맑은 고딕"/>
              </a:rPr>
              <a:t>이상이면 탐지</a:t>
            </a:r>
          </a:p>
        </p:txBody>
      </p:sp>
      <p:sp>
        <p:nvSpPr>
          <p:cNvPr id="153" name="t"/>
          <p:cNvSpPr txBox="1"/>
          <p:nvPr/>
        </p:nvSpPr>
        <p:spPr>
          <a:xfrm>
            <a:off x="1950000" y="3075000"/>
            <a:ext cx="1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⑤ </a:t>
            </a:r>
            <a:r>
              <a:rPr lang="ko-KR" sz="720" b="1">
                <a:solidFill>
                  <a:srgbClr val="262626"/>
                </a:solidFill>
                <a:latin typeface="맑은 고딕"/>
              </a:rPr>
              <a:t>추가 조건</a:t>
            </a:r>
          </a:p>
        </p:txBody>
      </p:sp>
      <p:sp>
        <p:nvSpPr>
          <p:cNvPr id="150" name="r"/>
          <p:cNvSpPr/>
          <p:nvPr/>
        </p:nvSpPr>
        <p:spPr>
          <a:xfrm>
            <a:off x="3750000" y="3020000"/>
            <a:ext cx="2600000" cy="230000"/>
          </a:xfrm>
          <a:prstGeom prst="roundRect">
            <a:avLst/>
          </a:prstGeom>
          <a:solidFill>
            <a:srgbClr val="F6FFED"/>
          </a:solidFill>
          <a:ln w="9525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3840000" y="3060000"/>
            <a:ext cx="2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389E0D"/>
                </a:solidFill>
                <a:latin typeface="맑은 고딕"/>
              </a:rPr>
              <a:t>단말기 변경 후 경과  ≤  3시간</a:t>
            </a:r>
          </a:p>
        </p:txBody>
      </p:sp>
      <p:sp>
        <p:nvSpPr>
          <p:cNvPr id="152" name="t"/>
          <p:cNvSpPr txBox="1"/>
          <p:nvPr/>
        </p:nvSpPr>
        <p:spPr>
          <a:xfrm>
            <a:off x="6430000" y="3075000"/>
            <a:ext cx="1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1890FF"/>
                </a:solidFill>
                <a:latin typeface="맑은 고딕"/>
              </a:rPr>
              <a:t>[+ 조건]</a:t>
            </a:r>
          </a:p>
        </p:txBody>
      </p:sp>
      <p:sp>
        <p:nvSpPr>
          <p:cNvPr id="154" name="r"/>
          <p:cNvSpPr/>
          <p:nvPr/>
        </p:nvSpPr>
        <p:spPr>
          <a:xfrm>
            <a:off x="3750000" y="3320000"/>
            <a:ext cx="3800000" cy="230000"/>
          </a:xfrm>
          <a:prstGeom prst="roundRect">
            <a:avLst/>
          </a:prstGeom>
          <a:solidFill>
            <a:srgbClr val="F6FFED"/>
          </a:solidFill>
          <a:ln w="9525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"/>
          <p:cNvSpPr txBox="1"/>
          <p:nvPr/>
        </p:nvSpPr>
        <p:spPr>
          <a:xfrm>
            <a:off x="3840000" y="3360000"/>
            <a:ext cx="36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389E0D"/>
                </a:solidFill>
                <a:latin typeface="맑은 고딕"/>
              </a:rPr>
              <a:t>회원 국적  ∈  러시아 · 미얀마 · 카자흐 · 우즈벡</a:t>
            </a:r>
          </a:p>
        </p:txBody>
      </p:sp>
      <p:sp>
        <p:nvSpPr>
          <p:cNvPr id="156" name="r"/>
          <p:cNvSpPr/>
          <p:nvPr/>
        </p:nvSpPr>
        <p:spPr>
          <a:xfrm>
            <a:off x="3750000" y="3620000"/>
            <a:ext cx="2200000" cy="230000"/>
          </a:xfrm>
          <a:prstGeom prst="roundRect">
            <a:avLst/>
          </a:prstGeom>
          <a:solidFill>
            <a:srgbClr val="F6FFED"/>
          </a:solidFill>
          <a:ln w="9525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"/>
          <p:cNvSpPr txBox="1"/>
          <p:nvPr/>
        </p:nvSpPr>
        <p:spPr>
          <a:xfrm>
            <a:off x="3840000" y="3660000"/>
            <a:ext cx="20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389E0D"/>
                </a:solidFill>
                <a:latin typeface="맑은 고딕"/>
              </a:rPr>
              <a:t>화이트리스트 계좌  제외</a:t>
            </a:r>
          </a:p>
        </p:txBody>
      </p:sp>
      <p:sp>
        <p:nvSpPr>
          <p:cNvPr id="161" name="t"/>
          <p:cNvSpPr txBox="1"/>
          <p:nvPr/>
        </p:nvSpPr>
        <p:spPr>
          <a:xfrm>
            <a:off x="1950000" y="4005000"/>
            <a:ext cx="1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⑥ </a:t>
            </a:r>
            <a:r>
              <a:rPr lang="ko-KR" sz="720" b="1">
                <a:solidFill>
                  <a:srgbClr val="262626"/>
                </a:solidFill>
                <a:latin typeface="맑은 고딕"/>
              </a:rPr>
              <a:t>탐지 시 동작</a:t>
            </a:r>
          </a:p>
        </p:txBody>
      </p:sp>
      <p:sp>
        <p:nvSpPr>
          <p:cNvPr id="158" name="r"/>
          <p:cNvSpPr/>
          <p:nvPr/>
        </p:nvSpPr>
        <p:spPr>
          <a:xfrm>
            <a:off x="3750000" y="3950000"/>
            <a:ext cx="20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"/>
          <p:cNvSpPr txBox="1"/>
          <p:nvPr/>
        </p:nvSpPr>
        <p:spPr>
          <a:xfrm>
            <a:off x="3830000" y="3990000"/>
            <a:ext cx="18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거래 차단 ▼</a:t>
            </a:r>
          </a:p>
        </p:txBody>
      </p:sp>
      <p:sp>
        <p:nvSpPr>
          <p:cNvPr id="160" name="t"/>
          <p:cNvSpPr txBox="1"/>
          <p:nvPr/>
        </p:nvSpPr>
        <p:spPr>
          <a:xfrm>
            <a:off x="5830000" y="4005000"/>
            <a:ext cx="3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20" b="0">
                <a:solidFill>
                  <a:srgbClr val="8C8C8C"/>
                </a:solidFill>
                <a:latin typeface="맑은 고딕"/>
              </a:rPr>
              <a:t>(모니터링 / 차단 / 추가인증(안면) / EDD / 자금 임시동결 / CTR / STR)</a:t>
            </a:r>
          </a:p>
        </p:txBody>
      </p:sp>
      <p:sp>
        <p:nvSpPr>
          <p:cNvPr id="162" name="r"/>
          <p:cNvSpPr/>
          <p:nvPr/>
        </p:nvSpPr>
        <p:spPr>
          <a:xfrm>
            <a:off x="3750000" y="4270000"/>
            <a:ext cx="180000" cy="1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3780000" y="4285000"/>
            <a:ext cx="1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00" b="1">
                <a:solidFill>
                  <a:srgbClr val="1890FF"/>
                </a:solidFill>
                <a:latin typeface="맑은 고딕"/>
              </a:rPr>
              <a:t>✓</a:t>
            </a:r>
          </a:p>
        </p:txBody>
      </p:sp>
      <p:sp>
        <p:nvSpPr>
          <p:cNvPr id="164" name="t"/>
          <p:cNvSpPr txBox="1"/>
          <p:nvPr/>
        </p:nvSpPr>
        <p:spPr>
          <a:xfrm>
            <a:off x="4010000" y="4290000"/>
            <a:ext cx="5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차단 시 ‘재발방지 그룹’ 자동 등록   ·   만료 90일</a:t>
            </a:r>
          </a:p>
        </p:txBody>
      </p:sp>
      <p:sp>
        <p:nvSpPr>
          <p:cNvPr id="165" name="r"/>
          <p:cNvSpPr/>
          <p:nvPr/>
        </p:nvSpPr>
        <p:spPr>
          <a:xfrm>
            <a:off x="1950000" y="4590000"/>
            <a:ext cx="6850000" cy="8200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FFA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"/>
          <p:cNvSpPr txBox="1"/>
          <p:nvPr/>
        </p:nvSpPr>
        <p:spPr>
          <a:xfrm>
            <a:off x="2070000" y="4670000"/>
            <a:ext cx="661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D46B08"/>
                </a:solidFill>
                <a:latin typeface="맑은 고딕"/>
              </a:rPr>
              <a:t>[룰 미리보기 — 자연어]</a:t>
            </a:r>
          </a:p>
        </p:txBody>
      </p:sp>
      <p:sp>
        <p:nvSpPr>
          <p:cNvPr id="167" name="t"/>
          <p:cNvSpPr txBox="1"/>
          <p:nvPr/>
        </p:nvSpPr>
        <p:spPr>
          <a:xfrm>
            <a:off x="2070000" y="4870000"/>
            <a:ext cx="6610000" cy="4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874D00"/>
                </a:solidFill>
                <a:latin typeface="맑은 고딕"/>
              </a:rPr>
              <a:t>단말기 변경 후 3시간 이내, 회원별 거래금액 합계가 최근 3시간 동안 4,000,000원 이상이고 회원 국적이 러시아·미얀마·카자흐·우즈벡이면 → 거래 차단 + 재발방지 그룹 자동등록(90일)</a:t>
            </a:r>
          </a:p>
        </p:txBody>
      </p:sp>
      <p:sp>
        <p:nvSpPr>
          <p:cNvPr id="168" name="r"/>
          <p:cNvSpPr/>
          <p:nvPr/>
        </p:nvSpPr>
        <p:spPr>
          <a:xfrm>
            <a:off x="5100000" y="6430000"/>
            <a:ext cx="17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"/>
          <p:cNvSpPr txBox="1"/>
          <p:nvPr/>
        </p:nvSpPr>
        <p:spPr>
          <a:xfrm>
            <a:off x="5100000" y="648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임시저장(DRAFT)</a:t>
            </a:r>
          </a:p>
        </p:txBody>
      </p:sp>
      <p:sp>
        <p:nvSpPr>
          <p:cNvPr id="170" name="r"/>
          <p:cNvSpPr/>
          <p:nvPr/>
        </p:nvSpPr>
        <p:spPr>
          <a:xfrm>
            <a:off x="6840000" y="6430000"/>
            <a:ext cx="196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"/>
          <p:cNvSpPr txBox="1"/>
          <p:nvPr/>
        </p:nvSpPr>
        <p:spPr>
          <a:xfrm>
            <a:off x="6840000" y="6480000"/>
            <a:ext cx="19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시뮬레이션 후 결재요청</a:t>
            </a:r>
          </a:p>
        </p:txBody>
      </p:sp>
      <p:sp>
        <p:nvSpPr>
          <p:cNvPr id="172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FDS-RULE-003</a:t>
            </a:r>
          </a:p>
        </p:txBody>
      </p:sp>
      <p:sp>
        <p:nvSpPr>
          <p:cNvPr id="174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작성 권한</a:t>
            </a:r>
          </a:p>
        </p:txBody>
      </p:sp>
      <p:sp>
        <p:nvSpPr>
          <p:cNvPr id="176" name="t"/>
          <p:cNvSpPr txBox="1"/>
          <p:nvPr/>
        </p:nvSpPr>
        <p:spPr>
          <a:xfrm>
            <a:off x="8990000" y="14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화면 전환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‘쉬운 구성’ / ‘DSL(JSON)’ 토글 — 고급자는 JSON 직접 편집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990000" y="205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① 대상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회원별·가맹점별·수취계좌별·단말기별·IP별·지역별·에이전트별</a:t>
            </a:r>
          </a:p>
        </p:txBody>
      </p:sp>
      <p:sp>
        <p:nvSpPr>
          <p:cNvPr id="178" name="t"/>
          <p:cNvSpPr txBox="1"/>
          <p:nvPr/>
        </p:nvSpPr>
        <p:spPr>
          <a:xfrm>
            <a:off x="8990000" y="248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② 측정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금액 합계 / 거래 건수 / 서로 다른 수취계좌·회원 수</a:t>
            </a:r>
          </a:p>
        </p:txBody>
      </p:sp>
      <p:sp>
        <p:nvSpPr>
          <p:cNvPr id="179" name="t"/>
          <p:cNvSpPr txBox="1"/>
          <p:nvPr/>
        </p:nvSpPr>
        <p:spPr>
          <a:xfrm>
            <a:off x="8990000" y="291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③·④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집계 기간(최근 N시간)과 기준 금액을 선택·입력으로 지정</a:t>
            </a:r>
          </a:p>
        </p:txBody>
      </p:sp>
      <p:sp>
        <p:nvSpPr>
          <p:cNvPr id="180" name="t"/>
          <p:cNvSpPr txBox="1"/>
          <p:nvPr/>
        </p:nvSpPr>
        <p:spPr>
          <a:xfrm>
            <a:off x="8990000" y="3350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⑤ 추가 조건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단말기 변경 경과·회원 국적·화이트리스트 등을 칩으로 추가</a:t>
            </a:r>
          </a:p>
        </p:txBody>
      </p:sp>
      <p:sp>
        <p:nvSpPr>
          <p:cNvPr id="181" name="t"/>
          <p:cNvSpPr txBox="1"/>
          <p:nvPr/>
        </p:nvSpPr>
        <p:spPr>
          <a:xfrm>
            <a:off x="8990000" y="39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⑥ 동작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모니터링·차단·추가인증·EDD·임시동결·보고 + 재발방지 그룹 자동등록 체크</a:t>
            </a:r>
          </a:p>
        </p:txBody>
      </p:sp>
      <p:sp>
        <p:nvSpPr>
          <p:cNvPr id="182" name="t"/>
          <p:cNvSpPr txBox="1"/>
          <p:nvPr/>
        </p:nvSpPr>
        <p:spPr>
          <a:xfrm>
            <a:off x="8990000" y="455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미리보기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구성한 룰을 자연어 문장으로 확인</a:t>
            </a:r>
          </a:p>
        </p:txBody>
      </p:sp>
      <p:sp>
        <p:nvSpPr>
          <p:cNvPr id="183" name="t"/>
          <p:cNvSpPr txBox="1"/>
          <p:nvPr/>
        </p:nvSpPr>
        <p:spPr>
          <a:xfrm>
            <a:off x="8990000" y="498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[임시저장(DRAFT)] · [시뮬레이션 후 결재요청]</a:t>
            </a:r>
          </a:p>
        </p:txBody>
      </p:sp>
      <p:sp>
        <p:nvSpPr>
          <p:cNvPr id="184" name="t"/>
          <p:cNvSpPr txBox="1"/>
          <p:nvPr/>
        </p:nvSpPr>
        <p:spPr>
          <a:xfrm>
            <a:off x="8990000" y="5418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POST /admin/fds/rules · /{id}/versions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FDS-RULE-004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룰 관리 &gt; 기준값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기준값(임계치) 빠른 변경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38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룰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360000" y="164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룰 목록 ◀</a:t>
            </a:r>
          </a:p>
        </p:txBody>
      </p:sp>
      <p:sp>
        <p:nvSpPr>
          <p:cNvPr id="115" name="t"/>
          <p:cNvSpPr txBox="1"/>
          <p:nvPr/>
        </p:nvSpPr>
        <p:spPr>
          <a:xfrm>
            <a:off x="360000" y="185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상세/버전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0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빌더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2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00000" y="780000"/>
            <a:ext cx="8720000" cy="5900000"/>
          </a:xfrm>
          <a:prstGeom prst="rect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"/>
          <p:cNvSpPr/>
          <p:nvPr/>
        </p:nvSpPr>
        <p:spPr>
          <a:xfrm>
            <a:off x="1760000" y="1880000"/>
            <a:ext cx="5400000" cy="3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"/>
          <p:cNvSpPr/>
          <p:nvPr/>
        </p:nvSpPr>
        <p:spPr>
          <a:xfrm>
            <a:off x="1760000" y="1880000"/>
            <a:ext cx="5400000" cy="3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1880000" y="1975000"/>
            <a:ext cx="4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FFFFFF"/>
                </a:solidFill>
                <a:latin typeface="맑은 고딕"/>
              </a:rPr>
              <a:t>기준값 빠른 변경 — [10_해외]</a:t>
            </a:r>
          </a:p>
        </p:txBody>
      </p:sp>
      <p:sp>
        <p:nvSpPr>
          <p:cNvPr id="128" name="t"/>
          <p:cNvSpPr txBox="1"/>
          <p:nvPr/>
        </p:nvSpPr>
        <p:spPr>
          <a:xfrm>
            <a:off x="6840000" y="1975000"/>
            <a:ext cx="2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</a:rPr>
              <a:t>✕</a:t>
            </a:r>
          </a:p>
        </p:txBody>
      </p:sp>
      <p:sp>
        <p:nvSpPr>
          <p:cNvPr id="129" name="t"/>
          <p:cNvSpPr txBox="1"/>
          <p:nvPr/>
        </p:nvSpPr>
        <p:spPr>
          <a:xfrm>
            <a:off x="1910000" y="2360000"/>
            <a:ext cx="51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[10_해외] 단말기변경 3시간내 4백만원 송금</a:t>
            </a:r>
          </a:p>
        </p:txBody>
      </p:sp>
      <p:sp>
        <p:nvSpPr>
          <p:cNvPr id="130" name="t"/>
          <p:cNvSpPr txBox="1"/>
          <p:nvPr/>
        </p:nvSpPr>
        <p:spPr>
          <a:xfrm>
            <a:off x="1910000" y="2640000"/>
            <a:ext cx="5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595959"/>
                </a:solidFill>
                <a:latin typeface="맑은 고딕"/>
              </a:rPr>
              <a:t>현재 기준값  4,000,000 원</a:t>
            </a:r>
          </a:p>
        </p:txBody>
      </p:sp>
      <p:sp>
        <p:nvSpPr>
          <p:cNvPr id="131" name="t"/>
          <p:cNvSpPr txBox="1"/>
          <p:nvPr/>
        </p:nvSpPr>
        <p:spPr>
          <a:xfrm>
            <a:off x="1910000" y="286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새 기준값 (원)</a:t>
            </a:r>
          </a:p>
        </p:txBody>
      </p:sp>
      <p:sp>
        <p:nvSpPr>
          <p:cNvPr id="132" name="r"/>
          <p:cNvSpPr/>
          <p:nvPr/>
        </p:nvSpPr>
        <p:spPr>
          <a:xfrm>
            <a:off x="1910000" y="303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1990000" y="307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5000000</a:t>
            </a:r>
          </a:p>
        </p:txBody>
      </p:sp>
      <p:sp>
        <p:nvSpPr>
          <p:cNvPr id="134" name="t"/>
          <p:cNvSpPr txBox="1"/>
          <p:nvPr/>
        </p:nvSpPr>
        <p:spPr>
          <a:xfrm>
            <a:off x="1910000" y="336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변경 사유 *</a:t>
            </a:r>
          </a:p>
        </p:txBody>
      </p:sp>
      <p:sp>
        <p:nvSpPr>
          <p:cNvPr id="135" name="r"/>
          <p:cNvSpPr/>
          <p:nvPr/>
        </p:nvSpPr>
        <p:spPr>
          <a:xfrm>
            <a:off x="1910000" y="353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"/>
          <p:cNvSpPr txBox="1"/>
          <p:nvPr/>
        </p:nvSpPr>
        <p:spPr>
          <a:xfrm>
            <a:off x="1990000" y="357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최근 평균 거래액 상승 반영</a:t>
            </a:r>
          </a:p>
        </p:txBody>
      </p:sp>
      <p:sp>
        <p:nvSpPr>
          <p:cNvPr id="137" name="t"/>
          <p:cNvSpPr txBox="1"/>
          <p:nvPr/>
        </p:nvSpPr>
        <p:spPr>
          <a:xfrm>
            <a:off x="1910000" y="386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처리 티켓 번호 *</a:t>
            </a:r>
          </a:p>
        </p:txBody>
      </p:sp>
      <p:sp>
        <p:nvSpPr>
          <p:cNvPr id="138" name="r"/>
          <p:cNvSpPr/>
          <p:nvPr/>
        </p:nvSpPr>
        <p:spPr>
          <a:xfrm>
            <a:off x="1910000" y="403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1990000" y="407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OPS-2026-0517</a:t>
            </a:r>
          </a:p>
        </p:txBody>
      </p:sp>
      <p:sp>
        <p:nvSpPr>
          <p:cNvPr id="140" name="t"/>
          <p:cNvSpPr txBox="1"/>
          <p:nvPr/>
        </p:nvSpPr>
        <p:spPr>
          <a:xfrm>
            <a:off x="1910000" y="4400000"/>
            <a:ext cx="510000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※ 적용 후 약 30초 안에 전체 시스템에 반영됩니다. 룰 조건 자체는 바뀌지 않습니다.</a:t>
            </a:r>
          </a:p>
        </p:txBody>
      </p:sp>
      <p:sp>
        <p:nvSpPr>
          <p:cNvPr id="141" name="r"/>
          <p:cNvSpPr/>
          <p:nvPr/>
        </p:nvSpPr>
        <p:spPr>
          <a:xfrm>
            <a:off x="6230000" y="5250000"/>
            <a:ext cx="7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"/>
          <p:cNvSpPr txBox="1"/>
          <p:nvPr/>
        </p:nvSpPr>
        <p:spPr>
          <a:xfrm>
            <a:off x="6230000" y="530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취소</a:t>
            </a:r>
          </a:p>
        </p:txBody>
      </p:sp>
      <p:sp>
        <p:nvSpPr>
          <p:cNvPr id="143" name="r"/>
          <p:cNvSpPr/>
          <p:nvPr/>
        </p:nvSpPr>
        <p:spPr>
          <a:xfrm>
            <a:off x="4990000" y="5250000"/>
            <a:ext cx="119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"/>
          <p:cNvSpPr txBox="1"/>
          <p:nvPr/>
        </p:nvSpPr>
        <p:spPr>
          <a:xfrm>
            <a:off x="4990000" y="5300000"/>
            <a:ext cx="119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적용 (약 30초)</a:t>
            </a:r>
          </a:p>
        </p:txBody>
      </p:sp>
      <p:sp>
        <p:nvSpPr>
          <p:cNvPr id="145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FDS-RULE-004</a:t>
            </a:r>
          </a:p>
        </p:txBody>
      </p:sp>
      <p:sp>
        <p:nvSpPr>
          <p:cNvPr id="147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운영 권한</a:t>
            </a:r>
          </a:p>
        </p:txBody>
      </p:sp>
      <p:sp>
        <p:nvSpPr>
          <p:cNvPr id="149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새 기준값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변경할 금액(또는 건수) 입력 — 룰 내용은 그대로 유지</a:t>
            </a:r>
          </a:p>
        </p:txBody>
      </p:sp>
      <p:sp>
        <p:nvSpPr>
          <p:cNvPr id="150" name="t"/>
          <p:cNvSpPr txBox="1"/>
          <p:nvPr/>
        </p:nvSpPr>
        <p:spPr>
          <a:xfrm>
            <a:off x="8990000" y="188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변경 사유 *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변경 근거를 입력 (필수)</a:t>
            </a:r>
          </a:p>
        </p:txBody>
      </p:sp>
      <p:sp>
        <p:nvSpPr>
          <p:cNvPr id="151" name="t"/>
          <p:cNvSpPr txBox="1"/>
          <p:nvPr/>
        </p:nvSpPr>
        <p:spPr>
          <a:xfrm>
            <a:off x="8990000" y="231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처리 티켓 번호 *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연계 티켓 번호를 입력 (필수, 이력 자동 기록)</a:t>
            </a:r>
          </a:p>
        </p:txBody>
      </p:sp>
      <p:sp>
        <p:nvSpPr>
          <p:cNvPr id="152" name="t"/>
          <p:cNvSpPr txBox="1"/>
          <p:nvPr/>
        </p:nvSpPr>
        <p:spPr>
          <a:xfrm>
            <a:off x="8990000" y="274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[적용]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약 30초 안에 전체 시스템에 반영 / [취소]로 닫기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990000" y="318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룰 조건 자체를 바꾸려면 새 버전 + 2인 결재로 진행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990000" y="361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주의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AML(CTR) 통화별 기준 금액은 빠른변경 불가 — 반드시 2인 결재</a:t>
            </a:r>
          </a:p>
        </p:txBody>
      </p:sp>
      <p:sp>
        <p:nvSpPr>
          <p:cNvPr id="155" name="t"/>
          <p:cNvSpPr txBox="1"/>
          <p:nvPr/>
        </p:nvSpPr>
        <p:spPr>
          <a:xfrm>
            <a:off x="8990000" y="421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PATCH /admin/fds/rules/{id}/thresholds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FDS-RULE-005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룰 관리 &gt; 결재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룰 결재 · 활성화 (2인 결재)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38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룰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360000" y="164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룰 목록 ◀</a:t>
            </a:r>
          </a:p>
        </p:txBody>
      </p:sp>
      <p:sp>
        <p:nvSpPr>
          <p:cNvPr id="115" name="t"/>
          <p:cNvSpPr txBox="1"/>
          <p:nvPr/>
        </p:nvSpPr>
        <p:spPr>
          <a:xfrm>
            <a:off x="360000" y="185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상세/버전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0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룰 빌더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2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00000" y="780000"/>
            <a:ext cx="8720000" cy="5900000"/>
          </a:xfrm>
          <a:prstGeom prst="rect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"/>
          <p:cNvSpPr/>
          <p:nvPr/>
        </p:nvSpPr>
        <p:spPr>
          <a:xfrm>
            <a:off x="1660000" y="1880000"/>
            <a:ext cx="5600000" cy="37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"/>
          <p:cNvSpPr/>
          <p:nvPr/>
        </p:nvSpPr>
        <p:spPr>
          <a:xfrm>
            <a:off x="1660000" y="1880000"/>
            <a:ext cx="5600000" cy="3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1780000" y="1975000"/>
            <a:ext cx="50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FFFFFF"/>
                </a:solidFill>
                <a:latin typeface="맑은 고딕"/>
              </a:rPr>
              <a:t>룰 버전 결재 — [44_해외] v3</a:t>
            </a:r>
          </a:p>
        </p:txBody>
      </p:sp>
      <p:sp>
        <p:nvSpPr>
          <p:cNvPr id="128" name="t"/>
          <p:cNvSpPr txBox="1"/>
          <p:nvPr/>
        </p:nvSpPr>
        <p:spPr>
          <a:xfrm>
            <a:off x="6940000" y="1975000"/>
            <a:ext cx="2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</a:rPr>
              <a:t>✕</a:t>
            </a:r>
          </a:p>
        </p:txBody>
      </p:sp>
      <p:sp>
        <p:nvSpPr>
          <p:cNvPr id="129" name="t"/>
          <p:cNvSpPr txBox="1"/>
          <p:nvPr/>
        </p:nvSpPr>
        <p:spPr>
          <a:xfrm>
            <a:off x="1810000" y="2350000"/>
            <a:ext cx="5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[44_해외] v3  ·  상태 : 검토 중</a:t>
            </a:r>
          </a:p>
        </p:txBody>
      </p:sp>
      <p:sp>
        <p:nvSpPr>
          <p:cNvPr id="130" name="r"/>
          <p:cNvSpPr/>
          <p:nvPr/>
        </p:nvSpPr>
        <p:spPr>
          <a:xfrm>
            <a:off x="1810000" y="2580000"/>
            <a:ext cx="5300000" cy="62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1890000" y="2640000"/>
            <a:ext cx="51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시뮬레이션 비교 (첨부 필수)</a:t>
            </a:r>
          </a:p>
        </p:txBody>
      </p:sp>
      <p:sp>
        <p:nvSpPr>
          <p:cNvPr id="132" name="t"/>
          <p:cNvSpPr txBox="1"/>
          <p:nvPr/>
        </p:nvSpPr>
        <p:spPr>
          <a:xfrm>
            <a:off x="1890000" y="2840000"/>
            <a:ext cx="51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기존 v2 탐지 412건 → v3 탐지 482건 (+70건)</a:t>
            </a:r>
          </a:p>
        </p:txBody>
      </p:sp>
      <p:sp>
        <p:nvSpPr>
          <p:cNvPr id="133" name="t"/>
          <p:cNvSpPr txBox="1"/>
          <p:nvPr/>
        </p:nvSpPr>
        <p:spPr>
          <a:xfrm>
            <a:off x="1890000" y="3020000"/>
            <a:ext cx="51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신규 탐지 95건 / 사라진 탐지 25건 · 우즈벡 회원 210건</a:t>
            </a:r>
          </a:p>
        </p:txBody>
      </p:sp>
      <p:sp>
        <p:nvSpPr>
          <p:cNvPr id="134" name="t"/>
          <p:cNvSpPr txBox="1"/>
          <p:nvPr/>
        </p:nvSpPr>
        <p:spPr>
          <a:xfrm>
            <a:off x="1810000" y="3360000"/>
            <a:ext cx="53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승인자 코멘트</a:t>
            </a:r>
          </a:p>
        </p:txBody>
      </p:sp>
      <p:sp>
        <p:nvSpPr>
          <p:cNvPr id="135" name="r"/>
          <p:cNvSpPr/>
          <p:nvPr/>
        </p:nvSpPr>
        <p:spPr>
          <a:xfrm>
            <a:off x="1810000" y="3530000"/>
            <a:ext cx="53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"/>
          <p:cNvSpPr txBox="1"/>
          <p:nvPr/>
        </p:nvSpPr>
        <p:spPr>
          <a:xfrm>
            <a:off x="1890000" y="3570000"/>
            <a:ext cx="51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검토 완료 — 오탐 영향 경미, 승인</a:t>
            </a:r>
          </a:p>
        </p:txBody>
      </p:sp>
      <p:sp>
        <p:nvSpPr>
          <p:cNvPr id="137" name="t"/>
          <p:cNvSpPr txBox="1"/>
          <p:nvPr/>
        </p:nvSpPr>
        <p:spPr>
          <a:xfrm>
            <a:off x="1810000" y="3900000"/>
            <a:ext cx="530000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※ 작성자와 승인자가 같으면 승인할 수 없습니다. 결재 없이는 활성화되지 않습니다.</a:t>
            </a:r>
          </a:p>
        </p:txBody>
      </p:sp>
      <p:sp>
        <p:nvSpPr>
          <p:cNvPr id="138" name="r"/>
          <p:cNvSpPr/>
          <p:nvPr/>
        </p:nvSpPr>
        <p:spPr>
          <a:xfrm>
            <a:off x="6330000" y="5250000"/>
            <a:ext cx="7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6330000" y="530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닫기</a:t>
            </a:r>
          </a:p>
        </p:txBody>
      </p:sp>
      <p:sp>
        <p:nvSpPr>
          <p:cNvPr id="140" name="r"/>
          <p:cNvSpPr/>
          <p:nvPr/>
        </p:nvSpPr>
        <p:spPr>
          <a:xfrm>
            <a:off x="5580000" y="5250000"/>
            <a:ext cx="700000" cy="240000"/>
          </a:xfrm>
          <a:prstGeom prst="roundRect">
            <a:avLst/>
          </a:prstGeom>
          <a:solidFill>
            <a:srgbClr val="FF4D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5580000" y="530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반려</a:t>
            </a:r>
          </a:p>
        </p:txBody>
      </p:sp>
      <p:sp>
        <p:nvSpPr>
          <p:cNvPr id="142" name="r"/>
          <p:cNvSpPr/>
          <p:nvPr/>
        </p:nvSpPr>
        <p:spPr>
          <a:xfrm>
            <a:off x="4530000" y="5250000"/>
            <a:ext cx="100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"/>
          <p:cNvSpPr txBox="1"/>
          <p:nvPr/>
        </p:nvSpPr>
        <p:spPr>
          <a:xfrm>
            <a:off x="4530000" y="530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승인 + 활성화</a:t>
            </a:r>
          </a:p>
        </p:txBody>
      </p:sp>
      <p:sp>
        <p:nvSpPr>
          <p:cNvPr id="144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FDS-RULE-005</a:t>
            </a:r>
          </a:p>
        </p:txBody>
      </p:sp>
      <p:sp>
        <p:nvSpPr>
          <p:cNvPr id="146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작성 / 승인·활성화 / 운영 권한으로 분리</a:t>
            </a:r>
          </a:p>
        </p:txBody>
      </p:sp>
      <p:sp>
        <p:nvSpPr>
          <p:cNvPr id="148" name="t"/>
          <p:cNvSpPr txBox="1"/>
          <p:nvPr/>
        </p:nvSpPr>
        <p:spPr>
          <a:xfrm>
            <a:off x="8990000" y="160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시뮬레이션 비교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기존 대비 탐지 증감을 확인 (첨부 필수)</a:t>
            </a:r>
          </a:p>
        </p:txBody>
      </p:sp>
      <p:sp>
        <p:nvSpPr>
          <p:cNvPr id="149" name="t"/>
          <p:cNvSpPr txBox="1"/>
          <p:nvPr/>
        </p:nvSpPr>
        <p:spPr>
          <a:xfrm>
            <a:off x="8990000" y="2034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승인자 코멘트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검토 의견 입력</a:t>
            </a:r>
          </a:p>
        </p:txBody>
      </p:sp>
      <p:sp>
        <p:nvSpPr>
          <p:cNvPr id="150" name="t"/>
          <p:cNvSpPr txBox="1"/>
          <p:nvPr/>
        </p:nvSpPr>
        <p:spPr>
          <a:xfrm>
            <a:off x="8990000" y="231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[승인 + 활성화] · [반려] · [닫기]</a:t>
            </a:r>
          </a:p>
        </p:txBody>
      </p:sp>
      <p:sp>
        <p:nvSpPr>
          <p:cNvPr id="151" name="t"/>
          <p:cNvSpPr txBox="1"/>
          <p:nvPr/>
        </p:nvSpPr>
        <p:spPr>
          <a:xfrm>
            <a:off x="8990000" y="274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‘작성 → 검토요청 → 승인 → 활성화’ 순으로 2인 결재</a:t>
            </a:r>
          </a:p>
        </p:txBody>
      </p:sp>
      <p:sp>
        <p:nvSpPr>
          <p:cNvPr id="152" name="t"/>
          <p:cNvSpPr txBox="1"/>
          <p:nvPr/>
        </p:nvSpPr>
        <p:spPr>
          <a:xfrm>
            <a:off x="8990000" y="318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작성자와 승인자가 같으면 승인 불가 (다른 담당자 필요)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990000" y="361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그 외 동작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롤백(직전 버전 복귀) · 일시중지(사유·재개 예정 시각)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990000" y="4044000"/>
            <a:ext cx="2840000" cy="6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POST .../submit · /approve · /activate · /rollback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FDS-GRP-001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그룹 관리 &gt; 목록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그룹 목록 / 멤버</a:t>
            </a:r>
          </a:p>
        </p:txBody>
      </p:sp>
      <p:sp>
        <p:nvSpPr>
          <p:cNvPr id="105" name="r"/>
          <p:cNvSpPr/>
          <p:nvPr/>
        </p:nvSpPr>
        <p:spPr>
          <a:xfrm>
            <a:off x="7700000" y="1320000"/>
            <a:ext cx="1100000" cy="2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7700000" y="137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+ 새 그룹</a:t>
            </a:r>
          </a:p>
        </p:txBody>
      </p:sp>
      <p:sp>
        <p:nvSpPr>
          <p:cNvPr id="107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9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11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5" name="r"/>
          <p:cNvSpPr/>
          <p:nvPr/>
        </p:nvSpPr>
        <p:spPr>
          <a:xfrm>
            <a:off x="100000" y="161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그룹 관리</a:t>
            </a:r>
          </a:p>
        </p:txBody>
      </p:sp>
      <p:sp>
        <p:nvSpPr>
          <p:cNvPr id="117" name="t"/>
          <p:cNvSpPr txBox="1"/>
          <p:nvPr/>
        </p:nvSpPr>
        <p:spPr>
          <a:xfrm>
            <a:off x="360000" y="18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그룹 목록 ◀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0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그룹 등록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2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5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27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29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2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4" name="t"/>
          <p:cNvSpPr txBox="1"/>
          <p:nvPr/>
        </p:nvSpPr>
        <p:spPr>
          <a:xfrm>
            <a:off x="200000" y="34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5" name="r"/>
          <p:cNvSpPr/>
          <p:nvPr/>
        </p:nvSpPr>
        <p:spPr>
          <a:xfrm>
            <a:off x="1950000" y="17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"/>
          <p:cNvSpPr txBox="1"/>
          <p:nvPr/>
        </p:nvSpPr>
        <p:spPr>
          <a:xfrm>
            <a:off x="1950000" y="1760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그룹 코드</a:t>
            </a:r>
          </a:p>
        </p:txBody>
      </p:sp>
      <p:sp>
        <p:nvSpPr>
          <p:cNvPr id="127" name="t"/>
          <p:cNvSpPr txBox="1"/>
          <p:nvPr/>
        </p:nvSpPr>
        <p:spPr>
          <a:xfrm>
            <a:off x="4100000" y="176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종류</a:t>
            </a:r>
          </a:p>
        </p:txBody>
      </p:sp>
      <p:sp>
        <p:nvSpPr>
          <p:cNvPr id="128" name="t"/>
          <p:cNvSpPr txBox="1"/>
          <p:nvPr/>
        </p:nvSpPr>
        <p:spPr>
          <a:xfrm>
            <a:off x="5550000" y="176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등록 방식</a:t>
            </a:r>
          </a:p>
        </p:txBody>
      </p:sp>
      <p:sp>
        <p:nvSpPr>
          <p:cNvPr id="129" name="t"/>
          <p:cNvSpPr txBox="1"/>
          <p:nvPr/>
        </p:nvSpPr>
        <p:spPr>
          <a:xfrm>
            <a:off x="6700000" y="176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자동등록</a:t>
            </a:r>
          </a:p>
        </p:txBody>
      </p:sp>
      <p:sp>
        <p:nvSpPr>
          <p:cNvPr id="130" name="t"/>
          <p:cNvSpPr txBox="1"/>
          <p:nvPr/>
        </p:nvSpPr>
        <p:spPr>
          <a:xfrm>
            <a:off x="7850000" y="1760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1">
                <a:solidFill>
                  <a:srgbClr val="262626"/>
                </a:solidFill>
                <a:latin typeface="맑은 고딕"/>
              </a:rPr>
              <a:t>활성 멤버</a:t>
            </a:r>
          </a:p>
        </p:txBody>
      </p:sp>
      <p:sp>
        <p:nvSpPr>
          <p:cNvPr id="131" name="r"/>
          <p:cNvSpPr/>
          <p:nvPr/>
        </p:nvSpPr>
        <p:spPr>
          <a:xfrm>
            <a:off x="1950000" y="1960000"/>
            <a:ext cx="68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"/>
          <p:cNvSpPr txBox="1"/>
          <p:nvPr/>
        </p:nvSpPr>
        <p:spPr>
          <a:xfrm>
            <a:off x="1950000" y="2035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APP_RESTRICT_47</a:t>
            </a:r>
          </a:p>
        </p:txBody>
      </p:sp>
      <p:sp>
        <p:nvSpPr>
          <p:cNvPr id="133" name="t"/>
          <p:cNvSpPr txBox="1"/>
          <p:nvPr/>
        </p:nvSpPr>
        <p:spPr>
          <a:xfrm>
            <a:off x="4100000" y="203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34" name="t"/>
          <p:cNvSpPr txBox="1"/>
          <p:nvPr/>
        </p:nvSpPr>
        <p:spPr>
          <a:xfrm>
            <a:off x="5550000" y="20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자동</a:t>
            </a:r>
          </a:p>
        </p:txBody>
      </p:sp>
      <p:sp>
        <p:nvSpPr>
          <p:cNvPr id="135" name="t"/>
          <p:cNvSpPr txBox="1"/>
          <p:nvPr/>
        </p:nvSpPr>
        <p:spPr>
          <a:xfrm>
            <a:off x="6700000" y="20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○</a:t>
            </a:r>
          </a:p>
        </p:txBody>
      </p:sp>
      <p:sp>
        <p:nvSpPr>
          <p:cNvPr id="136" name="t"/>
          <p:cNvSpPr txBox="1"/>
          <p:nvPr/>
        </p:nvSpPr>
        <p:spPr>
          <a:xfrm>
            <a:off x="7850000" y="2035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1,204</a:t>
            </a:r>
          </a:p>
        </p:txBody>
      </p:sp>
      <p:sp>
        <p:nvSpPr>
          <p:cNvPr id="137" name="r"/>
          <p:cNvSpPr/>
          <p:nvPr/>
        </p:nvSpPr>
        <p:spPr>
          <a:xfrm>
            <a:off x="1950000" y="2260000"/>
            <a:ext cx="6850000" cy="3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1950000" y="2335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APP_WHITELIST_PERM</a:t>
            </a:r>
          </a:p>
        </p:txBody>
      </p:sp>
      <p:sp>
        <p:nvSpPr>
          <p:cNvPr id="139" name="t"/>
          <p:cNvSpPr txBox="1"/>
          <p:nvPr/>
        </p:nvSpPr>
        <p:spPr>
          <a:xfrm>
            <a:off x="4100000" y="233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40" name="t"/>
          <p:cNvSpPr txBox="1"/>
          <p:nvPr/>
        </p:nvSpPr>
        <p:spPr>
          <a:xfrm>
            <a:off x="5550000" y="23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수동</a:t>
            </a:r>
          </a:p>
        </p:txBody>
      </p:sp>
      <p:sp>
        <p:nvSpPr>
          <p:cNvPr id="141" name="t"/>
          <p:cNvSpPr txBox="1"/>
          <p:nvPr/>
        </p:nvSpPr>
        <p:spPr>
          <a:xfrm>
            <a:off x="6700000" y="23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42" name="t"/>
          <p:cNvSpPr txBox="1"/>
          <p:nvPr/>
        </p:nvSpPr>
        <p:spPr>
          <a:xfrm>
            <a:off x="7850000" y="2335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88</a:t>
            </a:r>
          </a:p>
        </p:txBody>
      </p:sp>
      <p:sp>
        <p:nvSpPr>
          <p:cNvPr id="143" name="r"/>
          <p:cNvSpPr/>
          <p:nvPr/>
        </p:nvSpPr>
        <p:spPr>
          <a:xfrm>
            <a:off x="1950000" y="2560000"/>
            <a:ext cx="68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"/>
          <p:cNvSpPr txBox="1"/>
          <p:nvPr/>
        </p:nvSpPr>
        <p:spPr>
          <a:xfrm>
            <a:off x="1950000" y="2635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APP_BLACKLIST_IP</a:t>
            </a:r>
          </a:p>
        </p:txBody>
      </p:sp>
      <p:sp>
        <p:nvSpPr>
          <p:cNvPr id="145" name="t"/>
          <p:cNvSpPr txBox="1"/>
          <p:nvPr/>
        </p:nvSpPr>
        <p:spPr>
          <a:xfrm>
            <a:off x="4100000" y="263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IP</a:t>
            </a:r>
          </a:p>
        </p:txBody>
      </p:sp>
      <p:sp>
        <p:nvSpPr>
          <p:cNvPr id="146" name="t"/>
          <p:cNvSpPr txBox="1"/>
          <p:nvPr/>
        </p:nvSpPr>
        <p:spPr>
          <a:xfrm>
            <a:off x="5550000" y="26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수동</a:t>
            </a:r>
          </a:p>
        </p:txBody>
      </p:sp>
      <p:sp>
        <p:nvSpPr>
          <p:cNvPr id="147" name="t"/>
          <p:cNvSpPr txBox="1"/>
          <p:nvPr/>
        </p:nvSpPr>
        <p:spPr>
          <a:xfrm>
            <a:off x="6700000" y="26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48" name="t"/>
          <p:cNvSpPr txBox="1"/>
          <p:nvPr/>
        </p:nvSpPr>
        <p:spPr>
          <a:xfrm>
            <a:off x="7850000" y="2635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FF4D4F"/>
                </a:solidFill>
                <a:latin typeface="맑은 고딕"/>
              </a:rPr>
              <a:t>342</a:t>
            </a:r>
          </a:p>
        </p:txBody>
      </p:sp>
      <p:sp>
        <p:nvSpPr>
          <p:cNvPr id="149" name="r"/>
          <p:cNvSpPr/>
          <p:nvPr/>
        </p:nvSpPr>
        <p:spPr>
          <a:xfrm>
            <a:off x="1950000" y="2860000"/>
            <a:ext cx="6850000" cy="3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"/>
          <p:cNvSpPr txBox="1"/>
          <p:nvPr/>
        </p:nvSpPr>
        <p:spPr>
          <a:xfrm>
            <a:off x="1950000" y="2935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APP_BLACKLIST_DUUID</a:t>
            </a:r>
          </a:p>
        </p:txBody>
      </p:sp>
      <p:sp>
        <p:nvSpPr>
          <p:cNvPr id="151" name="t"/>
          <p:cNvSpPr txBox="1"/>
          <p:nvPr/>
        </p:nvSpPr>
        <p:spPr>
          <a:xfrm>
            <a:off x="4100000" y="293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단말기</a:t>
            </a:r>
          </a:p>
        </p:txBody>
      </p:sp>
      <p:sp>
        <p:nvSpPr>
          <p:cNvPr id="152" name="t"/>
          <p:cNvSpPr txBox="1"/>
          <p:nvPr/>
        </p:nvSpPr>
        <p:spPr>
          <a:xfrm>
            <a:off x="5550000" y="29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수동</a:t>
            </a:r>
          </a:p>
        </p:txBody>
      </p:sp>
      <p:sp>
        <p:nvSpPr>
          <p:cNvPr id="153" name="t"/>
          <p:cNvSpPr txBox="1"/>
          <p:nvPr/>
        </p:nvSpPr>
        <p:spPr>
          <a:xfrm>
            <a:off x="6700000" y="29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54" name="t"/>
          <p:cNvSpPr txBox="1"/>
          <p:nvPr/>
        </p:nvSpPr>
        <p:spPr>
          <a:xfrm>
            <a:off x="7850000" y="2935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FF4D4F"/>
                </a:solidFill>
                <a:latin typeface="맑은 고딕"/>
              </a:rPr>
              <a:t>156</a:t>
            </a:r>
          </a:p>
        </p:txBody>
      </p:sp>
      <p:sp>
        <p:nvSpPr>
          <p:cNvPr id="155" name="r"/>
          <p:cNvSpPr/>
          <p:nvPr/>
        </p:nvSpPr>
        <p:spPr>
          <a:xfrm>
            <a:off x="1950000" y="3160000"/>
            <a:ext cx="68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"/>
          <p:cNvSpPr txBox="1"/>
          <p:nvPr/>
        </p:nvSpPr>
        <p:spPr>
          <a:xfrm>
            <a:off x="1950000" y="3235000"/>
            <a:ext cx="2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APP_BLACKLIST_MERCHANT</a:t>
            </a:r>
          </a:p>
        </p:txBody>
      </p:sp>
      <p:sp>
        <p:nvSpPr>
          <p:cNvPr id="157" name="t"/>
          <p:cNvSpPr txBox="1"/>
          <p:nvPr/>
        </p:nvSpPr>
        <p:spPr>
          <a:xfrm>
            <a:off x="4100000" y="323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가맹점</a:t>
            </a:r>
          </a:p>
        </p:txBody>
      </p:sp>
      <p:sp>
        <p:nvSpPr>
          <p:cNvPr id="158" name="t"/>
          <p:cNvSpPr txBox="1"/>
          <p:nvPr/>
        </p:nvSpPr>
        <p:spPr>
          <a:xfrm>
            <a:off x="5550000" y="32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수동</a:t>
            </a:r>
          </a:p>
        </p:txBody>
      </p:sp>
      <p:sp>
        <p:nvSpPr>
          <p:cNvPr id="159" name="t"/>
          <p:cNvSpPr txBox="1"/>
          <p:nvPr/>
        </p:nvSpPr>
        <p:spPr>
          <a:xfrm>
            <a:off x="6700000" y="323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60" name="t"/>
          <p:cNvSpPr txBox="1"/>
          <p:nvPr/>
        </p:nvSpPr>
        <p:spPr>
          <a:xfrm>
            <a:off x="7850000" y="3235000"/>
            <a:ext cx="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FF4D4F"/>
                </a:solidFill>
                <a:latin typeface="맑은 고딕"/>
              </a:rPr>
              <a:t>27</a:t>
            </a:r>
          </a:p>
        </p:txBody>
      </p:sp>
      <p:sp>
        <p:nvSpPr>
          <p:cNvPr id="161" name="t"/>
          <p:cNvSpPr txBox="1"/>
          <p:nvPr/>
        </p:nvSpPr>
        <p:spPr>
          <a:xfrm>
            <a:off x="1950000" y="3550000"/>
            <a:ext cx="5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262626"/>
                </a:solidFill>
                <a:latin typeface="맑은 고딕"/>
              </a:rPr>
              <a:t>▶ APP_BLACKLIST_IP 멤버 (342)</a:t>
            </a:r>
          </a:p>
        </p:txBody>
      </p:sp>
      <p:sp>
        <p:nvSpPr>
          <p:cNvPr id="162" name="r"/>
          <p:cNvSpPr/>
          <p:nvPr/>
        </p:nvSpPr>
        <p:spPr>
          <a:xfrm>
            <a:off x="7100000" y="3520000"/>
            <a:ext cx="780000" cy="22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7100000" y="3570000"/>
            <a:ext cx="7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+ 멤버 추가</a:t>
            </a:r>
          </a:p>
        </p:txBody>
      </p:sp>
      <p:sp>
        <p:nvSpPr>
          <p:cNvPr id="164" name="r"/>
          <p:cNvSpPr/>
          <p:nvPr/>
        </p:nvSpPr>
        <p:spPr>
          <a:xfrm>
            <a:off x="7920000" y="3520000"/>
            <a:ext cx="780000" cy="2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"/>
          <p:cNvSpPr txBox="1"/>
          <p:nvPr/>
        </p:nvSpPr>
        <p:spPr>
          <a:xfrm>
            <a:off x="7920000" y="3570000"/>
            <a:ext cx="7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CSV 업로드</a:t>
            </a:r>
          </a:p>
        </p:txBody>
      </p:sp>
      <p:sp>
        <p:nvSpPr>
          <p:cNvPr id="166" name="r"/>
          <p:cNvSpPr/>
          <p:nvPr/>
        </p:nvSpPr>
        <p:spPr>
          <a:xfrm>
            <a:off x="1950000" y="382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"/>
          <p:cNvSpPr txBox="1"/>
          <p:nvPr/>
        </p:nvSpPr>
        <p:spPr>
          <a:xfrm>
            <a:off x="1950000" y="3880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식별자</a:t>
            </a:r>
          </a:p>
        </p:txBody>
      </p:sp>
      <p:sp>
        <p:nvSpPr>
          <p:cNvPr id="168" name="t"/>
          <p:cNvSpPr txBox="1"/>
          <p:nvPr/>
        </p:nvSpPr>
        <p:spPr>
          <a:xfrm>
            <a:off x="4000000" y="388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사유</a:t>
            </a:r>
          </a:p>
        </p:txBody>
      </p:sp>
      <p:sp>
        <p:nvSpPr>
          <p:cNvPr id="169" name="t"/>
          <p:cNvSpPr txBox="1"/>
          <p:nvPr/>
        </p:nvSpPr>
        <p:spPr>
          <a:xfrm>
            <a:off x="5750000" y="3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등록일</a:t>
            </a:r>
          </a:p>
        </p:txBody>
      </p:sp>
      <p:sp>
        <p:nvSpPr>
          <p:cNvPr id="170" name="t"/>
          <p:cNvSpPr txBox="1"/>
          <p:nvPr/>
        </p:nvSpPr>
        <p:spPr>
          <a:xfrm>
            <a:off x="7100000" y="388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만료일</a:t>
            </a:r>
          </a:p>
        </p:txBody>
      </p:sp>
      <p:sp>
        <p:nvSpPr>
          <p:cNvPr id="171" name="t"/>
          <p:cNvSpPr txBox="1"/>
          <p:nvPr/>
        </p:nvSpPr>
        <p:spPr>
          <a:xfrm>
            <a:off x="8250000" y="388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1">
                <a:solidFill>
                  <a:srgbClr val="262626"/>
                </a:solidFill>
                <a:latin typeface="맑은 고딕"/>
              </a:rPr>
              <a:t/>
            </a:r>
          </a:p>
        </p:txBody>
      </p:sp>
      <p:sp>
        <p:nvSpPr>
          <p:cNvPr id="172" name="r"/>
          <p:cNvSpPr/>
          <p:nvPr/>
        </p:nvSpPr>
        <p:spPr>
          <a:xfrm>
            <a:off x="1950000" y="4080000"/>
            <a:ext cx="685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"/>
          <p:cNvSpPr txBox="1"/>
          <p:nvPr/>
        </p:nvSpPr>
        <p:spPr>
          <a:xfrm>
            <a:off x="1950000" y="415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203.0.113.55</a:t>
            </a:r>
          </a:p>
        </p:txBody>
      </p:sp>
      <p:sp>
        <p:nvSpPr>
          <p:cNvPr id="174" name="t"/>
          <p:cNvSpPr txBox="1"/>
          <p:nvPr/>
        </p:nvSpPr>
        <p:spPr>
          <a:xfrm>
            <a:off x="4000000" y="415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사기 IP</a:t>
            </a:r>
          </a:p>
        </p:txBody>
      </p:sp>
      <p:sp>
        <p:nvSpPr>
          <p:cNvPr id="175" name="t"/>
          <p:cNvSpPr txBox="1"/>
          <p:nvPr/>
        </p:nvSpPr>
        <p:spPr>
          <a:xfrm>
            <a:off x="5750000" y="4155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2026-05-20</a:t>
            </a:r>
          </a:p>
        </p:txBody>
      </p:sp>
      <p:sp>
        <p:nvSpPr>
          <p:cNvPr id="176" name="t"/>
          <p:cNvSpPr txBox="1"/>
          <p:nvPr/>
        </p:nvSpPr>
        <p:spPr>
          <a:xfrm>
            <a:off x="7100000" y="415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250000" y="4155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FF4D4F"/>
                </a:solidFill>
                <a:latin typeface="맑은 고딕"/>
              </a:rPr>
              <a:t>해제</a:t>
            </a:r>
          </a:p>
        </p:txBody>
      </p:sp>
      <p:sp>
        <p:nvSpPr>
          <p:cNvPr id="178" name="r"/>
          <p:cNvSpPr/>
          <p:nvPr/>
        </p:nvSpPr>
        <p:spPr>
          <a:xfrm>
            <a:off x="1950000" y="4380000"/>
            <a:ext cx="6850000" cy="3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"/>
          <p:cNvSpPr txBox="1"/>
          <p:nvPr/>
        </p:nvSpPr>
        <p:spPr>
          <a:xfrm>
            <a:off x="1950000" y="445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198.51.100.7</a:t>
            </a:r>
          </a:p>
        </p:txBody>
      </p:sp>
      <p:sp>
        <p:nvSpPr>
          <p:cNvPr id="180" name="t"/>
          <p:cNvSpPr txBox="1"/>
          <p:nvPr/>
        </p:nvSpPr>
        <p:spPr>
          <a:xfrm>
            <a:off x="4000000" y="445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다발 차단</a:t>
            </a:r>
          </a:p>
        </p:txBody>
      </p:sp>
      <p:sp>
        <p:nvSpPr>
          <p:cNvPr id="181" name="t"/>
          <p:cNvSpPr txBox="1"/>
          <p:nvPr/>
        </p:nvSpPr>
        <p:spPr>
          <a:xfrm>
            <a:off x="5750000" y="4455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2026-05-22</a:t>
            </a:r>
          </a:p>
        </p:txBody>
      </p:sp>
      <p:sp>
        <p:nvSpPr>
          <p:cNvPr id="182" name="t"/>
          <p:cNvSpPr txBox="1"/>
          <p:nvPr/>
        </p:nvSpPr>
        <p:spPr>
          <a:xfrm>
            <a:off x="7100000" y="445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2026-06-21</a:t>
            </a:r>
          </a:p>
        </p:txBody>
      </p:sp>
      <p:sp>
        <p:nvSpPr>
          <p:cNvPr id="183" name="t"/>
          <p:cNvSpPr txBox="1"/>
          <p:nvPr/>
        </p:nvSpPr>
        <p:spPr>
          <a:xfrm>
            <a:off x="8250000" y="4455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FF4D4F"/>
                </a:solidFill>
                <a:latin typeface="맑은 고딕"/>
              </a:rPr>
              <a:t>해제</a:t>
            </a:r>
          </a:p>
        </p:txBody>
      </p:sp>
      <p:sp>
        <p:nvSpPr>
          <p:cNvPr id="184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FDS-GRP-001</a:t>
            </a:r>
          </a:p>
        </p:txBody>
      </p:sp>
      <p:sp>
        <p:nvSpPr>
          <p:cNvPr id="186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권한 (새 그룹 생성은 관리자)</a:t>
            </a:r>
          </a:p>
        </p:txBody>
      </p:sp>
      <p:sp>
        <p:nvSpPr>
          <p:cNvPr id="188" name="t"/>
          <p:cNvSpPr txBox="1"/>
          <p:nvPr/>
        </p:nvSpPr>
        <p:spPr>
          <a:xfrm>
            <a:off x="8990000" y="160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그룹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그룹 코드 · 종류 · 등록 방식 · 자동등록 · 활성 멤버 수</a:t>
            </a:r>
          </a:p>
        </p:txBody>
      </p:sp>
      <p:sp>
        <p:nvSpPr>
          <p:cNvPr id="189" name="t"/>
          <p:cNvSpPr txBox="1"/>
          <p:nvPr/>
        </p:nvSpPr>
        <p:spPr>
          <a:xfrm>
            <a:off x="8990000" y="220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종류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회원·IP·이메일·실명번호·단말기·수취계좌·가맹점</a:t>
            </a:r>
          </a:p>
        </p:txBody>
      </p:sp>
      <p:sp>
        <p:nvSpPr>
          <p:cNvPr id="190" name="t"/>
          <p:cNvSpPr txBox="1"/>
          <p:nvPr/>
        </p:nvSpPr>
        <p:spPr>
          <a:xfrm>
            <a:off x="8990000" y="263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[+ 새 그룹]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그룹 등록 화면(FDS-GRP-003)으로 이동</a:t>
            </a:r>
          </a:p>
        </p:txBody>
      </p:sp>
      <p:sp>
        <p:nvSpPr>
          <p:cNvPr id="191" name="t"/>
          <p:cNvSpPr txBox="1"/>
          <p:nvPr/>
        </p:nvSpPr>
        <p:spPr>
          <a:xfrm>
            <a:off x="8990000" y="3068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멤버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식별자 · 사유 · 등록일 · 만료일 · [해제]  + [+ 멤버 추가]·[CSV 업로드]</a:t>
            </a:r>
          </a:p>
        </p:txBody>
      </p:sp>
      <p:sp>
        <p:nvSpPr>
          <p:cNvPr id="192" name="t"/>
          <p:cNvSpPr txBox="1"/>
          <p:nvPr/>
        </p:nvSpPr>
        <p:spPr>
          <a:xfrm>
            <a:off x="8990000" y="3670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자동/수동 등록 구분, 만료 임박(7일) 강조, 식별자 마스킹(전체값은 운영자만)</a:t>
            </a:r>
          </a:p>
        </p:txBody>
      </p:sp>
      <p:sp>
        <p:nvSpPr>
          <p:cNvPr id="193" name="t"/>
          <p:cNvSpPr txBox="1"/>
          <p:nvPr/>
        </p:nvSpPr>
        <p:spPr>
          <a:xfrm>
            <a:off x="8990000" y="427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조회 1만 건 초과 시 팝업 노출 — 조건 좁히기 안내</a:t>
            </a:r>
          </a:p>
        </p:txBody>
      </p:sp>
      <p:sp>
        <p:nvSpPr>
          <p:cNvPr id="194" name="t"/>
          <p:cNvSpPr txBox="1"/>
          <p:nvPr/>
        </p:nvSpPr>
        <p:spPr>
          <a:xfrm>
            <a:off x="8990000" y="470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/admin/fds/groups · /{code}/members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FDS-GRP-002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그룹 관리 &gt; 멤버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멤버 추가 / 해제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r"/>
          <p:cNvSpPr/>
          <p:nvPr/>
        </p:nvSpPr>
        <p:spPr>
          <a:xfrm>
            <a:off x="100000" y="161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그룹 관리</a:t>
            </a:r>
          </a:p>
        </p:txBody>
      </p:sp>
      <p:sp>
        <p:nvSpPr>
          <p:cNvPr id="115" name="t"/>
          <p:cNvSpPr txBox="1"/>
          <p:nvPr/>
        </p:nvSpPr>
        <p:spPr>
          <a:xfrm>
            <a:off x="360000" y="18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그룹 목록 ◀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0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그룹 등록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2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2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3" name="r"/>
          <p:cNvSpPr/>
          <p:nvPr/>
        </p:nvSpPr>
        <p:spPr>
          <a:xfrm>
            <a:off x="100000" y="780000"/>
            <a:ext cx="8720000" cy="5900000"/>
          </a:xfrm>
          <a:prstGeom prst="rect">
            <a:avLst/>
          </a:prstGeom>
          <a:solidFill>
            <a:srgbClr val="5959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"/>
          <p:cNvSpPr/>
          <p:nvPr/>
        </p:nvSpPr>
        <p:spPr>
          <a:xfrm>
            <a:off x="1760000" y="1780000"/>
            <a:ext cx="5400000" cy="3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"/>
          <p:cNvSpPr/>
          <p:nvPr/>
        </p:nvSpPr>
        <p:spPr>
          <a:xfrm>
            <a:off x="1760000" y="1780000"/>
            <a:ext cx="5400000" cy="3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"/>
          <p:cNvSpPr txBox="1"/>
          <p:nvPr/>
        </p:nvSpPr>
        <p:spPr>
          <a:xfrm>
            <a:off x="1880000" y="1875000"/>
            <a:ext cx="48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FFFFFF"/>
                </a:solidFill>
                <a:latin typeface="맑은 고딕"/>
              </a:rPr>
              <a:t>멤버 추가 — APP_BLACKLIST_IP</a:t>
            </a:r>
          </a:p>
        </p:txBody>
      </p:sp>
      <p:sp>
        <p:nvSpPr>
          <p:cNvPr id="127" name="t"/>
          <p:cNvSpPr txBox="1"/>
          <p:nvPr/>
        </p:nvSpPr>
        <p:spPr>
          <a:xfrm>
            <a:off x="6840000" y="1875000"/>
            <a:ext cx="20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900" b="1">
                <a:solidFill>
                  <a:srgbClr val="FFFFFF"/>
                </a:solidFill>
                <a:latin typeface="맑은 고딕"/>
              </a:rPr>
              <a:t>✕</a:t>
            </a:r>
          </a:p>
        </p:txBody>
      </p:sp>
      <p:sp>
        <p:nvSpPr>
          <p:cNvPr id="128" name="t"/>
          <p:cNvSpPr txBox="1"/>
          <p:nvPr/>
        </p:nvSpPr>
        <p:spPr>
          <a:xfrm>
            <a:off x="1910000" y="2250000"/>
            <a:ext cx="5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APP_BLACKLIST_IP 에 멤버 추가</a:t>
            </a:r>
          </a:p>
        </p:txBody>
      </p:sp>
      <p:sp>
        <p:nvSpPr>
          <p:cNvPr id="129" name="t"/>
          <p:cNvSpPr txBox="1"/>
          <p:nvPr/>
        </p:nvSpPr>
        <p:spPr>
          <a:xfrm>
            <a:off x="1910000" y="248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식별자 종류</a:t>
            </a:r>
          </a:p>
        </p:txBody>
      </p:sp>
      <p:sp>
        <p:nvSpPr>
          <p:cNvPr id="130" name="r"/>
          <p:cNvSpPr/>
          <p:nvPr/>
        </p:nvSpPr>
        <p:spPr>
          <a:xfrm>
            <a:off x="1910000" y="265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1990000" y="269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IP ▼</a:t>
            </a:r>
          </a:p>
        </p:txBody>
      </p:sp>
      <p:sp>
        <p:nvSpPr>
          <p:cNvPr id="132" name="t"/>
          <p:cNvSpPr txBox="1"/>
          <p:nvPr/>
        </p:nvSpPr>
        <p:spPr>
          <a:xfrm>
            <a:off x="1910000" y="298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식별자</a:t>
            </a:r>
          </a:p>
        </p:txBody>
      </p:sp>
      <p:sp>
        <p:nvSpPr>
          <p:cNvPr id="133" name="r"/>
          <p:cNvSpPr/>
          <p:nvPr/>
        </p:nvSpPr>
        <p:spPr>
          <a:xfrm>
            <a:off x="1910000" y="315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"/>
          <p:cNvSpPr txBox="1"/>
          <p:nvPr/>
        </p:nvSpPr>
        <p:spPr>
          <a:xfrm>
            <a:off x="1990000" y="319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BFBFBF"/>
                </a:solidFill>
                <a:latin typeface="맑은 고딕"/>
              </a:rPr>
              <a:t>203.0.113.55</a:t>
            </a:r>
          </a:p>
        </p:txBody>
      </p:sp>
      <p:sp>
        <p:nvSpPr>
          <p:cNvPr id="135" name="t"/>
          <p:cNvSpPr txBox="1"/>
          <p:nvPr/>
        </p:nvSpPr>
        <p:spPr>
          <a:xfrm>
            <a:off x="1910000" y="348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사유 *</a:t>
            </a:r>
          </a:p>
        </p:txBody>
      </p:sp>
      <p:sp>
        <p:nvSpPr>
          <p:cNvPr id="136" name="r"/>
          <p:cNvSpPr/>
          <p:nvPr/>
        </p:nvSpPr>
        <p:spPr>
          <a:xfrm>
            <a:off x="1910000" y="365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1990000" y="369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BFBFBF"/>
                </a:solidFill>
                <a:latin typeface="맑은 고딕"/>
              </a:rPr>
              <a:t>사기 연루 IP</a:t>
            </a:r>
          </a:p>
        </p:txBody>
      </p:sp>
      <p:sp>
        <p:nvSpPr>
          <p:cNvPr id="138" name="t"/>
          <p:cNvSpPr txBox="1"/>
          <p:nvPr/>
        </p:nvSpPr>
        <p:spPr>
          <a:xfrm>
            <a:off x="1910000" y="3980000"/>
            <a:ext cx="51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만료일 (비우면 영구)</a:t>
            </a:r>
          </a:p>
        </p:txBody>
      </p:sp>
      <p:sp>
        <p:nvSpPr>
          <p:cNvPr id="139" name="r"/>
          <p:cNvSpPr/>
          <p:nvPr/>
        </p:nvSpPr>
        <p:spPr>
          <a:xfrm>
            <a:off x="1910000" y="4150000"/>
            <a:ext cx="51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"/>
          <p:cNvSpPr txBox="1"/>
          <p:nvPr/>
        </p:nvSpPr>
        <p:spPr>
          <a:xfrm>
            <a:off x="1990000" y="4190000"/>
            <a:ext cx="49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BFBFBF"/>
                </a:solidFill>
                <a:latin typeface="맑은 고딕"/>
              </a:rPr>
              <a:t>2026-09-01</a:t>
            </a:r>
          </a:p>
        </p:txBody>
      </p:sp>
      <p:sp>
        <p:nvSpPr>
          <p:cNvPr id="141" name="t"/>
          <p:cNvSpPr txBox="1"/>
          <p:nvPr/>
        </p:nvSpPr>
        <p:spPr>
          <a:xfrm>
            <a:off x="1910000" y="4520000"/>
            <a:ext cx="510000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※ CSV로 한꺼번에 올리면 중복·형식 오류 건은 건너뛰고 결과를 보여줍니다.</a:t>
            </a:r>
          </a:p>
        </p:txBody>
      </p:sp>
      <p:sp>
        <p:nvSpPr>
          <p:cNvPr id="142" name="r"/>
          <p:cNvSpPr/>
          <p:nvPr/>
        </p:nvSpPr>
        <p:spPr>
          <a:xfrm>
            <a:off x="6230000" y="5350000"/>
            <a:ext cx="7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"/>
          <p:cNvSpPr txBox="1"/>
          <p:nvPr/>
        </p:nvSpPr>
        <p:spPr>
          <a:xfrm>
            <a:off x="6230000" y="540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취소</a:t>
            </a:r>
          </a:p>
        </p:txBody>
      </p:sp>
      <p:sp>
        <p:nvSpPr>
          <p:cNvPr id="144" name="r"/>
          <p:cNvSpPr/>
          <p:nvPr/>
        </p:nvSpPr>
        <p:spPr>
          <a:xfrm>
            <a:off x="5480000" y="5350000"/>
            <a:ext cx="70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5480000" y="540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추가</a:t>
            </a:r>
          </a:p>
        </p:txBody>
      </p:sp>
      <p:sp>
        <p:nvSpPr>
          <p:cNvPr id="146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FDS-GRP-002</a:t>
            </a:r>
          </a:p>
        </p:txBody>
      </p:sp>
      <p:sp>
        <p:nvSpPr>
          <p:cNvPr id="148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운영 권한</a:t>
            </a:r>
          </a:p>
        </p:txBody>
      </p:sp>
      <p:sp>
        <p:nvSpPr>
          <p:cNvPr id="150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식별자 종류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IP·이메일·회원·단말기·수취계좌·가맹점 중 선택</a:t>
            </a:r>
          </a:p>
        </p:txBody>
      </p:sp>
      <p:sp>
        <p:nvSpPr>
          <p:cNvPr id="151" name="t"/>
          <p:cNvSpPr txBox="1"/>
          <p:nvPr/>
        </p:nvSpPr>
        <p:spPr>
          <a:xfrm>
            <a:off x="8990000" y="1884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식별자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차단/허용할 값 입력</a:t>
            </a:r>
          </a:p>
        </p:txBody>
      </p:sp>
      <p:sp>
        <p:nvSpPr>
          <p:cNvPr id="152" name="t"/>
          <p:cNvSpPr txBox="1"/>
          <p:nvPr/>
        </p:nvSpPr>
        <p:spPr>
          <a:xfrm>
            <a:off x="8990000" y="2166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사유 *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등록 근거 입력 (필수)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990000" y="244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만료일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비우면 영구, 입력 시 해당일 자동 해제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990000" y="288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[추가]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CSV 일괄 시 중복·형식 오류 건은 건너뛰고 결과 표시</a:t>
            </a:r>
          </a:p>
        </p:txBody>
      </p:sp>
      <p:sp>
        <p:nvSpPr>
          <p:cNvPr id="155" name="t"/>
          <p:cNvSpPr txBox="1"/>
          <p:nvPr/>
        </p:nvSpPr>
        <p:spPr>
          <a:xfrm>
            <a:off x="8990000" y="331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이미 등록된 대상은 중복 등록 불가 · 본인·관련 계정은 변경 불가</a:t>
            </a:r>
          </a:p>
        </p:txBody>
      </p:sp>
      <p:sp>
        <p:nvSpPr>
          <p:cNvPr id="156" name="t"/>
          <p:cNvSpPr txBox="1"/>
          <p:nvPr/>
        </p:nvSpPr>
        <p:spPr>
          <a:xfrm>
            <a:off x="8990000" y="374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POST/DELETE .../members · /extend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FDS-DEC-001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탐지 결정 &gt; 목록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탐지 결정 조회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r"/>
          <p:cNvSpPr/>
          <p:nvPr/>
        </p:nvSpPr>
        <p:spPr>
          <a:xfrm>
            <a:off x="100000" y="184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탐지 결정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10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결정 목록 ◀</a:t>
            </a:r>
          </a:p>
        </p:txBody>
      </p:sp>
      <p:sp>
        <p:nvSpPr>
          <p:cNvPr id="117" name="t"/>
          <p:cNvSpPr txBox="1"/>
          <p:nvPr/>
        </p:nvSpPr>
        <p:spPr>
          <a:xfrm>
            <a:off x="360000" y="231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결정 상세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52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회원 타임라인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950000" y="1640000"/>
            <a:ext cx="6850000" cy="4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20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룰 번호</a:t>
            </a:r>
          </a:p>
        </p:txBody>
      </p:sp>
      <p:sp>
        <p:nvSpPr>
          <p:cNvPr id="126" name="r"/>
          <p:cNvSpPr/>
          <p:nvPr/>
        </p:nvSpPr>
        <p:spPr>
          <a:xfrm>
            <a:off x="20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21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[44_해외]</a:t>
            </a:r>
          </a:p>
        </p:txBody>
      </p:sp>
      <p:sp>
        <p:nvSpPr>
          <p:cNvPr id="128" name="t"/>
          <p:cNvSpPr txBox="1"/>
          <p:nvPr/>
        </p:nvSpPr>
        <p:spPr>
          <a:xfrm>
            <a:off x="36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29" name="r"/>
          <p:cNvSpPr/>
          <p:nvPr/>
        </p:nvSpPr>
        <p:spPr>
          <a:xfrm>
            <a:off x="36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"/>
          <p:cNvSpPr txBox="1"/>
          <p:nvPr/>
        </p:nvSpPr>
        <p:spPr>
          <a:xfrm>
            <a:off x="37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mem_...</a:t>
            </a:r>
          </a:p>
        </p:txBody>
      </p:sp>
      <p:sp>
        <p:nvSpPr>
          <p:cNvPr id="131" name="t"/>
          <p:cNvSpPr txBox="1"/>
          <p:nvPr/>
        </p:nvSpPr>
        <p:spPr>
          <a:xfrm>
            <a:off x="52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동작</a:t>
            </a:r>
          </a:p>
        </p:txBody>
      </p:sp>
      <p:sp>
        <p:nvSpPr>
          <p:cNvPr id="132" name="r"/>
          <p:cNvSpPr/>
          <p:nvPr/>
        </p:nvSpPr>
        <p:spPr>
          <a:xfrm>
            <a:off x="52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53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전체 ▼ (8종)</a:t>
            </a:r>
          </a:p>
        </p:txBody>
      </p:sp>
      <p:sp>
        <p:nvSpPr>
          <p:cNvPr id="134" name="t"/>
          <p:cNvSpPr txBox="1"/>
          <p:nvPr/>
        </p:nvSpPr>
        <p:spPr>
          <a:xfrm>
            <a:off x="68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기간</a:t>
            </a:r>
          </a:p>
        </p:txBody>
      </p:sp>
      <p:sp>
        <p:nvSpPr>
          <p:cNvPr id="135" name="r"/>
          <p:cNvSpPr/>
          <p:nvPr/>
        </p:nvSpPr>
        <p:spPr>
          <a:xfrm>
            <a:off x="68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"/>
          <p:cNvSpPr txBox="1"/>
          <p:nvPr/>
        </p:nvSpPr>
        <p:spPr>
          <a:xfrm>
            <a:off x="69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2026-06-01 ~ 06-02</a:t>
            </a:r>
          </a:p>
        </p:txBody>
      </p:sp>
      <p:sp>
        <p:nvSpPr>
          <p:cNvPr id="137" name="r"/>
          <p:cNvSpPr/>
          <p:nvPr/>
        </p:nvSpPr>
        <p:spPr>
          <a:xfrm>
            <a:off x="7720000" y="1840000"/>
            <a:ext cx="5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772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초기화</a:t>
            </a:r>
          </a:p>
        </p:txBody>
      </p:sp>
      <p:sp>
        <p:nvSpPr>
          <p:cNvPr id="139" name="r"/>
          <p:cNvSpPr/>
          <p:nvPr/>
        </p:nvSpPr>
        <p:spPr>
          <a:xfrm>
            <a:off x="8260000" y="1840000"/>
            <a:ext cx="500000" cy="20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"/>
          <p:cNvSpPr txBox="1"/>
          <p:nvPr/>
        </p:nvSpPr>
        <p:spPr>
          <a:xfrm>
            <a:off x="826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141" name="r"/>
          <p:cNvSpPr/>
          <p:nvPr/>
        </p:nvSpPr>
        <p:spPr>
          <a:xfrm>
            <a:off x="1950000" y="22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"/>
          <p:cNvSpPr txBox="1"/>
          <p:nvPr/>
        </p:nvSpPr>
        <p:spPr>
          <a:xfrm>
            <a:off x="1950000" y="226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처리시각</a:t>
            </a:r>
          </a:p>
        </p:txBody>
      </p:sp>
      <p:sp>
        <p:nvSpPr>
          <p:cNvPr id="143" name="t"/>
          <p:cNvSpPr txBox="1"/>
          <p:nvPr/>
        </p:nvSpPr>
        <p:spPr>
          <a:xfrm>
            <a:off x="3700000" y="226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룰 번호</a:t>
            </a:r>
          </a:p>
        </p:txBody>
      </p:sp>
      <p:sp>
        <p:nvSpPr>
          <p:cNvPr id="144" name="t"/>
          <p:cNvSpPr txBox="1"/>
          <p:nvPr/>
        </p:nvSpPr>
        <p:spPr>
          <a:xfrm>
            <a:off x="4850000" y="226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동작</a:t>
            </a:r>
          </a:p>
        </p:txBody>
      </p:sp>
      <p:sp>
        <p:nvSpPr>
          <p:cNvPr id="145" name="t"/>
          <p:cNvSpPr txBox="1"/>
          <p:nvPr/>
        </p:nvSpPr>
        <p:spPr>
          <a:xfrm>
            <a:off x="6000000" y="226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결과</a:t>
            </a:r>
          </a:p>
        </p:txBody>
      </p:sp>
      <p:sp>
        <p:nvSpPr>
          <p:cNvPr id="146" name="t"/>
          <p:cNvSpPr txBox="1"/>
          <p:nvPr/>
        </p:nvSpPr>
        <p:spPr>
          <a:xfrm>
            <a:off x="7050000" y="226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47" name="t"/>
          <p:cNvSpPr txBox="1"/>
          <p:nvPr/>
        </p:nvSpPr>
        <p:spPr>
          <a:xfrm>
            <a:off x="8200000" y="2260000"/>
            <a:ext cx="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평가</a:t>
            </a:r>
          </a:p>
        </p:txBody>
      </p:sp>
      <p:sp>
        <p:nvSpPr>
          <p:cNvPr id="148" name="r"/>
          <p:cNvSpPr/>
          <p:nvPr/>
        </p:nvSpPr>
        <p:spPr>
          <a:xfrm>
            <a:off x="1950000" y="246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1950000" y="255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06-01 11:02:17</a:t>
            </a:r>
          </a:p>
        </p:txBody>
      </p:sp>
      <p:sp>
        <p:nvSpPr>
          <p:cNvPr id="150" name="t"/>
          <p:cNvSpPr txBox="1"/>
          <p:nvPr/>
        </p:nvSpPr>
        <p:spPr>
          <a:xfrm>
            <a:off x="3700000" y="255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[44_해외]</a:t>
            </a:r>
          </a:p>
        </p:txBody>
      </p:sp>
      <p:sp>
        <p:nvSpPr>
          <p:cNvPr id="151" name="t"/>
          <p:cNvSpPr txBox="1"/>
          <p:nvPr/>
        </p:nvSpPr>
        <p:spPr>
          <a:xfrm>
            <a:off x="4850000" y="255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거래차단</a:t>
            </a:r>
          </a:p>
        </p:txBody>
      </p:sp>
      <p:sp>
        <p:nvSpPr>
          <p:cNvPr id="152" name="t"/>
          <p:cNvSpPr txBox="1"/>
          <p:nvPr/>
        </p:nvSpPr>
        <p:spPr>
          <a:xfrm>
            <a:off x="6000000" y="255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차단</a:t>
            </a:r>
          </a:p>
        </p:txBody>
      </p:sp>
      <p:sp>
        <p:nvSpPr>
          <p:cNvPr id="153" name="t"/>
          <p:cNvSpPr txBox="1"/>
          <p:nvPr/>
        </p:nvSpPr>
        <p:spPr>
          <a:xfrm>
            <a:off x="7050000" y="255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mem_8f2..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200000" y="2550000"/>
            <a:ext cx="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즉시</a:t>
            </a:r>
          </a:p>
        </p:txBody>
      </p:sp>
      <p:sp>
        <p:nvSpPr>
          <p:cNvPr id="155" name="r"/>
          <p:cNvSpPr/>
          <p:nvPr/>
        </p:nvSpPr>
        <p:spPr>
          <a:xfrm>
            <a:off x="1950000" y="279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"/>
          <p:cNvSpPr txBox="1"/>
          <p:nvPr/>
        </p:nvSpPr>
        <p:spPr>
          <a:xfrm>
            <a:off x="1950000" y="288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06-01 11:01:55</a:t>
            </a:r>
          </a:p>
        </p:txBody>
      </p:sp>
      <p:sp>
        <p:nvSpPr>
          <p:cNvPr id="157" name="t"/>
          <p:cNvSpPr txBox="1"/>
          <p:nvPr/>
        </p:nvSpPr>
        <p:spPr>
          <a:xfrm>
            <a:off x="3700000" y="288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[VEL_ALL]</a:t>
            </a:r>
          </a:p>
        </p:txBody>
      </p:sp>
      <p:sp>
        <p:nvSpPr>
          <p:cNvPr id="158" name="t"/>
          <p:cNvSpPr txBox="1"/>
          <p:nvPr/>
        </p:nvSpPr>
        <p:spPr>
          <a:xfrm>
            <a:off x="4850000" y="288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거래차단</a:t>
            </a:r>
          </a:p>
        </p:txBody>
      </p:sp>
      <p:sp>
        <p:nvSpPr>
          <p:cNvPr id="159" name="t"/>
          <p:cNvSpPr txBox="1"/>
          <p:nvPr/>
        </p:nvSpPr>
        <p:spPr>
          <a:xfrm>
            <a:off x="6000000" y="288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차단</a:t>
            </a:r>
          </a:p>
        </p:txBody>
      </p:sp>
      <p:sp>
        <p:nvSpPr>
          <p:cNvPr id="160" name="t"/>
          <p:cNvSpPr txBox="1"/>
          <p:nvPr/>
        </p:nvSpPr>
        <p:spPr>
          <a:xfrm>
            <a:off x="7050000" y="288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mem_3a1..</a:t>
            </a:r>
          </a:p>
        </p:txBody>
      </p:sp>
      <p:sp>
        <p:nvSpPr>
          <p:cNvPr id="161" name="t"/>
          <p:cNvSpPr txBox="1"/>
          <p:nvPr/>
        </p:nvSpPr>
        <p:spPr>
          <a:xfrm>
            <a:off x="8200000" y="2880000"/>
            <a:ext cx="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즉시</a:t>
            </a:r>
          </a:p>
        </p:txBody>
      </p:sp>
      <p:sp>
        <p:nvSpPr>
          <p:cNvPr id="162" name="r"/>
          <p:cNvSpPr/>
          <p:nvPr/>
        </p:nvSpPr>
        <p:spPr>
          <a:xfrm>
            <a:off x="1950000" y="312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1950000" y="321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06-01 11:00:02</a:t>
            </a:r>
          </a:p>
        </p:txBody>
      </p:sp>
      <p:sp>
        <p:nvSpPr>
          <p:cNvPr id="164" name="t"/>
          <p:cNvSpPr txBox="1"/>
          <p:nvPr/>
        </p:nvSpPr>
        <p:spPr>
          <a:xfrm>
            <a:off x="3700000" y="321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[07_해외]</a:t>
            </a:r>
          </a:p>
        </p:txBody>
      </p:sp>
      <p:sp>
        <p:nvSpPr>
          <p:cNvPr id="165" name="t"/>
          <p:cNvSpPr txBox="1"/>
          <p:nvPr/>
        </p:nvSpPr>
        <p:spPr>
          <a:xfrm>
            <a:off x="4850000" y="321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모니터링</a:t>
            </a:r>
          </a:p>
        </p:txBody>
      </p:sp>
      <p:sp>
        <p:nvSpPr>
          <p:cNvPr id="166" name="t"/>
          <p:cNvSpPr txBox="1"/>
          <p:nvPr/>
        </p:nvSpPr>
        <p:spPr>
          <a:xfrm>
            <a:off x="6000000" y="321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통과</a:t>
            </a:r>
          </a:p>
        </p:txBody>
      </p:sp>
      <p:sp>
        <p:nvSpPr>
          <p:cNvPr id="167" name="t"/>
          <p:cNvSpPr txBox="1"/>
          <p:nvPr/>
        </p:nvSpPr>
        <p:spPr>
          <a:xfrm>
            <a:off x="7050000" y="321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mem_7c9..</a:t>
            </a:r>
          </a:p>
        </p:txBody>
      </p:sp>
      <p:sp>
        <p:nvSpPr>
          <p:cNvPr id="168" name="t"/>
          <p:cNvSpPr txBox="1"/>
          <p:nvPr/>
        </p:nvSpPr>
        <p:spPr>
          <a:xfrm>
            <a:off x="8200000" y="3210000"/>
            <a:ext cx="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사후</a:t>
            </a:r>
          </a:p>
        </p:txBody>
      </p:sp>
      <p:sp>
        <p:nvSpPr>
          <p:cNvPr id="169" name="r"/>
          <p:cNvSpPr/>
          <p:nvPr/>
        </p:nvSpPr>
        <p:spPr>
          <a:xfrm>
            <a:off x="1950000" y="345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"/>
          <p:cNvSpPr txBox="1"/>
          <p:nvPr/>
        </p:nvSpPr>
        <p:spPr>
          <a:xfrm>
            <a:off x="1950000" y="354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06-01 10:58:44</a:t>
            </a:r>
          </a:p>
        </p:txBody>
      </p:sp>
      <p:sp>
        <p:nvSpPr>
          <p:cNvPr id="171" name="t"/>
          <p:cNvSpPr txBox="1"/>
          <p:nvPr/>
        </p:nvSpPr>
        <p:spPr>
          <a:xfrm>
            <a:off x="3700000" y="354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[STR_PEP]</a:t>
            </a:r>
          </a:p>
        </p:txBody>
      </p:sp>
      <p:sp>
        <p:nvSpPr>
          <p:cNvPr id="172" name="t"/>
          <p:cNvSpPr txBox="1"/>
          <p:nvPr/>
        </p:nvSpPr>
        <p:spPr>
          <a:xfrm>
            <a:off x="4850000" y="354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의심거래 적재</a:t>
            </a:r>
          </a:p>
        </p:txBody>
      </p:sp>
      <p:sp>
        <p:nvSpPr>
          <p:cNvPr id="173" name="t"/>
          <p:cNvSpPr txBox="1"/>
          <p:nvPr/>
        </p:nvSpPr>
        <p:spPr>
          <a:xfrm>
            <a:off x="6000000" y="354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통과</a:t>
            </a:r>
          </a:p>
        </p:txBody>
      </p:sp>
      <p:sp>
        <p:nvSpPr>
          <p:cNvPr id="174" name="t"/>
          <p:cNvSpPr txBox="1"/>
          <p:nvPr/>
        </p:nvSpPr>
        <p:spPr>
          <a:xfrm>
            <a:off x="7050000" y="354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mem_55d..</a:t>
            </a:r>
          </a:p>
        </p:txBody>
      </p:sp>
      <p:sp>
        <p:nvSpPr>
          <p:cNvPr id="175" name="t"/>
          <p:cNvSpPr txBox="1"/>
          <p:nvPr/>
        </p:nvSpPr>
        <p:spPr>
          <a:xfrm>
            <a:off x="8200000" y="3540000"/>
            <a:ext cx="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사후</a:t>
            </a:r>
          </a:p>
        </p:txBody>
      </p:sp>
      <p:sp>
        <p:nvSpPr>
          <p:cNvPr id="176" name="t"/>
          <p:cNvSpPr txBox="1"/>
          <p:nvPr/>
        </p:nvSpPr>
        <p:spPr>
          <a:xfrm>
            <a:off x="1950000" y="3860000"/>
            <a:ext cx="3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◀  1  2  3  …  ▶</a:t>
            </a:r>
          </a:p>
        </p:txBody>
      </p:sp>
      <p:sp>
        <p:nvSpPr>
          <p:cNvPr id="177" name="t"/>
          <p:cNvSpPr txBox="1"/>
          <p:nvPr/>
        </p:nvSpPr>
        <p:spPr>
          <a:xfrm>
            <a:off x="6400000" y="38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0">
                <a:solidFill>
                  <a:srgbClr val="8C8C8C"/>
                </a:solidFill>
                <a:latin typeface="맑은 고딕"/>
              </a:rPr>
              <a:t>최근 13개월 즉시 조회</a:t>
            </a:r>
          </a:p>
        </p:txBody>
      </p:sp>
      <p:sp>
        <p:nvSpPr>
          <p:cNvPr id="178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FDS-DEC-001</a:t>
            </a:r>
          </a:p>
        </p:txBody>
      </p:sp>
      <p:sp>
        <p:nvSpPr>
          <p:cNvPr id="180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권한</a:t>
            </a:r>
          </a:p>
        </p:txBody>
      </p:sp>
      <p:sp>
        <p:nvSpPr>
          <p:cNvPr id="182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검색 조건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룰 번호 · 회원 · 동작 · 기간 (기본 최근 24시간)</a:t>
            </a:r>
          </a:p>
        </p:txBody>
      </p:sp>
      <p:sp>
        <p:nvSpPr>
          <p:cNvPr id="183" name="t"/>
          <p:cNvSpPr txBox="1"/>
          <p:nvPr/>
        </p:nvSpPr>
        <p:spPr>
          <a:xfrm>
            <a:off x="8990000" y="188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처리시각 · 룰 번호 · 동작 · 결과(통과/차단) · 회원 · 평가방식(즉시/사후)</a:t>
            </a:r>
          </a:p>
        </p:txBody>
      </p:sp>
      <p:sp>
        <p:nvSpPr>
          <p:cNvPr id="184" name="t"/>
          <p:cNvSpPr txBox="1"/>
          <p:nvPr/>
        </p:nvSpPr>
        <p:spPr>
          <a:xfrm>
            <a:off x="8990000" y="248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최근 13개월은 즉시 조회, 그 이전은 장기 보관소 링크 제공</a:t>
            </a:r>
          </a:p>
        </p:txBody>
      </p:sp>
      <p:sp>
        <p:nvSpPr>
          <p:cNvPr id="185" name="t"/>
          <p:cNvSpPr txBox="1"/>
          <p:nvPr/>
        </p:nvSpPr>
        <p:spPr>
          <a:xfrm>
            <a:off x="8990000" y="291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행을 클릭하면 ‘왜 그렇게 판정했는지’ 근거 상세로 이동</a:t>
            </a:r>
          </a:p>
        </p:txBody>
      </p:sp>
      <p:sp>
        <p:nvSpPr>
          <p:cNvPr id="186" name="t"/>
          <p:cNvSpPr txBox="1"/>
          <p:nvPr/>
        </p:nvSpPr>
        <p:spPr>
          <a:xfrm>
            <a:off x="8990000" y="335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조회 1만 건 초과 시 팝업 노출 — 기간 좁히기 안내</a:t>
            </a:r>
          </a:p>
        </p:txBody>
      </p:sp>
      <p:sp>
        <p:nvSpPr>
          <p:cNvPr id="187" name="t"/>
          <p:cNvSpPr txBox="1"/>
          <p:nvPr/>
        </p:nvSpPr>
        <p:spPr>
          <a:xfrm>
            <a:off x="8990000" y="378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FDS-DEC-002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탐지 결정 &gt; 상세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결정 상세 (판정 근거)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r"/>
          <p:cNvSpPr/>
          <p:nvPr/>
        </p:nvSpPr>
        <p:spPr>
          <a:xfrm>
            <a:off x="100000" y="184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탐지 결정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10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결정 목록</a:t>
            </a:r>
          </a:p>
        </p:txBody>
      </p:sp>
      <p:sp>
        <p:nvSpPr>
          <p:cNvPr id="117" name="t"/>
          <p:cNvSpPr txBox="1"/>
          <p:nvPr/>
        </p:nvSpPr>
        <p:spPr>
          <a:xfrm>
            <a:off x="360000" y="231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결정 상세 ◀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52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회원 타임라인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950000" y="200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2020000" y="209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추적 번호</a:t>
            </a:r>
          </a:p>
        </p:txBody>
      </p:sp>
      <p:sp>
        <p:nvSpPr>
          <p:cNvPr id="126" name="r"/>
          <p:cNvSpPr/>
          <p:nvPr/>
        </p:nvSpPr>
        <p:spPr>
          <a:xfrm>
            <a:off x="3650000" y="200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3730000" y="209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fds_dec_01JAD...  (감사·고객대응 시 사용)</a:t>
            </a:r>
          </a:p>
        </p:txBody>
      </p:sp>
      <p:sp>
        <p:nvSpPr>
          <p:cNvPr id="128" name="r"/>
          <p:cNvSpPr/>
          <p:nvPr/>
        </p:nvSpPr>
        <p:spPr>
          <a:xfrm>
            <a:off x="1950000" y="236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2020000" y="245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룰</a:t>
            </a:r>
          </a:p>
        </p:txBody>
      </p:sp>
      <p:sp>
        <p:nvSpPr>
          <p:cNvPr id="130" name="r"/>
          <p:cNvSpPr/>
          <p:nvPr/>
        </p:nvSpPr>
        <p:spPr>
          <a:xfrm>
            <a:off x="3650000" y="236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3730000" y="245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FF4D4F"/>
                </a:solidFill>
                <a:latin typeface="맑은 고딕"/>
              </a:rPr>
              <a:t>[44_해외] v3  ·  거래차단</a:t>
            </a:r>
          </a:p>
        </p:txBody>
      </p:sp>
      <p:sp>
        <p:nvSpPr>
          <p:cNvPr id="132" name="r"/>
          <p:cNvSpPr/>
          <p:nvPr/>
        </p:nvSpPr>
        <p:spPr>
          <a:xfrm>
            <a:off x="1950000" y="272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2020000" y="281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판정</a:t>
            </a:r>
          </a:p>
        </p:txBody>
      </p:sp>
      <p:sp>
        <p:nvSpPr>
          <p:cNvPr id="134" name="r"/>
          <p:cNvSpPr/>
          <p:nvPr/>
        </p:nvSpPr>
        <p:spPr>
          <a:xfrm>
            <a:off x="3650000" y="272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3730000" y="281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FF4D4F"/>
                </a:solidFill>
                <a:latin typeface="맑은 고딕"/>
              </a:rPr>
              <a:t>차단  ·  즉시 평가  ·  걸린 시간 38ms</a:t>
            </a:r>
          </a:p>
        </p:txBody>
      </p:sp>
      <p:sp>
        <p:nvSpPr>
          <p:cNvPr id="136" name="r"/>
          <p:cNvSpPr/>
          <p:nvPr/>
        </p:nvSpPr>
        <p:spPr>
          <a:xfrm>
            <a:off x="1950000" y="308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2020000" y="317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처리시각</a:t>
            </a:r>
          </a:p>
        </p:txBody>
      </p:sp>
      <p:sp>
        <p:nvSpPr>
          <p:cNvPr id="138" name="r"/>
          <p:cNvSpPr/>
          <p:nvPr/>
        </p:nvSpPr>
        <p:spPr>
          <a:xfrm>
            <a:off x="3650000" y="308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3730000" y="317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2026-06-01 11:02:17 KST</a:t>
            </a:r>
          </a:p>
        </p:txBody>
      </p:sp>
      <p:sp>
        <p:nvSpPr>
          <p:cNvPr id="140" name="r"/>
          <p:cNvSpPr/>
          <p:nvPr/>
        </p:nvSpPr>
        <p:spPr>
          <a:xfrm>
            <a:off x="1950000" y="344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2020000" y="353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판정 근거</a:t>
            </a:r>
          </a:p>
        </p:txBody>
      </p:sp>
      <p:sp>
        <p:nvSpPr>
          <p:cNvPr id="142" name="r"/>
          <p:cNvSpPr/>
          <p:nvPr/>
        </p:nvSpPr>
        <p:spPr>
          <a:xfrm>
            <a:off x="3650000" y="344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"/>
          <p:cNvSpPr txBox="1"/>
          <p:nvPr/>
        </p:nvSpPr>
        <p:spPr>
          <a:xfrm>
            <a:off x="3730000" y="353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같은 수취계좌 누계 1,820만원 ≥ 기준값 1,800만원 (최근 24시간)</a:t>
            </a:r>
          </a:p>
        </p:txBody>
      </p:sp>
      <p:sp>
        <p:nvSpPr>
          <p:cNvPr id="144" name="r"/>
          <p:cNvSpPr/>
          <p:nvPr/>
        </p:nvSpPr>
        <p:spPr>
          <a:xfrm>
            <a:off x="1950000" y="380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2020000" y="389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대상 거래</a:t>
            </a:r>
          </a:p>
        </p:txBody>
      </p:sp>
      <p:sp>
        <p:nvSpPr>
          <p:cNvPr id="146" name="r"/>
          <p:cNvSpPr/>
          <p:nvPr/>
        </p:nvSpPr>
        <p:spPr>
          <a:xfrm>
            <a:off x="3650000" y="380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3730000" y="389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해외송금 견적 요청 · 18,200,000원</a:t>
            </a:r>
          </a:p>
        </p:txBody>
      </p:sp>
      <p:sp>
        <p:nvSpPr>
          <p:cNvPr id="148" name="r"/>
          <p:cNvSpPr/>
          <p:nvPr/>
        </p:nvSpPr>
        <p:spPr>
          <a:xfrm>
            <a:off x="1950000" y="4160000"/>
            <a:ext cx="1700000" cy="36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2020000" y="425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후속 조치</a:t>
            </a:r>
          </a:p>
        </p:txBody>
      </p:sp>
      <p:sp>
        <p:nvSpPr>
          <p:cNvPr id="150" name="r"/>
          <p:cNvSpPr/>
          <p:nvPr/>
        </p:nvSpPr>
        <p:spPr>
          <a:xfrm>
            <a:off x="3650000" y="4160000"/>
            <a:ext cx="5150000" cy="3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3730000" y="425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재발방지 그룹 자동등록(만료 08-30) → 다음 거래부터 자동 차단</a:t>
            </a:r>
          </a:p>
        </p:txBody>
      </p:sp>
      <p:sp>
        <p:nvSpPr>
          <p:cNvPr id="152" name="r"/>
          <p:cNvSpPr/>
          <p:nvPr/>
        </p:nvSpPr>
        <p:spPr>
          <a:xfrm>
            <a:off x="8040000" y="6430000"/>
            <a:ext cx="7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"/>
          <p:cNvSpPr txBox="1"/>
          <p:nvPr/>
        </p:nvSpPr>
        <p:spPr>
          <a:xfrm>
            <a:off x="8040000" y="648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목록으로</a:t>
            </a:r>
          </a:p>
        </p:txBody>
      </p:sp>
      <p:sp>
        <p:nvSpPr>
          <p:cNvPr id="154" name="r"/>
          <p:cNvSpPr/>
          <p:nvPr/>
        </p:nvSpPr>
        <p:spPr>
          <a:xfrm>
            <a:off x="7075000" y="6430000"/>
            <a:ext cx="905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"/>
          <p:cNvSpPr txBox="1"/>
          <p:nvPr/>
        </p:nvSpPr>
        <p:spPr>
          <a:xfrm>
            <a:off x="7075000" y="6480000"/>
            <a:ext cx="905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회원 타임라인</a:t>
            </a:r>
          </a:p>
        </p:txBody>
      </p:sp>
      <p:sp>
        <p:nvSpPr>
          <p:cNvPr id="156" name="r"/>
          <p:cNvSpPr/>
          <p:nvPr/>
        </p:nvSpPr>
        <p:spPr>
          <a:xfrm>
            <a:off x="6015000" y="6430000"/>
            <a:ext cx="10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"/>
          <p:cNvSpPr txBox="1"/>
          <p:nvPr/>
        </p:nvSpPr>
        <p:spPr>
          <a:xfrm>
            <a:off x="6015000" y="648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원본 거래 보기</a:t>
            </a:r>
          </a:p>
        </p:txBody>
      </p:sp>
      <p:sp>
        <p:nvSpPr>
          <p:cNvPr id="158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FDS-DEC-002</a:t>
            </a:r>
          </a:p>
        </p:txBody>
      </p:sp>
      <p:sp>
        <p:nvSpPr>
          <p:cNvPr id="160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권한</a:t>
            </a:r>
          </a:p>
        </p:txBody>
      </p:sp>
      <p:sp>
        <p:nvSpPr>
          <p:cNvPr id="162" name="t"/>
          <p:cNvSpPr txBox="1"/>
          <p:nvPr/>
        </p:nvSpPr>
        <p:spPr>
          <a:xfrm>
            <a:off x="8990000" y="14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표시 항목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추적 번호 · 룰 · 판정 · 처리시각 · 판정 근거 · 대상 거래 · 후속 조치</a:t>
            </a:r>
          </a:p>
        </p:txBody>
      </p:sp>
      <p:sp>
        <p:nvSpPr>
          <p:cNvPr id="163" name="t"/>
          <p:cNvSpPr txBox="1"/>
          <p:nvPr/>
        </p:nvSpPr>
        <p:spPr>
          <a:xfrm>
            <a:off x="8990000" y="205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판정 근거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집계값·기준값·충족 조건을 풀어서 표시</a:t>
            </a:r>
          </a:p>
        </p:txBody>
      </p:sp>
      <p:sp>
        <p:nvSpPr>
          <p:cNvPr id="164" name="t"/>
          <p:cNvSpPr txBox="1"/>
          <p:nvPr/>
        </p:nvSpPr>
        <p:spPr>
          <a:xfrm>
            <a:off x="8990000" y="248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[원본 거래 보기] · [회원 타임라인] · [목록으로]</a:t>
            </a:r>
          </a:p>
        </p:txBody>
      </p:sp>
      <p:sp>
        <p:nvSpPr>
          <p:cNvPr id="165" name="t"/>
          <p:cNvSpPr txBox="1"/>
          <p:nvPr/>
        </p:nvSpPr>
        <p:spPr>
          <a:xfrm>
            <a:off x="8990000" y="291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자동 그룹등록·자금동결·AML 보고 생성 여부를 함께 표시</a:t>
            </a:r>
          </a:p>
        </p:txBody>
      </p:sp>
      <p:sp>
        <p:nvSpPr>
          <p:cNvPr id="166" name="t"/>
          <p:cNvSpPr txBox="1"/>
          <p:nvPr/>
        </p:nvSpPr>
        <p:spPr>
          <a:xfrm>
            <a:off x="8990000" y="335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추적 번호로 감사·고객대응 연계</a:t>
            </a:r>
          </a:p>
        </p:txBody>
      </p:sp>
      <p:sp>
        <p:nvSpPr>
          <p:cNvPr id="167" name="t"/>
          <p:cNvSpPr txBox="1"/>
          <p:nvPr/>
        </p:nvSpPr>
        <p:spPr>
          <a:xfrm>
            <a:off x="8990000" y="363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/admin/fds/decisions/{id}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FDS-DEC-003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탐지 결정 &gt; 타임라인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회원 타임라인 (조사)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r"/>
          <p:cNvSpPr/>
          <p:nvPr/>
        </p:nvSpPr>
        <p:spPr>
          <a:xfrm>
            <a:off x="100000" y="184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탐지 결정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10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결정 목록</a:t>
            </a:r>
          </a:p>
        </p:txBody>
      </p:sp>
      <p:sp>
        <p:nvSpPr>
          <p:cNvPr id="117" name="t"/>
          <p:cNvSpPr txBox="1"/>
          <p:nvPr/>
        </p:nvSpPr>
        <p:spPr>
          <a:xfrm>
            <a:off x="360000" y="231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결정 상세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52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회원 타임라인 ◀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t"/>
          <p:cNvSpPr txBox="1"/>
          <p:nvPr/>
        </p:nvSpPr>
        <p:spPr>
          <a:xfrm>
            <a:off x="1950000" y="1700000"/>
            <a:ext cx="4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800" b="1">
                <a:solidFill>
                  <a:srgbClr val="262626"/>
                </a:solidFill>
                <a:latin typeface="맑은 고딕"/>
              </a:rPr>
              <a:t>mem_8f2...  ·  KYC 2단계  ·  우즈벡</a:t>
            </a:r>
          </a:p>
        </p:txBody>
      </p:sp>
      <p:sp>
        <p:nvSpPr>
          <p:cNvPr id="125" name="r"/>
          <p:cNvSpPr/>
          <p:nvPr/>
        </p:nvSpPr>
        <p:spPr>
          <a:xfrm>
            <a:off x="6750000" y="1680000"/>
            <a:ext cx="130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"/>
          <p:cNvSpPr txBox="1"/>
          <p:nvPr/>
        </p:nvSpPr>
        <p:spPr>
          <a:xfrm>
            <a:off x="6830000" y="171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최근 30일 ▼</a:t>
            </a:r>
          </a:p>
        </p:txBody>
      </p:sp>
      <p:sp>
        <p:nvSpPr>
          <p:cNvPr id="127" name="r"/>
          <p:cNvSpPr/>
          <p:nvPr/>
        </p:nvSpPr>
        <p:spPr>
          <a:xfrm>
            <a:off x="2210000" y="2080000"/>
            <a:ext cx="12000" cy="2350000"/>
          </a:xfrm>
          <a:prstGeom prst="rect">
            <a:avLst/>
          </a:prstGeom>
          <a:solidFill>
            <a:srgbClr val="D9D9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"/>
          <p:cNvSpPr/>
          <p:nvPr/>
        </p:nvSpPr>
        <p:spPr>
          <a:xfrm>
            <a:off x="2160000" y="2110000"/>
            <a:ext cx="120000" cy="12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2400000" y="20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8C8C8C"/>
                </a:solidFill>
                <a:latin typeface="맑은 고딕"/>
              </a:rPr>
              <a:t>06-01 11:02</a:t>
            </a:r>
          </a:p>
        </p:txBody>
      </p:sp>
      <p:sp>
        <p:nvSpPr>
          <p:cNvPr id="130" name="t"/>
          <p:cNvSpPr txBox="1"/>
          <p:nvPr/>
        </p:nvSpPr>
        <p:spPr>
          <a:xfrm>
            <a:off x="3750000" y="208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FF4D4F"/>
                </a:solidFill>
                <a:latin typeface="맑은 고딕"/>
              </a:rPr>
              <a:t>[44_해외] 거래차단 · 차단</a:t>
            </a:r>
          </a:p>
        </p:txBody>
      </p:sp>
      <p:sp>
        <p:nvSpPr>
          <p:cNvPr id="131" name="t"/>
          <p:cNvSpPr txBox="1"/>
          <p:nvPr/>
        </p:nvSpPr>
        <p:spPr>
          <a:xfrm>
            <a:off x="3750000" y="228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해외송금 견적요청 1,820만원</a:t>
            </a:r>
          </a:p>
        </p:txBody>
      </p:sp>
      <p:sp>
        <p:nvSpPr>
          <p:cNvPr id="132" name="r"/>
          <p:cNvSpPr/>
          <p:nvPr/>
        </p:nvSpPr>
        <p:spPr>
          <a:xfrm>
            <a:off x="2160000" y="2580000"/>
            <a:ext cx="120000" cy="12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240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8C8C8C"/>
                </a:solidFill>
                <a:latin typeface="맑은 고딕"/>
              </a:rPr>
              <a:t>06-01 11:02</a:t>
            </a:r>
          </a:p>
        </p:txBody>
      </p:sp>
      <p:sp>
        <p:nvSpPr>
          <p:cNvPr id="134" name="t"/>
          <p:cNvSpPr txBox="1"/>
          <p:nvPr/>
        </p:nvSpPr>
        <p:spPr>
          <a:xfrm>
            <a:off x="3750000" y="255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FFA940"/>
                </a:solidFill>
                <a:latin typeface="맑은 고딕"/>
              </a:rPr>
              <a:t>재발방지 그룹 자동등록</a:t>
            </a:r>
          </a:p>
        </p:txBody>
      </p:sp>
      <p:sp>
        <p:nvSpPr>
          <p:cNvPr id="135" name="t"/>
          <p:cNvSpPr txBox="1"/>
          <p:nvPr/>
        </p:nvSpPr>
        <p:spPr>
          <a:xfrm>
            <a:off x="3750000" y="275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만료 2026-08-30</a:t>
            </a:r>
          </a:p>
        </p:txBody>
      </p:sp>
      <p:sp>
        <p:nvSpPr>
          <p:cNvPr id="136" name="r"/>
          <p:cNvSpPr/>
          <p:nvPr/>
        </p:nvSpPr>
        <p:spPr>
          <a:xfrm>
            <a:off x="2160000" y="3050000"/>
            <a:ext cx="120000" cy="12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2400000" y="302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8C8C8C"/>
                </a:solidFill>
                <a:latin typeface="맑은 고딕"/>
              </a:rPr>
              <a:t>05-30 09:14</a:t>
            </a:r>
          </a:p>
        </p:txBody>
      </p:sp>
      <p:sp>
        <p:nvSpPr>
          <p:cNvPr id="138" name="t"/>
          <p:cNvSpPr txBox="1"/>
          <p:nvPr/>
        </p:nvSpPr>
        <p:spPr>
          <a:xfrm>
            <a:off x="3750000" y="302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52C41A"/>
                </a:solidFill>
                <a:latin typeface="맑은 고딕"/>
              </a:rPr>
              <a:t>[07_해외] 모니터링 · 통과</a:t>
            </a:r>
          </a:p>
        </p:txBody>
      </p:sp>
      <p:sp>
        <p:nvSpPr>
          <p:cNvPr id="139" name="t"/>
          <p:cNvSpPr txBox="1"/>
          <p:nvPr/>
        </p:nvSpPr>
        <p:spPr>
          <a:xfrm>
            <a:off x="3750000" y="322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해외송금 견적요청</a:t>
            </a:r>
          </a:p>
        </p:txBody>
      </p:sp>
      <p:sp>
        <p:nvSpPr>
          <p:cNvPr id="140" name="r"/>
          <p:cNvSpPr/>
          <p:nvPr/>
        </p:nvSpPr>
        <p:spPr>
          <a:xfrm>
            <a:off x="2160000" y="3520000"/>
            <a:ext cx="120000" cy="12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2400000" y="349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8C8C8C"/>
                </a:solidFill>
                <a:latin typeface="맑은 고딕"/>
              </a:rPr>
              <a:t>05-28 13:20</a:t>
            </a:r>
          </a:p>
        </p:txBody>
      </p:sp>
      <p:sp>
        <p:nvSpPr>
          <p:cNvPr id="142" name="t"/>
          <p:cNvSpPr txBox="1"/>
          <p:nvPr/>
        </p:nvSpPr>
        <p:spPr>
          <a:xfrm>
            <a:off x="3750000" y="349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595959"/>
                </a:solidFill>
                <a:latin typeface="맑은 고딕"/>
              </a:rPr>
              <a:t>단말기 변경</a:t>
            </a:r>
          </a:p>
        </p:txBody>
      </p:sp>
      <p:sp>
        <p:nvSpPr>
          <p:cNvPr id="143" name="t"/>
          <p:cNvSpPr txBox="1"/>
          <p:nvPr/>
        </p:nvSpPr>
        <p:spPr>
          <a:xfrm>
            <a:off x="3750000" y="369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기기 정보 변경 감지</a:t>
            </a:r>
          </a:p>
        </p:txBody>
      </p:sp>
      <p:sp>
        <p:nvSpPr>
          <p:cNvPr id="144" name="r"/>
          <p:cNvSpPr/>
          <p:nvPr/>
        </p:nvSpPr>
        <p:spPr>
          <a:xfrm>
            <a:off x="2160000" y="3990000"/>
            <a:ext cx="120000" cy="12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2400000" y="39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8C8C8C"/>
                </a:solidFill>
                <a:latin typeface="맑은 고딕"/>
              </a:rPr>
              <a:t>05-27 10:05</a:t>
            </a:r>
          </a:p>
        </p:txBody>
      </p:sp>
      <p:sp>
        <p:nvSpPr>
          <p:cNvPr id="146" name="t"/>
          <p:cNvSpPr txBox="1"/>
          <p:nvPr/>
        </p:nvSpPr>
        <p:spPr>
          <a:xfrm>
            <a:off x="3750000" y="396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CTR 보고 생성</a:t>
            </a:r>
          </a:p>
        </p:txBody>
      </p:sp>
      <p:sp>
        <p:nvSpPr>
          <p:cNvPr id="147" name="t"/>
          <p:cNvSpPr txBox="1"/>
          <p:nvPr/>
        </p:nvSpPr>
        <p:spPr>
          <a:xfrm>
            <a:off x="3750000" y="4160000"/>
            <a:ext cx="4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50만 페소 · 기한 06-04 · [AML 보고]</a:t>
            </a:r>
          </a:p>
        </p:txBody>
      </p:sp>
      <p:sp>
        <p:nvSpPr>
          <p:cNvPr id="148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FDS-DEC-003</a:t>
            </a:r>
          </a:p>
        </p:txBody>
      </p:sp>
      <p:sp>
        <p:nvSpPr>
          <p:cNvPr id="150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권한</a:t>
            </a:r>
          </a:p>
        </p:txBody>
      </p:sp>
      <p:sp>
        <p:nvSpPr>
          <p:cNvPr id="152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회원 요약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KYC 단계·국적 표시 + 기간 선택(최근 30일 등)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990000" y="188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타임라인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거래·탐지·그룹등록·동결·보고를 시간순으로 통합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990000" y="231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사기 조사·고객대응·컴플라이언스 케이스에 활용</a:t>
            </a:r>
          </a:p>
        </p:txBody>
      </p:sp>
      <p:sp>
        <p:nvSpPr>
          <p:cNvPr id="155" name="t"/>
          <p:cNvSpPr txBox="1"/>
          <p:nvPr/>
        </p:nvSpPr>
        <p:spPr>
          <a:xfrm>
            <a:off x="8990000" y="274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각 항목에서 상세 화면으로 바로 이동</a:t>
            </a:r>
          </a:p>
        </p:txBody>
      </p:sp>
      <p:sp>
        <p:nvSpPr>
          <p:cNvPr id="156" name="t"/>
          <p:cNvSpPr txBox="1"/>
          <p:nvPr/>
        </p:nvSpPr>
        <p:spPr>
          <a:xfrm>
            <a:off x="8990000" y="318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누가 어떤 회원을 조회했는지 기록(감사)</a:t>
            </a:r>
          </a:p>
        </p:txBody>
      </p:sp>
      <p:sp>
        <p:nvSpPr>
          <p:cNvPr id="157" name="t"/>
          <p:cNvSpPr txBox="1"/>
          <p:nvPr/>
        </p:nvSpPr>
        <p:spPr>
          <a:xfrm>
            <a:off x="8990000" y="361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/admin/fds/members/{id}/timeline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FDS-SIM-001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시뮬레이션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시뮬레이션 (사전 검증)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5" name="r"/>
          <p:cNvSpPr/>
          <p:nvPr/>
        </p:nvSpPr>
        <p:spPr>
          <a:xfrm>
            <a:off x="100000" y="207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30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1" name="r"/>
          <p:cNvSpPr/>
          <p:nvPr/>
        </p:nvSpPr>
        <p:spPr>
          <a:xfrm>
            <a:off x="1950000" y="1700000"/>
            <a:ext cx="6850000" cy="64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"/>
          <p:cNvSpPr txBox="1"/>
          <p:nvPr/>
        </p:nvSpPr>
        <p:spPr>
          <a:xfrm>
            <a:off x="2070000" y="1760000"/>
            <a:ext cx="5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262626"/>
                </a:solidFill>
                <a:latin typeface="맑은 고딕"/>
              </a:rPr>
              <a:t>검증 대상 — [44_해외] v3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70000" y="1980000"/>
            <a:ext cx="15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595959"/>
                </a:solidFill>
                <a:latin typeface="맑은 고딕"/>
              </a:rPr>
              <a:t>방식</a:t>
            </a:r>
          </a:p>
        </p:txBody>
      </p:sp>
      <p:sp>
        <p:nvSpPr>
          <p:cNvPr id="124" name="r"/>
          <p:cNvSpPr/>
          <p:nvPr/>
        </p:nvSpPr>
        <p:spPr>
          <a:xfrm>
            <a:off x="2070000" y="2120000"/>
            <a:ext cx="1500000" cy="1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2130000" y="2150000"/>
            <a:ext cx="142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과거 거래 ▼</a:t>
            </a:r>
          </a:p>
        </p:txBody>
      </p:sp>
      <p:sp>
        <p:nvSpPr>
          <p:cNvPr id="126" name="t"/>
          <p:cNvSpPr txBox="1"/>
          <p:nvPr/>
        </p:nvSpPr>
        <p:spPr>
          <a:xfrm>
            <a:off x="3690000" y="1980000"/>
            <a:ext cx="15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595959"/>
                </a:solidFill>
                <a:latin typeface="맑은 고딕"/>
              </a:rPr>
              <a:t>시작일</a:t>
            </a:r>
          </a:p>
        </p:txBody>
      </p:sp>
      <p:sp>
        <p:nvSpPr>
          <p:cNvPr id="127" name="r"/>
          <p:cNvSpPr/>
          <p:nvPr/>
        </p:nvSpPr>
        <p:spPr>
          <a:xfrm>
            <a:off x="3690000" y="2120000"/>
            <a:ext cx="1500000" cy="1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"/>
          <p:cNvSpPr txBox="1"/>
          <p:nvPr/>
        </p:nvSpPr>
        <p:spPr>
          <a:xfrm>
            <a:off x="3750000" y="2150000"/>
            <a:ext cx="142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2026-04-01</a:t>
            </a:r>
          </a:p>
        </p:txBody>
      </p:sp>
      <p:sp>
        <p:nvSpPr>
          <p:cNvPr id="129" name="t"/>
          <p:cNvSpPr txBox="1"/>
          <p:nvPr/>
        </p:nvSpPr>
        <p:spPr>
          <a:xfrm>
            <a:off x="5310000" y="1980000"/>
            <a:ext cx="15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595959"/>
                </a:solidFill>
                <a:latin typeface="맑은 고딕"/>
              </a:rPr>
              <a:t>종료일</a:t>
            </a:r>
          </a:p>
        </p:txBody>
      </p:sp>
      <p:sp>
        <p:nvSpPr>
          <p:cNvPr id="130" name="r"/>
          <p:cNvSpPr/>
          <p:nvPr/>
        </p:nvSpPr>
        <p:spPr>
          <a:xfrm>
            <a:off x="5310000" y="2120000"/>
            <a:ext cx="1500000" cy="1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5370000" y="2150000"/>
            <a:ext cx="142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2026-04-30</a:t>
            </a:r>
          </a:p>
        </p:txBody>
      </p:sp>
      <p:sp>
        <p:nvSpPr>
          <p:cNvPr id="132" name="t"/>
          <p:cNvSpPr txBox="1"/>
          <p:nvPr/>
        </p:nvSpPr>
        <p:spPr>
          <a:xfrm>
            <a:off x="6930000" y="1980000"/>
            <a:ext cx="150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595959"/>
                </a:solidFill>
                <a:latin typeface="맑은 고딕"/>
              </a:rPr>
              <a:t>표본</a:t>
            </a:r>
          </a:p>
        </p:txBody>
      </p:sp>
      <p:sp>
        <p:nvSpPr>
          <p:cNvPr id="133" name="r"/>
          <p:cNvSpPr/>
          <p:nvPr/>
        </p:nvSpPr>
        <p:spPr>
          <a:xfrm>
            <a:off x="6930000" y="2120000"/>
            <a:ext cx="1500000" cy="1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"/>
          <p:cNvSpPr txBox="1"/>
          <p:nvPr/>
        </p:nvSpPr>
        <p:spPr>
          <a:xfrm>
            <a:off x="6990000" y="2150000"/>
            <a:ext cx="142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전체 ▼</a:t>
            </a:r>
          </a:p>
        </p:txBody>
      </p:sp>
      <p:sp>
        <p:nvSpPr>
          <p:cNvPr id="135" name="r"/>
          <p:cNvSpPr/>
          <p:nvPr/>
        </p:nvSpPr>
        <p:spPr>
          <a:xfrm>
            <a:off x="7720000" y="2120000"/>
            <a:ext cx="1040000" cy="20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"/>
          <p:cNvSpPr txBox="1"/>
          <p:nvPr/>
        </p:nvSpPr>
        <p:spPr>
          <a:xfrm>
            <a:off x="7720000" y="2170000"/>
            <a:ext cx="10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검증 실행</a:t>
            </a:r>
          </a:p>
        </p:txBody>
      </p:sp>
      <p:sp>
        <p:nvSpPr>
          <p:cNvPr id="137" name="r"/>
          <p:cNvSpPr/>
          <p:nvPr/>
        </p:nvSpPr>
        <p:spPr>
          <a:xfrm>
            <a:off x="1950000" y="2480000"/>
            <a:ext cx="6850000" cy="23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2070000" y="2550000"/>
            <a:ext cx="5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50" b="1">
                <a:solidFill>
                  <a:srgbClr val="52C41A"/>
                </a:solidFill>
                <a:latin typeface="맑은 고딕"/>
              </a:rPr>
              <a:t>검증 완료</a:t>
            </a:r>
          </a:p>
        </p:txBody>
      </p:sp>
      <p:sp>
        <p:nvSpPr>
          <p:cNvPr id="139" name="t"/>
          <p:cNvSpPr txBox="1"/>
          <p:nvPr/>
        </p:nvSpPr>
        <p:spPr>
          <a:xfrm>
            <a:off x="2100000" y="2800000"/>
            <a:ext cx="6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검토한 거래  1,234,567 건       탐지  482 건</a:t>
            </a:r>
          </a:p>
        </p:txBody>
      </p:sp>
      <p:sp>
        <p:nvSpPr>
          <p:cNvPr id="140" name="t"/>
          <p:cNvSpPr txBox="1"/>
          <p:nvPr/>
        </p:nvSpPr>
        <p:spPr>
          <a:xfrm>
            <a:off x="2100000" y="3120000"/>
            <a:ext cx="6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모니터링 320건  /  거래차단 162건</a:t>
            </a:r>
          </a:p>
        </p:txBody>
      </p:sp>
      <p:sp>
        <p:nvSpPr>
          <p:cNvPr id="141" name="t"/>
          <p:cNvSpPr txBox="1"/>
          <p:nvPr/>
        </p:nvSpPr>
        <p:spPr>
          <a:xfrm>
            <a:off x="2100000" y="3440000"/>
            <a:ext cx="6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현재 운영 룰 대비 :  412건 → 482건 (+70건)</a:t>
            </a:r>
          </a:p>
        </p:txBody>
      </p:sp>
      <p:sp>
        <p:nvSpPr>
          <p:cNvPr id="142" name="t"/>
          <p:cNvSpPr txBox="1"/>
          <p:nvPr/>
        </p:nvSpPr>
        <p:spPr>
          <a:xfrm>
            <a:off x="2100000" y="3760000"/>
            <a:ext cx="6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신규 탐지 95건  /  사라진 탐지 25건</a:t>
            </a:r>
          </a:p>
        </p:txBody>
      </p:sp>
      <p:sp>
        <p:nvSpPr>
          <p:cNvPr id="143" name="t"/>
          <p:cNvSpPr txBox="1"/>
          <p:nvPr/>
        </p:nvSpPr>
        <p:spPr>
          <a:xfrm>
            <a:off x="2100000" y="4080000"/>
            <a:ext cx="6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• 가장 많은 대상 : 우즈벡 회원 (210건)</a:t>
            </a:r>
          </a:p>
        </p:txBody>
      </p:sp>
      <p:sp>
        <p:nvSpPr>
          <p:cNvPr id="144" name="r"/>
          <p:cNvSpPr/>
          <p:nvPr/>
        </p:nvSpPr>
        <p:spPr>
          <a:xfrm>
            <a:off x="2100000" y="4480000"/>
            <a:ext cx="19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2100000" y="453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결과 리포트 내려받기</a:t>
            </a:r>
          </a:p>
        </p:txBody>
      </p:sp>
      <p:sp>
        <p:nvSpPr>
          <p:cNvPr id="146" name="r"/>
          <p:cNvSpPr/>
          <p:nvPr/>
        </p:nvSpPr>
        <p:spPr>
          <a:xfrm>
            <a:off x="4070000" y="4480000"/>
            <a:ext cx="1700000" cy="23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4070000" y="453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이 결과로 결재 요청</a:t>
            </a:r>
          </a:p>
        </p:txBody>
      </p:sp>
      <p:sp>
        <p:nvSpPr>
          <p:cNvPr id="148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FDS-SIM-001</a:t>
            </a:r>
          </a:p>
        </p:txBody>
      </p:sp>
      <p:sp>
        <p:nvSpPr>
          <p:cNvPr id="150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작성 권한</a:t>
            </a:r>
          </a:p>
        </p:txBody>
      </p:sp>
      <p:sp>
        <p:nvSpPr>
          <p:cNvPr id="152" name="t"/>
          <p:cNvSpPr txBox="1"/>
          <p:nvPr/>
        </p:nvSpPr>
        <p:spPr>
          <a:xfrm>
            <a:off x="8990000" y="14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입력 항목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방식(과거 거래) · 시작일 · 종료일 · 표본 → [검증 실행]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990000" y="205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결과 항목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검토 거래 수 · 탐지 수 · 동작별 · 현재 룰 대비 증감 · 주요 대상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990000" y="265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[결과 리포트 내려받기] · [이 결과로 결재 요청]</a:t>
            </a:r>
          </a:p>
        </p:txBody>
      </p:sp>
      <p:sp>
        <p:nvSpPr>
          <p:cNvPr id="155" name="t"/>
          <p:cNvSpPr txBox="1"/>
          <p:nvPr/>
        </p:nvSpPr>
        <p:spPr>
          <a:xfrm>
            <a:off x="8990000" y="308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과거 거래에 적용한 모의 검증 — 실제 차단·조치 없음</a:t>
            </a:r>
          </a:p>
        </p:txBody>
      </p:sp>
      <p:sp>
        <p:nvSpPr>
          <p:cNvPr id="156" name="t"/>
          <p:cNvSpPr txBox="1"/>
          <p:nvPr/>
        </p:nvSpPr>
        <p:spPr>
          <a:xfrm>
            <a:off x="8990000" y="352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조회 기간이 너무 넓으면(약 90일/2억건 초과) 제한 안내</a:t>
            </a:r>
          </a:p>
        </p:txBody>
      </p:sp>
      <p:sp>
        <p:nvSpPr>
          <p:cNvPr id="157" name="t"/>
          <p:cNvSpPr txBox="1"/>
          <p:nvPr/>
        </p:nvSpPr>
        <p:spPr>
          <a:xfrm>
            <a:off x="8990000" y="39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POST .../simulate · GET .../simulations/{id}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FDS-AML-001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AML 보고 &gt; 큐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AML 보고 큐 (CTR/STR)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6" name="r"/>
          <p:cNvSpPr/>
          <p:nvPr/>
        </p:nvSpPr>
        <p:spPr>
          <a:xfrm>
            <a:off x="100000" y="230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AML 보고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5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보고 큐 ◀</a:t>
            </a:r>
          </a:p>
        </p:txBody>
      </p:sp>
      <p:sp>
        <p:nvSpPr>
          <p:cNvPr id="119" name="t"/>
          <p:cNvSpPr txBox="1"/>
          <p:nvPr/>
        </p:nvSpPr>
        <p:spPr>
          <a:xfrm>
            <a:off x="360000" y="27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CTR 기준값</a:t>
            </a:r>
          </a:p>
        </p:txBody>
      </p:sp>
      <p:sp>
        <p:nvSpPr>
          <p:cNvPr id="120" name="t"/>
          <p:cNvSpPr txBox="1"/>
          <p:nvPr/>
        </p:nvSpPr>
        <p:spPr>
          <a:xfrm>
            <a:off x="360000" y="29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STR 사유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950000" y="1640000"/>
            <a:ext cx="6850000" cy="4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20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보고 유형</a:t>
            </a:r>
          </a:p>
        </p:txBody>
      </p:sp>
      <p:sp>
        <p:nvSpPr>
          <p:cNvPr id="126" name="r"/>
          <p:cNvSpPr/>
          <p:nvPr/>
        </p:nvSpPr>
        <p:spPr>
          <a:xfrm>
            <a:off x="20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21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CTR ▼</a:t>
            </a:r>
          </a:p>
        </p:txBody>
      </p:sp>
      <p:sp>
        <p:nvSpPr>
          <p:cNvPr id="128" name="t"/>
          <p:cNvSpPr txBox="1"/>
          <p:nvPr/>
        </p:nvSpPr>
        <p:spPr>
          <a:xfrm>
            <a:off x="36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상태</a:t>
            </a:r>
          </a:p>
        </p:txBody>
      </p:sp>
      <p:sp>
        <p:nvSpPr>
          <p:cNvPr id="129" name="r"/>
          <p:cNvSpPr/>
          <p:nvPr/>
        </p:nvSpPr>
        <p:spPr>
          <a:xfrm>
            <a:off x="36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"/>
          <p:cNvSpPr txBox="1"/>
          <p:nvPr/>
        </p:nvSpPr>
        <p:spPr>
          <a:xfrm>
            <a:off x="37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검토중 ▼ (6종)</a:t>
            </a:r>
          </a:p>
        </p:txBody>
      </p:sp>
      <p:sp>
        <p:nvSpPr>
          <p:cNvPr id="131" name="t"/>
          <p:cNvSpPr txBox="1"/>
          <p:nvPr/>
        </p:nvSpPr>
        <p:spPr>
          <a:xfrm>
            <a:off x="52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기한 이전</a:t>
            </a:r>
          </a:p>
        </p:txBody>
      </p:sp>
      <p:sp>
        <p:nvSpPr>
          <p:cNvPr id="132" name="r"/>
          <p:cNvSpPr/>
          <p:nvPr/>
        </p:nvSpPr>
        <p:spPr>
          <a:xfrm>
            <a:off x="52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53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2026-07-10</a:t>
            </a:r>
          </a:p>
        </p:txBody>
      </p:sp>
      <p:sp>
        <p:nvSpPr>
          <p:cNvPr id="134" name="t"/>
          <p:cNvSpPr txBox="1"/>
          <p:nvPr/>
        </p:nvSpPr>
        <p:spPr>
          <a:xfrm>
            <a:off x="68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35" name="r"/>
          <p:cNvSpPr/>
          <p:nvPr/>
        </p:nvSpPr>
        <p:spPr>
          <a:xfrm>
            <a:off x="68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"/>
          <p:cNvSpPr txBox="1"/>
          <p:nvPr/>
        </p:nvSpPr>
        <p:spPr>
          <a:xfrm>
            <a:off x="69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mem_...</a:t>
            </a:r>
          </a:p>
        </p:txBody>
      </p:sp>
      <p:sp>
        <p:nvSpPr>
          <p:cNvPr id="137" name="r"/>
          <p:cNvSpPr/>
          <p:nvPr/>
        </p:nvSpPr>
        <p:spPr>
          <a:xfrm>
            <a:off x="7720000" y="1840000"/>
            <a:ext cx="5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"/>
          <p:cNvSpPr txBox="1"/>
          <p:nvPr/>
        </p:nvSpPr>
        <p:spPr>
          <a:xfrm>
            <a:off x="772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초기화</a:t>
            </a:r>
          </a:p>
        </p:txBody>
      </p:sp>
      <p:sp>
        <p:nvSpPr>
          <p:cNvPr id="139" name="r"/>
          <p:cNvSpPr/>
          <p:nvPr/>
        </p:nvSpPr>
        <p:spPr>
          <a:xfrm>
            <a:off x="8260000" y="1840000"/>
            <a:ext cx="500000" cy="20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"/>
          <p:cNvSpPr txBox="1"/>
          <p:nvPr/>
        </p:nvSpPr>
        <p:spPr>
          <a:xfrm>
            <a:off x="826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141" name="r"/>
          <p:cNvSpPr/>
          <p:nvPr/>
        </p:nvSpPr>
        <p:spPr>
          <a:xfrm>
            <a:off x="1950000" y="22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"/>
          <p:cNvSpPr txBox="1"/>
          <p:nvPr/>
        </p:nvSpPr>
        <p:spPr>
          <a:xfrm>
            <a:off x="195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보고 번호</a:t>
            </a:r>
          </a:p>
        </p:txBody>
      </p:sp>
      <p:sp>
        <p:nvSpPr>
          <p:cNvPr id="143" name="t"/>
          <p:cNvSpPr txBox="1"/>
          <p:nvPr/>
        </p:nvSpPr>
        <p:spPr>
          <a:xfrm>
            <a:off x="3300000" y="226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유형</a:t>
            </a:r>
          </a:p>
        </p:txBody>
      </p:sp>
      <p:sp>
        <p:nvSpPr>
          <p:cNvPr id="144" name="t"/>
          <p:cNvSpPr txBox="1"/>
          <p:nvPr/>
        </p:nvSpPr>
        <p:spPr>
          <a:xfrm>
            <a:off x="4000000" y="226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45" name="t"/>
          <p:cNvSpPr txBox="1"/>
          <p:nvPr/>
        </p:nvSpPr>
        <p:spPr>
          <a:xfrm>
            <a:off x="525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1">
                <a:solidFill>
                  <a:srgbClr val="262626"/>
                </a:solidFill>
                <a:latin typeface="맑은 고딕"/>
              </a:rPr>
              <a:t>금액(페소)</a:t>
            </a:r>
          </a:p>
        </p:txBody>
      </p:sp>
      <p:sp>
        <p:nvSpPr>
          <p:cNvPr id="146" name="t"/>
          <p:cNvSpPr txBox="1"/>
          <p:nvPr/>
        </p:nvSpPr>
        <p:spPr>
          <a:xfrm>
            <a:off x="665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탐지 룰</a:t>
            </a:r>
          </a:p>
        </p:txBody>
      </p:sp>
      <p:sp>
        <p:nvSpPr>
          <p:cNvPr id="147" name="t"/>
          <p:cNvSpPr txBox="1"/>
          <p:nvPr/>
        </p:nvSpPr>
        <p:spPr>
          <a:xfrm>
            <a:off x="8000000" y="226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상태</a:t>
            </a:r>
          </a:p>
        </p:txBody>
      </p:sp>
      <p:sp>
        <p:nvSpPr>
          <p:cNvPr id="148" name="r"/>
          <p:cNvSpPr/>
          <p:nvPr/>
        </p:nvSpPr>
        <p:spPr>
          <a:xfrm>
            <a:off x="1950000" y="246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195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aml_rep_01..</a:t>
            </a:r>
          </a:p>
        </p:txBody>
      </p:sp>
      <p:sp>
        <p:nvSpPr>
          <p:cNvPr id="150" name="t"/>
          <p:cNvSpPr txBox="1"/>
          <p:nvPr/>
        </p:nvSpPr>
        <p:spPr>
          <a:xfrm>
            <a:off x="3300000" y="255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CTR</a:t>
            </a:r>
          </a:p>
        </p:txBody>
      </p:sp>
      <p:sp>
        <p:nvSpPr>
          <p:cNvPr id="151" name="t"/>
          <p:cNvSpPr txBox="1"/>
          <p:nvPr/>
        </p:nvSpPr>
        <p:spPr>
          <a:xfrm>
            <a:off x="4000000" y="255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mem_xxx</a:t>
            </a:r>
          </a:p>
        </p:txBody>
      </p:sp>
      <p:sp>
        <p:nvSpPr>
          <p:cNvPr id="152" name="t"/>
          <p:cNvSpPr txBox="1"/>
          <p:nvPr/>
        </p:nvSpPr>
        <p:spPr>
          <a:xfrm>
            <a:off x="525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520,000</a:t>
            </a:r>
          </a:p>
        </p:txBody>
      </p:sp>
      <p:sp>
        <p:nvSpPr>
          <p:cNvPr id="153" name="t"/>
          <p:cNvSpPr txBox="1"/>
          <p:nvPr/>
        </p:nvSpPr>
        <p:spPr>
          <a:xfrm>
            <a:off x="665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[CTR_DAILY]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000000" y="255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검토중</a:t>
            </a:r>
          </a:p>
        </p:txBody>
      </p:sp>
      <p:sp>
        <p:nvSpPr>
          <p:cNvPr id="155" name="r"/>
          <p:cNvSpPr/>
          <p:nvPr/>
        </p:nvSpPr>
        <p:spPr>
          <a:xfrm>
            <a:off x="1950000" y="279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"/>
          <p:cNvSpPr txBox="1"/>
          <p:nvPr/>
        </p:nvSpPr>
        <p:spPr>
          <a:xfrm>
            <a:off x="195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aml_rep_02..</a:t>
            </a:r>
          </a:p>
        </p:txBody>
      </p:sp>
      <p:sp>
        <p:nvSpPr>
          <p:cNvPr id="157" name="t"/>
          <p:cNvSpPr txBox="1"/>
          <p:nvPr/>
        </p:nvSpPr>
        <p:spPr>
          <a:xfrm>
            <a:off x="3300000" y="288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STR</a:t>
            </a:r>
          </a:p>
        </p:txBody>
      </p:sp>
      <p:sp>
        <p:nvSpPr>
          <p:cNvPr id="158" name="t"/>
          <p:cNvSpPr txBox="1"/>
          <p:nvPr/>
        </p:nvSpPr>
        <p:spPr>
          <a:xfrm>
            <a:off x="4000000" y="288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mem_yyy</a:t>
            </a:r>
          </a:p>
        </p:txBody>
      </p:sp>
      <p:sp>
        <p:nvSpPr>
          <p:cNvPr id="159" name="t"/>
          <p:cNvSpPr txBox="1"/>
          <p:nvPr/>
        </p:nvSpPr>
        <p:spPr>
          <a:xfrm>
            <a:off x="525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60" name="t"/>
          <p:cNvSpPr txBox="1"/>
          <p:nvPr/>
        </p:nvSpPr>
        <p:spPr>
          <a:xfrm>
            <a:off x="665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[STR_KYC]</a:t>
            </a:r>
          </a:p>
        </p:txBody>
      </p:sp>
      <p:sp>
        <p:nvSpPr>
          <p:cNvPr id="161" name="t"/>
          <p:cNvSpPr txBox="1"/>
          <p:nvPr/>
        </p:nvSpPr>
        <p:spPr>
          <a:xfrm>
            <a:off x="8000000" y="288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검토중</a:t>
            </a:r>
          </a:p>
        </p:txBody>
      </p:sp>
      <p:sp>
        <p:nvSpPr>
          <p:cNvPr id="162" name="r"/>
          <p:cNvSpPr/>
          <p:nvPr/>
        </p:nvSpPr>
        <p:spPr>
          <a:xfrm>
            <a:off x="1950000" y="312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195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aml_rep_03..</a:t>
            </a:r>
          </a:p>
        </p:txBody>
      </p:sp>
      <p:sp>
        <p:nvSpPr>
          <p:cNvPr id="164" name="t"/>
          <p:cNvSpPr txBox="1"/>
          <p:nvPr/>
        </p:nvSpPr>
        <p:spPr>
          <a:xfrm>
            <a:off x="3300000" y="321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CTR</a:t>
            </a:r>
          </a:p>
        </p:txBody>
      </p:sp>
      <p:sp>
        <p:nvSpPr>
          <p:cNvPr id="165" name="t"/>
          <p:cNvSpPr txBox="1"/>
          <p:nvPr/>
        </p:nvSpPr>
        <p:spPr>
          <a:xfrm>
            <a:off x="4000000" y="321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mem_zzz</a:t>
            </a:r>
          </a:p>
        </p:txBody>
      </p:sp>
      <p:sp>
        <p:nvSpPr>
          <p:cNvPr id="166" name="t"/>
          <p:cNvSpPr txBox="1"/>
          <p:nvPr/>
        </p:nvSpPr>
        <p:spPr>
          <a:xfrm>
            <a:off x="525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1,020,000</a:t>
            </a:r>
          </a:p>
        </p:txBody>
      </p:sp>
      <p:sp>
        <p:nvSpPr>
          <p:cNvPr id="167" name="t"/>
          <p:cNvSpPr txBox="1"/>
          <p:nvPr/>
        </p:nvSpPr>
        <p:spPr>
          <a:xfrm>
            <a:off x="665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[CTR_SINGLE]</a:t>
            </a:r>
          </a:p>
        </p:txBody>
      </p:sp>
      <p:sp>
        <p:nvSpPr>
          <p:cNvPr id="168" name="t"/>
          <p:cNvSpPr txBox="1"/>
          <p:nvPr/>
        </p:nvSpPr>
        <p:spPr>
          <a:xfrm>
            <a:off x="8000000" y="3210000"/>
            <a:ext cx="7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작성</a:t>
            </a:r>
          </a:p>
        </p:txBody>
      </p:sp>
      <p:sp>
        <p:nvSpPr>
          <p:cNvPr id="169" name="t"/>
          <p:cNvSpPr txBox="1"/>
          <p:nvPr/>
        </p:nvSpPr>
        <p:spPr>
          <a:xfrm>
            <a:off x="1950000" y="3530000"/>
            <a:ext cx="3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◀  1  2  3  …  ▶</a:t>
            </a:r>
          </a:p>
        </p:txBody>
      </p:sp>
      <p:sp>
        <p:nvSpPr>
          <p:cNvPr id="170" name="t"/>
          <p:cNvSpPr txBox="1"/>
          <p:nvPr/>
        </p:nvSpPr>
        <p:spPr>
          <a:xfrm>
            <a:off x="6400000" y="353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0">
                <a:solidFill>
                  <a:srgbClr val="8C8C8C"/>
                </a:solidFill>
                <a:latin typeface="맑은 고딕"/>
              </a:rPr>
              <a:t>기한 5영업일 내 12건</a:t>
            </a:r>
          </a:p>
        </p:txBody>
      </p:sp>
      <p:sp>
        <p:nvSpPr>
          <p:cNvPr id="171" name="r"/>
          <p:cNvSpPr/>
          <p:nvPr/>
        </p:nvSpPr>
        <p:spPr>
          <a:xfrm>
            <a:off x="1950000" y="3810000"/>
            <a:ext cx="6850000" cy="152000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"/>
          <p:cNvSpPr txBox="1"/>
          <p:nvPr/>
        </p:nvSpPr>
        <p:spPr>
          <a:xfrm>
            <a:off x="2070000" y="3900000"/>
            <a:ext cx="661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보고 유형 안내</a:t>
            </a:r>
          </a:p>
        </p:txBody>
      </p:sp>
      <p:sp>
        <p:nvSpPr>
          <p:cNvPr id="173" name="r"/>
          <p:cNvSpPr/>
          <p:nvPr/>
        </p:nvSpPr>
        <p:spPr>
          <a:xfrm>
            <a:off x="2100000" y="4180000"/>
            <a:ext cx="560000" cy="23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"/>
          <p:cNvSpPr txBox="1"/>
          <p:nvPr/>
        </p:nvSpPr>
        <p:spPr>
          <a:xfrm>
            <a:off x="2100000" y="4225000"/>
            <a:ext cx="5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60" b="1">
                <a:solidFill>
                  <a:srgbClr val="FFFFFF"/>
                </a:solidFill>
                <a:latin typeface="맑은 고딕"/>
              </a:rPr>
              <a:t>CTR</a:t>
            </a:r>
          </a:p>
        </p:txBody>
      </p:sp>
      <p:sp>
        <p:nvSpPr>
          <p:cNvPr id="175" name="t"/>
          <p:cNvSpPr txBox="1"/>
          <p:nvPr/>
        </p:nvSpPr>
        <p:spPr>
          <a:xfrm>
            <a:off x="2770000" y="4180000"/>
            <a:ext cx="58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262626"/>
                </a:solidFill>
                <a:latin typeface="맑은 고딕"/>
              </a:rPr>
              <a:t>고액 현금성 거래 보고</a:t>
            </a:r>
          </a:p>
        </p:txBody>
      </p:sp>
      <p:sp>
        <p:nvSpPr>
          <p:cNvPr id="176" name="t"/>
          <p:cNvSpPr txBox="1"/>
          <p:nvPr/>
        </p:nvSpPr>
        <p:spPr>
          <a:xfrm>
            <a:off x="2770000" y="4360000"/>
            <a:ext cx="58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기준 금액 이상이면 거래가 정상이어도 규제기관에 의무 보고 (금액 기준 자동 판정)</a:t>
            </a:r>
          </a:p>
        </p:txBody>
      </p:sp>
      <p:sp>
        <p:nvSpPr>
          <p:cNvPr id="177" name="r"/>
          <p:cNvSpPr/>
          <p:nvPr/>
        </p:nvSpPr>
        <p:spPr>
          <a:xfrm>
            <a:off x="2100000" y="4630000"/>
            <a:ext cx="560000" cy="230000"/>
          </a:xfrm>
          <a:prstGeom prst="roundRect">
            <a:avLst/>
          </a:prstGeom>
          <a:solidFill>
            <a:srgbClr val="FF4D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"/>
          <p:cNvSpPr txBox="1"/>
          <p:nvPr/>
        </p:nvSpPr>
        <p:spPr>
          <a:xfrm>
            <a:off x="2100000" y="4675000"/>
            <a:ext cx="5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60" b="1">
                <a:solidFill>
                  <a:srgbClr val="FFFFFF"/>
                </a:solidFill>
                <a:latin typeface="맑은 고딕"/>
              </a:rPr>
              <a:t>STR</a:t>
            </a:r>
          </a:p>
        </p:txBody>
      </p:sp>
      <p:sp>
        <p:nvSpPr>
          <p:cNvPr id="179" name="t"/>
          <p:cNvSpPr txBox="1"/>
          <p:nvPr/>
        </p:nvSpPr>
        <p:spPr>
          <a:xfrm>
            <a:off x="2770000" y="4630000"/>
            <a:ext cx="58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262626"/>
                </a:solidFill>
                <a:latin typeface="맑은 고딕"/>
              </a:rPr>
              <a:t>의심 거래 보고</a:t>
            </a:r>
          </a:p>
        </p:txBody>
      </p:sp>
      <p:sp>
        <p:nvSpPr>
          <p:cNvPr id="180" name="t"/>
          <p:cNvSpPr txBox="1"/>
          <p:nvPr/>
        </p:nvSpPr>
        <p:spPr>
          <a:xfrm>
            <a:off x="2770000" y="4810000"/>
            <a:ext cx="58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금액과 무관 — 소득 대비 과다·분할 거래·제3자 자금 등 의심 정황 시 보고 (사유 기준)</a:t>
            </a:r>
          </a:p>
        </p:txBody>
      </p:sp>
      <p:sp>
        <p:nvSpPr>
          <p:cNvPr id="181" name="t"/>
          <p:cNvSpPr txBox="1"/>
          <p:nvPr/>
        </p:nvSpPr>
        <p:spPr>
          <a:xfrm>
            <a:off x="2100000" y="5060000"/>
            <a:ext cx="65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※ PEP·제재대상 명단 스크리닝은 회원 KYC 단계의 AML 워치리스트 필터링(WLF)에서 처리</a:t>
            </a:r>
          </a:p>
        </p:txBody>
      </p:sp>
      <p:sp>
        <p:nvSpPr>
          <p:cNvPr id="182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FDS-AML-001</a:t>
            </a:r>
          </a:p>
        </p:txBody>
      </p:sp>
      <p:sp>
        <p:nvSpPr>
          <p:cNvPr id="184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/ 검토 권한</a:t>
            </a:r>
          </a:p>
        </p:txBody>
      </p:sp>
      <p:sp>
        <p:nvSpPr>
          <p:cNvPr id="186" name="t"/>
          <p:cNvSpPr txBox="1"/>
          <p:nvPr/>
        </p:nvSpPr>
        <p:spPr>
          <a:xfrm>
            <a:off x="8990000" y="14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CTR (고액거래보고)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기준 금액 이상 거래는 정상이어도 의무 보고 — 금액 기준 자동</a:t>
            </a:r>
          </a:p>
        </p:txBody>
      </p:sp>
      <p:sp>
        <p:nvSpPr>
          <p:cNvPr id="187" name="t"/>
          <p:cNvSpPr txBox="1"/>
          <p:nvPr/>
        </p:nvSpPr>
        <p:spPr>
          <a:xfrm>
            <a:off x="8990000" y="205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STR (의심거래보고)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금액 무관, 의심 정황(소득 불일치·분할·제3자 자금) 시 보고</a:t>
            </a:r>
          </a:p>
        </p:txBody>
      </p:sp>
      <p:sp>
        <p:nvSpPr>
          <p:cNvPr id="188" name="t"/>
          <p:cNvSpPr txBox="1"/>
          <p:nvPr/>
        </p:nvSpPr>
        <p:spPr>
          <a:xfrm>
            <a:off x="8990000" y="265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검색 조건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보고 유형(CTR/STR) · 상태 · 기한 이전 · 회원</a:t>
            </a:r>
          </a:p>
        </p:txBody>
      </p:sp>
      <p:sp>
        <p:nvSpPr>
          <p:cNvPr id="189" name="t"/>
          <p:cNvSpPr txBox="1"/>
          <p:nvPr/>
        </p:nvSpPr>
        <p:spPr>
          <a:xfrm>
            <a:off x="8990000" y="308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보고 번호 · 유형 · 회원 · 금액 · 탐지 룰 · 상태</a:t>
            </a:r>
          </a:p>
        </p:txBody>
      </p:sp>
      <p:sp>
        <p:nvSpPr>
          <p:cNvPr id="190" name="t"/>
          <p:cNvSpPr txBox="1"/>
          <p:nvPr/>
        </p:nvSpPr>
        <p:spPr>
          <a:xfrm>
            <a:off x="8990000" y="352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기한 임박(24시간)·초과 건수 상단 요약 + 색상 강조·책임자 알림</a:t>
            </a:r>
          </a:p>
        </p:txBody>
      </p:sp>
      <p:sp>
        <p:nvSpPr>
          <p:cNvPr id="191" name="t"/>
          <p:cNvSpPr txBox="1"/>
          <p:nvPr/>
        </p:nvSpPr>
        <p:spPr>
          <a:xfrm>
            <a:off x="8990000" y="39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CTR·STR 모두 5영업일 내 규제기관(AMLC) 제출, 2인 결재 (상세 16p)</a:t>
            </a:r>
          </a:p>
        </p:txBody>
      </p:sp>
      <p:sp>
        <p:nvSpPr>
          <p:cNvPr id="192" name="t"/>
          <p:cNvSpPr txBox="1"/>
          <p:nvPr/>
        </p:nvSpPr>
        <p:spPr>
          <a:xfrm>
            <a:off x="8990000" y="455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PEP·제재대상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명단 스크리닝은 회원 KYC의 AML 워치리스트 필터링(WLF) 소관 — STR 제외</a:t>
            </a:r>
          </a:p>
        </p:txBody>
      </p:sp>
      <p:sp>
        <p:nvSpPr>
          <p:cNvPr id="193" name="t"/>
          <p:cNvSpPr txBox="1"/>
          <p:nvPr/>
        </p:nvSpPr>
        <p:spPr>
          <a:xfrm>
            <a:off x="8990000" y="5156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/admin/fds/aml/reports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FDS-AML-002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AML 보고 &gt; 상세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AML 보고 상세 · 결재 (2인 결재)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6" name="r"/>
          <p:cNvSpPr/>
          <p:nvPr/>
        </p:nvSpPr>
        <p:spPr>
          <a:xfrm>
            <a:off x="100000" y="230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AML 보고</a:t>
            </a:r>
          </a:p>
        </p:txBody>
      </p:sp>
      <p:sp>
        <p:nvSpPr>
          <p:cNvPr id="118" name="t"/>
          <p:cNvSpPr txBox="1"/>
          <p:nvPr/>
        </p:nvSpPr>
        <p:spPr>
          <a:xfrm>
            <a:off x="360000" y="25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보고 큐 ◀</a:t>
            </a:r>
          </a:p>
        </p:txBody>
      </p:sp>
      <p:sp>
        <p:nvSpPr>
          <p:cNvPr id="119" name="t"/>
          <p:cNvSpPr txBox="1"/>
          <p:nvPr/>
        </p:nvSpPr>
        <p:spPr>
          <a:xfrm>
            <a:off x="360000" y="27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CTR 기준값</a:t>
            </a:r>
          </a:p>
        </p:txBody>
      </p:sp>
      <p:sp>
        <p:nvSpPr>
          <p:cNvPr id="120" name="t"/>
          <p:cNvSpPr txBox="1"/>
          <p:nvPr/>
        </p:nvSpPr>
        <p:spPr>
          <a:xfrm>
            <a:off x="360000" y="29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STR 사유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4" name="r"/>
          <p:cNvSpPr/>
          <p:nvPr/>
        </p:nvSpPr>
        <p:spPr>
          <a:xfrm>
            <a:off x="1950000" y="200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"/>
          <p:cNvSpPr txBox="1"/>
          <p:nvPr/>
        </p:nvSpPr>
        <p:spPr>
          <a:xfrm>
            <a:off x="2020000" y="209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보고</a:t>
            </a:r>
          </a:p>
        </p:txBody>
      </p:sp>
      <p:sp>
        <p:nvSpPr>
          <p:cNvPr id="126" name="r"/>
          <p:cNvSpPr/>
          <p:nvPr/>
        </p:nvSpPr>
        <p:spPr>
          <a:xfrm>
            <a:off x="3650000" y="200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3730000" y="209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FFA940"/>
                </a:solidFill>
                <a:latin typeface="맑은 고딕"/>
              </a:rPr>
              <a:t>CTR aml_rep_01...  ·  상태 : 검토 중</a:t>
            </a:r>
          </a:p>
        </p:txBody>
      </p:sp>
      <p:sp>
        <p:nvSpPr>
          <p:cNvPr id="128" name="r"/>
          <p:cNvSpPr/>
          <p:nvPr/>
        </p:nvSpPr>
        <p:spPr>
          <a:xfrm>
            <a:off x="1950000" y="235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2020000" y="244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제출 기한</a:t>
            </a:r>
          </a:p>
        </p:txBody>
      </p:sp>
      <p:sp>
        <p:nvSpPr>
          <p:cNvPr id="130" name="r"/>
          <p:cNvSpPr/>
          <p:nvPr/>
        </p:nvSpPr>
        <p:spPr>
          <a:xfrm>
            <a:off x="3650000" y="235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"/>
          <p:cNvSpPr txBox="1"/>
          <p:nvPr/>
        </p:nvSpPr>
        <p:spPr>
          <a:xfrm>
            <a:off x="3730000" y="244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FFA940"/>
                </a:solidFill>
                <a:latin typeface="맑은 고딕"/>
              </a:rPr>
              <a:t>2026-07-10 17:00 (현지) · 다음 5영업일</a:t>
            </a:r>
          </a:p>
        </p:txBody>
      </p:sp>
      <p:sp>
        <p:nvSpPr>
          <p:cNvPr id="132" name="r"/>
          <p:cNvSpPr/>
          <p:nvPr/>
        </p:nvSpPr>
        <p:spPr>
          <a:xfrm>
            <a:off x="1950000" y="270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2020000" y="279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회원</a:t>
            </a:r>
          </a:p>
        </p:txBody>
      </p:sp>
      <p:sp>
        <p:nvSpPr>
          <p:cNvPr id="134" name="r"/>
          <p:cNvSpPr/>
          <p:nvPr/>
        </p:nvSpPr>
        <p:spPr>
          <a:xfrm>
            <a:off x="3650000" y="270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3730000" y="279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mem_xxx · KYC 2단계 · 실명/주소</a:t>
            </a:r>
          </a:p>
        </p:txBody>
      </p:sp>
      <p:sp>
        <p:nvSpPr>
          <p:cNvPr id="136" name="r"/>
          <p:cNvSpPr/>
          <p:nvPr/>
        </p:nvSpPr>
        <p:spPr>
          <a:xfrm>
            <a:off x="1950000" y="305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2020000" y="314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금액</a:t>
            </a:r>
          </a:p>
        </p:txBody>
      </p:sp>
      <p:sp>
        <p:nvSpPr>
          <p:cNvPr id="138" name="r"/>
          <p:cNvSpPr/>
          <p:nvPr/>
        </p:nvSpPr>
        <p:spPr>
          <a:xfrm>
            <a:off x="3650000" y="305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3730000" y="314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50만 페소 (원거래 원화 환산 · 거래 시점 환율 고정)</a:t>
            </a:r>
          </a:p>
        </p:txBody>
      </p:sp>
      <p:sp>
        <p:nvSpPr>
          <p:cNvPr id="140" name="r"/>
          <p:cNvSpPr/>
          <p:nvPr/>
        </p:nvSpPr>
        <p:spPr>
          <a:xfrm>
            <a:off x="1950000" y="340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2020000" y="349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탐지 / 거래</a:t>
            </a:r>
          </a:p>
        </p:txBody>
      </p:sp>
      <p:sp>
        <p:nvSpPr>
          <p:cNvPr id="142" name="r"/>
          <p:cNvSpPr/>
          <p:nvPr/>
        </p:nvSpPr>
        <p:spPr>
          <a:xfrm>
            <a:off x="3650000" y="340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"/>
          <p:cNvSpPr txBox="1"/>
          <p:nvPr/>
        </p:nvSpPr>
        <p:spPr>
          <a:xfrm>
            <a:off x="3730000" y="349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[CTR_DAILY] · 송금 remit_77f0, 충전 wallet_chg_88a1</a:t>
            </a:r>
          </a:p>
        </p:txBody>
      </p:sp>
      <p:sp>
        <p:nvSpPr>
          <p:cNvPr id="144" name="r"/>
          <p:cNvSpPr/>
          <p:nvPr/>
        </p:nvSpPr>
        <p:spPr>
          <a:xfrm>
            <a:off x="1950000" y="375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2020000" y="384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근거</a:t>
            </a:r>
          </a:p>
        </p:txBody>
      </p:sp>
      <p:sp>
        <p:nvSpPr>
          <p:cNvPr id="146" name="r"/>
          <p:cNvSpPr/>
          <p:nvPr/>
        </p:nvSpPr>
        <p:spPr>
          <a:xfrm>
            <a:off x="3650000" y="375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3730000" y="384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영업일 누계 52만 페소 ≥ 기준 50만 페소</a:t>
            </a:r>
          </a:p>
        </p:txBody>
      </p:sp>
      <p:sp>
        <p:nvSpPr>
          <p:cNvPr id="148" name="r"/>
          <p:cNvSpPr/>
          <p:nvPr/>
        </p:nvSpPr>
        <p:spPr>
          <a:xfrm>
            <a:off x="1950000" y="4100000"/>
            <a:ext cx="1700000" cy="3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"/>
          <p:cNvSpPr txBox="1"/>
          <p:nvPr/>
        </p:nvSpPr>
        <p:spPr>
          <a:xfrm>
            <a:off x="2020000" y="4190000"/>
            <a:ext cx="158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595959"/>
                </a:solidFill>
                <a:latin typeface="맑은 고딕"/>
              </a:rPr>
              <a:t>검토 기록</a:t>
            </a:r>
          </a:p>
        </p:txBody>
      </p:sp>
      <p:sp>
        <p:nvSpPr>
          <p:cNvPr id="150" name="r"/>
          <p:cNvSpPr/>
          <p:nvPr/>
        </p:nvSpPr>
        <p:spPr>
          <a:xfrm>
            <a:off x="3650000" y="4100000"/>
            <a:ext cx="5150000" cy="3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3730000" y="4190000"/>
            <a:ext cx="500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07-03 author.a · ‘거래 정상 — KYC 일치’</a:t>
            </a:r>
          </a:p>
        </p:txBody>
      </p:sp>
      <p:sp>
        <p:nvSpPr>
          <p:cNvPr id="152" name="t"/>
          <p:cNvSpPr txBox="1"/>
          <p:nvPr/>
        </p:nvSpPr>
        <p:spPr>
          <a:xfrm>
            <a:off x="1950000" y="4540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승인자 코멘트</a:t>
            </a:r>
          </a:p>
        </p:txBody>
      </p:sp>
      <p:sp>
        <p:nvSpPr>
          <p:cNvPr id="153" name="r"/>
          <p:cNvSpPr/>
          <p:nvPr/>
        </p:nvSpPr>
        <p:spPr>
          <a:xfrm>
            <a:off x="1950000" y="4700000"/>
            <a:ext cx="685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"/>
          <p:cNvSpPr txBox="1"/>
          <p:nvPr/>
        </p:nvSpPr>
        <p:spPr>
          <a:xfrm>
            <a:off x="2030000" y="4740000"/>
            <a:ext cx="669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검토 완료, 제출 적정</a:t>
            </a:r>
          </a:p>
        </p:txBody>
      </p:sp>
      <p:sp>
        <p:nvSpPr>
          <p:cNvPr id="155" name="r"/>
          <p:cNvSpPr/>
          <p:nvPr/>
        </p:nvSpPr>
        <p:spPr>
          <a:xfrm>
            <a:off x="8040000" y="6430000"/>
            <a:ext cx="700000" cy="240000"/>
          </a:xfrm>
          <a:prstGeom prst="roundRect">
            <a:avLst/>
          </a:prstGeom>
          <a:solidFill>
            <a:srgbClr val="FF4D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"/>
          <p:cNvSpPr txBox="1"/>
          <p:nvPr/>
        </p:nvSpPr>
        <p:spPr>
          <a:xfrm>
            <a:off x="8040000" y="648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반려</a:t>
            </a:r>
          </a:p>
        </p:txBody>
      </p:sp>
      <p:sp>
        <p:nvSpPr>
          <p:cNvPr id="157" name="r"/>
          <p:cNvSpPr/>
          <p:nvPr/>
        </p:nvSpPr>
        <p:spPr>
          <a:xfrm>
            <a:off x="7280000" y="6430000"/>
            <a:ext cx="70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"/>
          <p:cNvSpPr txBox="1"/>
          <p:nvPr/>
        </p:nvSpPr>
        <p:spPr>
          <a:xfrm>
            <a:off x="7280000" y="648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승인</a:t>
            </a:r>
          </a:p>
        </p:txBody>
      </p:sp>
      <p:sp>
        <p:nvSpPr>
          <p:cNvPr id="159" name="r"/>
          <p:cNvSpPr/>
          <p:nvPr/>
        </p:nvSpPr>
        <p:spPr>
          <a:xfrm>
            <a:off x="6315000" y="6430000"/>
            <a:ext cx="905000" cy="240000"/>
          </a:xfrm>
          <a:prstGeom prst="roundRect">
            <a:avLst/>
          </a:prstGeom>
          <a:solidFill>
            <a:srgbClr val="52C4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"/>
          <p:cNvSpPr txBox="1"/>
          <p:nvPr/>
        </p:nvSpPr>
        <p:spPr>
          <a:xfrm>
            <a:off x="6315000" y="6480000"/>
            <a:ext cx="905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규제기관 제출</a:t>
            </a:r>
          </a:p>
        </p:txBody>
      </p:sp>
      <p:sp>
        <p:nvSpPr>
          <p:cNvPr id="161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FDS-AML-002</a:t>
            </a:r>
          </a:p>
        </p:txBody>
      </p:sp>
      <p:sp>
        <p:nvSpPr>
          <p:cNvPr id="163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검토 / 승인·반려 / 제출 권한으로 분리</a:t>
            </a:r>
          </a:p>
        </p:txBody>
      </p:sp>
      <p:sp>
        <p:nvSpPr>
          <p:cNvPr id="165" name="t"/>
          <p:cNvSpPr txBox="1"/>
          <p:nvPr/>
        </p:nvSpPr>
        <p:spPr>
          <a:xfrm>
            <a:off x="8990000" y="160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표시 항목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보고 · 제출 기한 · 회원 · 금액 · 탐지/거래 · 근거 · 검토 기록</a:t>
            </a:r>
          </a:p>
        </p:txBody>
      </p:sp>
      <p:sp>
        <p:nvSpPr>
          <p:cNvPr id="166" name="t"/>
          <p:cNvSpPr txBox="1"/>
          <p:nvPr/>
        </p:nvSpPr>
        <p:spPr>
          <a:xfrm>
            <a:off x="8990000" y="2204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승인자 코멘트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검토 의견 입력</a:t>
            </a:r>
          </a:p>
        </p:txBody>
      </p:sp>
      <p:sp>
        <p:nvSpPr>
          <p:cNvPr id="167" name="t"/>
          <p:cNvSpPr txBox="1"/>
          <p:nvPr/>
        </p:nvSpPr>
        <p:spPr>
          <a:xfrm>
            <a:off x="8990000" y="248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[규제기관 제출](제출 권한) · [승인] · [반려]</a:t>
            </a:r>
          </a:p>
        </p:txBody>
      </p:sp>
      <p:sp>
        <p:nvSpPr>
          <p:cNvPr id="168" name="t"/>
          <p:cNvSpPr txBox="1"/>
          <p:nvPr/>
        </p:nvSpPr>
        <p:spPr>
          <a:xfrm>
            <a:off x="8990000" y="291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작성자와 승인자가 같으면 승인 불가 · 제출 실패 시 자동 재시도</a:t>
            </a:r>
          </a:p>
        </p:txBody>
      </p:sp>
      <p:sp>
        <p:nvSpPr>
          <p:cNvPr id="169" name="t"/>
          <p:cNvSpPr txBox="1"/>
          <p:nvPr/>
        </p:nvSpPr>
        <p:spPr>
          <a:xfrm>
            <a:off x="8990000" y="335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기한 24시간 전 미결재 알림, 기한 초과 시 책임자 알림</a:t>
            </a:r>
          </a:p>
        </p:txBody>
      </p:sp>
      <p:sp>
        <p:nvSpPr>
          <p:cNvPr id="170" name="t"/>
          <p:cNvSpPr txBox="1"/>
          <p:nvPr/>
        </p:nvSpPr>
        <p:spPr>
          <a:xfrm>
            <a:off x="8990000" y="378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같은 회원·같은 영업일 CTR은 1건만 생성 (중복 방지)</a:t>
            </a:r>
          </a:p>
        </p:txBody>
      </p:sp>
      <p:sp>
        <p:nvSpPr>
          <p:cNvPr id="171" name="t"/>
          <p:cNvSpPr txBox="1"/>
          <p:nvPr/>
        </p:nvSpPr>
        <p:spPr>
          <a:xfrm>
            <a:off x="8990000" y="421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.../reports/{id} · /approve · /submit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FDS-CTR-001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AML 보고 &gt; CTR 기준값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CTR 통화별 기준 금액</a:t>
            </a:r>
          </a:p>
        </p:txBody>
      </p:sp>
      <p:sp>
        <p:nvSpPr>
          <p:cNvPr id="105" name="r"/>
          <p:cNvSpPr/>
          <p:nvPr/>
        </p:nvSpPr>
        <p:spPr>
          <a:xfrm>
            <a:off x="7700000" y="1320000"/>
            <a:ext cx="1100000" cy="2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7700000" y="137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+ 변경 결재</a:t>
            </a:r>
          </a:p>
        </p:txBody>
      </p:sp>
      <p:sp>
        <p:nvSpPr>
          <p:cNvPr id="107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9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11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6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8" name="r"/>
          <p:cNvSpPr/>
          <p:nvPr/>
        </p:nvSpPr>
        <p:spPr>
          <a:xfrm>
            <a:off x="100000" y="230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AML 보고</a:t>
            </a:r>
          </a:p>
        </p:txBody>
      </p:sp>
      <p:sp>
        <p:nvSpPr>
          <p:cNvPr id="120" name="t"/>
          <p:cNvSpPr txBox="1"/>
          <p:nvPr/>
        </p:nvSpPr>
        <p:spPr>
          <a:xfrm>
            <a:off x="360000" y="25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보고 큐</a:t>
            </a:r>
          </a:p>
        </p:txBody>
      </p:sp>
      <p:sp>
        <p:nvSpPr>
          <p:cNvPr id="121" name="t"/>
          <p:cNvSpPr txBox="1"/>
          <p:nvPr/>
        </p:nvSpPr>
        <p:spPr>
          <a:xfrm>
            <a:off x="360000" y="27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CTR 기준값 ◀</a:t>
            </a:r>
          </a:p>
        </p:txBody>
      </p:sp>
      <p:sp>
        <p:nvSpPr>
          <p:cNvPr id="122" name="t"/>
          <p:cNvSpPr txBox="1"/>
          <p:nvPr/>
        </p:nvSpPr>
        <p:spPr>
          <a:xfrm>
            <a:off x="360000" y="29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STR 사유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4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5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6" name="r"/>
          <p:cNvSpPr/>
          <p:nvPr/>
        </p:nvSpPr>
        <p:spPr>
          <a:xfrm>
            <a:off x="1950000" y="17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1950000" y="176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통화</a:t>
            </a:r>
          </a:p>
        </p:txBody>
      </p:sp>
      <p:sp>
        <p:nvSpPr>
          <p:cNvPr id="128" name="t"/>
          <p:cNvSpPr txBox="1"/>
          <p:nvPr/>
        </p:nvSpPr>
        <p:spPr>
          <a:xfrm>
            <a:off x="3100000" y="176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1">
                <a:solidFill>
                  <a:srgbClr val="262626"/>
                </a:solidFill>
                <a:latin typeface="맑은 고딕"/>
              </a:rPr>
              <a:t>단일 거래</a:t>
            </a:r>
          </a:p>
        </p:txBody>
      </p:sp>
      <p:sp>
        <p:nvSpPr>
          <p:cNvPr id="129" name="t"/>
          <p:cNvSpPr txBox="1"/>
          <p:nvPr/>
        </p:nvSpPr>
        <p:spPr>
          <a:xfrm>
            <a:off x="4850000" y="1760000"/>
            <a:ext cx="1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1">
                <a:solidFill>
                  <a:srgbClr val="262626"/>
                </a:solidFill>
                <a:latin typeface="맑은 고딕"/>
              </a:rPr>
              <a:t>영업일 누계</a:t>
            </a:r>
          </a:p>
        </p:txBody>
      </p:sp>
      <p:sp>
        <p:nvSpPr>
          <p:cNvPr id="130" name="t"/>
          <p:cNvSpPr txBox="1"/>
          <p:nvPr/>
        </p:nvSpPr>
        <p:spPr>
          <a:xfrm>
            <a:off x="6750000" y="1760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적용 시작일</a:t>
            </a:r>
          </a:p>
        </p:txBody>
      </p:sp>
      <p:sp>
        <p:nvSpPr>
          <p:cNvPr id="131" name="t"/>
          <p:cNvSpPr txBox="1"/>
          <p:nvPr/>
        </p:nvSpPr>
        <p:spPr>
          <a:xfrm>
            <a:off x="8400000" y="1760000"/>
            <a:ext cx="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변경자</a:t>
            </a:r>
          </a:p>
        </p:txBody>
      </p:sp>
      <p:sp>
        <p:nvSpPr>
          <p:cNvPr id="132" name="r"/>
          <p:cNvSpPr/>
          <p:nvPr/>
        </p:nvSpPr>
        <p:spPr>
          <a:xfrm>
            <a:off x="1950000" y="196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1950000" y="204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페소(PHP)</a:t>
            </a:r>
          </a:p>
        </p:txBody>
      </p:sp>
      <p:sp>
        <p:nvSpPr>
          <p:cNvPr id="134" name="t"/>
          <p:cNvSpPr txBox="1"/>
          <p:nvPr/>
        </p:nvSpPr>
        <p:spPr>
          <a:xfrm>
            <a:off x="3100000" y="204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500,000</a:t>
            </a:r>
          </a:p>
        </p:txBody>
      </p:sp>
      <p:sp>
        <p:nvSpPr>
          <p:cNvPr id="135" name="t"/>
          <p:cNvSpPr txBox="1"/>
          <p:nvPr/>
        </p:nvSpPr>
        <p:spPr>
          <a:xfrm>
            <a:off x="4850000" y="2045000"/>
            <a:ext cx="1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500,000</a:t>
            </a:r>
          </a:p>
        </p:txBody>
      </p:sp>
      <p:sp>
        <p:nvSpPr>
          <p:cNvPr id="136" name="t"/>
          <p:cNvSpPr txBox="1"/>
          <p:nvPr/>
        </p:nvSpPr>
        <p:spPr>
          <a:xfrm>
            <a:off x="6750000" y="204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2026-01-01</a:t>
            </a:r>
          </a:p>
        </p:txBody>
      </p:sp>
      <p:sp>
        <p:nvSpPr>
          <p:cNvPr id="137" name="t"/>
          <p:cNvSpPr txBox="1"/>
          <p:nvPr/>
        </p:nvSpPr>
        <p:spPr>
          <a:xfrm>
            <a:off x="8400000" y="2045000"/>
            <a:ext cx="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comp.lead</a:t>
            </a:r>
          </a:p>
        </p:txBody>
      </p:sp>
      <p:sp>
        <p:nvSpPr>
          <p:cNvPr id="138" name="r"/>
          <p:cNvSpPr/>
          <p:nvPr/>
        </p:nvSpPr>
        <p:spPr>
          <a:xfrm>
            <a:off x="1950000" y="2280000"/>
            <a:ext cx="6850000" cy="32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1950000" y="236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달러(USD)</a:t>
            </a:r>
          </a:p>
        </p:txBody>
      </p:sp>
      <p:sp>
        <p:nvSpPr>
          <p:cNvPr id="140" name="t"/>
          <p:cNvSpPr txBox="1"/>
          <p:nvPr/>
        </p:nvSpPr>
        <p:spPr>
          <a:xfrm>
            <a:off x="3100000" y="236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10,000</a:t>
            </a:r>
          </a:p>
        </p:txBody>
      </p:sp>
      <p:sp>
        <p:nvSpPr>
          <p:cNvPr id="141" name="t"/>
          <p:cNvSpPr txBox="1"/>
          <p:nvPr/>
        </p:nvSpPr>
        <p:spPr>
          <a:xfrm>
            <a:off x="4850000" y="2365000"/>
            <a:ext cx="1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10,000</a:t>
            </a:r>
          </a:p>
        </p:txBody>
      </p:sp>
      <p:sp>
        <p:nvSpPr>
          <p:cNvPr id="142" name="t"/>
          <p:cNvSpPr txBox="1"/>
          <p:nvPr/>
        </p:nvSpPr>
        <p:spPr>
          <a:xfrm>
            <a:off x="6750000" y="236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2026-01-01</a:t>
            </a:r>
          </a:p>
        </p:txBody>
      </p:sp>
      <p:sp>
        <p:nvSpPr>
          <p:cNvPr id="143" name="t"/>
          <p:cNvSpPr txBox="1"/>
          <p:nvPr/>
        </p:nvSpPr>
        <p:spPr>
          <a:xfrm>
            <a:off x="8400000" y="2365000"/>
            <a:ext cx="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comp.lead</a:t>
            </a:r>
          </a:p>
        </p:txBody>
      </p:sp>
      <p:sp>
        <p:nvSpPr>
          <p:cNvPr id="144" name="r"/>
          <p:cNvSpPr/>
          <p:nvPr/>
        </p:nvSpPr>
        <p:spPr>
          <a:xfrm>
            <a:off x="1950000" y="260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1950000" y="2685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원(KRW)</a:t>
            </a:r>
          </a:p>
        </p:txBody>
      </p:sp>
      <p:sp>
        <p:nvSpPr>
          <p:cNvPr id="146" name="t"/>
          <p:cNvSpPr txBox="1"/>
          <p:nvPr/>
        </p:nvSpPr>
        <p:spPr>
          <a:xfrm>
            <a:off x="3100000" y="268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9,000,000</a:t>
            </a:r>
          </a:p>
        </p:txBody>
      </p:sp>
      <p:sp>
        <p:nvSpPr>
          <p:cNvPr id="147" name="t"/>
          <p:cNvSpPr txBox="1"/>
          <p:nvPr/>
        </p:nvSpPr>
        <p:spPr>
          <a:xfrm>
            <a:off x="4850000" y="2685000"/>
            <a:ext cx="1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9,000,000</a:t>
            </a:r>
          </a:p>
        </p:txBody>
      </p:sp>
      <p:sp>
        <p:nvSpPr>
          <p:cNvPr id="148" name="t"/>
          <p:cNvSpPr txBox="1"/>
          <p:nvPr/>
        </p:nvSpPr>
        <p:spPr>
          <a:xfrm>
            <a:off x="6750000" y="268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2026-01-01</a:t>
            </a:r>
          </a:p>
        </p:txBody>
      </p:sp>
      <p:sp>
        <p:nvSpPr>
          <p:cNvPr id="149" name="t"/>
          <p:cNvSpPr txBox="1"/>
          <p:nvPr/>
        </p:nvSpPr>
        <p:spPr>
          <a:xfrm>
            <a:off x="8400000" y="2685000"/>
            <a:ext cx="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comp.lead</a:t>
            </a:r>
          </a:p>
        </p:txBody>
      </p:sp>
      <p:sp>
        <p:nvSpPr>
          <p:cNvPr id="150" name="r"/>
          <p:cNvSpPr/>
          <p:nvPr/>
        </p:nvSpPr>
        <p:spPr>
          <a:xfrm>
            <a:off x="1950000" y="3040000"/>
            <a:ext cx="6850000" cy="560000"/>
          </a:xfrm>
          <a:prstGeom prst="roundRect">
            <a:avLst/>
          </a:prstGeom>
          <a:solidFill>
            <a:srgbClr val="E6F7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2070000" y="3110000"/>
            <a:ext cx="661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1890FF"/>
                </a:solidFill>
                <a:latin typeface="맑은 고딕"/>
              </a:rPr>
              <a:t>변경은 2인 결재 (FDS-CTR-002)</a:t>
            </a:r>
          </a:p>
        </p:txBody>
      </p:sp>
      <p:sp>
        <p:nvSpPr>
          <p:cNvPr id="152" name="t"/>
          <p:cNvSpPr txBox="1"/>
          <p:nvPr/>
        </p:nvSpPr>
        <p:spPr>
          <a:xfrm>
            <a:off x="2070000" y="3300000"/>
            <a:ext cx="661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법정 기준(필리핀 50만 페소) 이하는 자동 통과, 초과 설정은 책임자 추가 결재 · 작성자와 승인자는 달라야 함</a:t>
            </a:r>
          </a:p>
        </p:txBody>
      </p:sp>
      <p:sp>
        <p:nvSpPr>
          <p:cNvPr id="153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FDS-CTR-001</a:t>
            </a:r>
          </a:p>
        </p:txBody>
      </p:sp>
      <p:sp>
        <p:nvSpPr>
          <p:cNvPr id="155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/ 변경은 관리자 결재</a:t>
            </a:r>
          </a:p>
        </p:txBody>
      </p:sp>
      <p:sp>
        <p:nvSpPr>
          <p:cNvPr id="157" name="t"/>
          <p:cNvSpPr txBox="1"/>
          <p:nvPr/>
        </p:nvSpPr>
        <p:spPr>
          <a:xfrm>
            <a:off x="8990000" y="145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통화 · 단일 거래 · 영업일 누계 · 적용 시작일 · 변경자</a:t>
            </a:r>
          </a:p>
        </p:txBody>
      </p:sp>
      <p:sp>
        <p:nvSpPr>
          <p:cNvPr id="158" name="t"/>
          <p:cNvSpPr txBox="1"/>
          <p:nvPr/>
        </p:nvSpPr>
        <p:spPr>
          <a:xfrm>
            <a:off x="8990000" y="205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[+ 변경 결재]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2인 결재로 통화별 기준 금액 변경</a:t>
            </a:r>
          </a:p>
        </p:txBody>
      </p:sp>
      <p:sp>
        <p:nvSpPr>
          <p:cNvPr id="159" name="t"/>
          <p:cNvSpPr txBox="1"/>
          <p:nvPr/>
        </p:nvSpPr>
        <p:spPr>
          <a:xfrm>
            <a:off x="8990000" y="2486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법정 기준(필리핀 50만 페소) 이하는 자동 통과, 초과 설정은 책임자 추가 결재</a:t>
            </a:r>
          </a:p>
        </p:txBody>
      </p:sp>
      <p:sp>
        <p:nvSpPr>
          <p:cNvPr id="160" name="t"/>
          <p:cNvSpPr txBox="1"/>
          <p:nvPr/>
        </p:nvSpPr>
        <p:spPr>
          <a:xfrm>
            <a:off x="8990000" y="308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작성자와 승인자는 달라야 하며, 변경 사유·티켓 필수</a:t>
            </a:r>
          </a:p>
        </p:txBody>
      </p:sp>
      <p:sp>
        <p:nvSpPr>
          <p:cNvPr id="161" name="t"/>
          <p:cNvSpPr txBox="1"/>
          <p:nvPr/>
        </p:nvSpPr>
        <p:spPr>
          <a:xfrm>
            <a:off x="8990000" y="352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모든 변경 이력 영구 보존</a:t>
            </a:r>
          </a:p>
        </p:txBody>
      </p:sp>
      <p:sp>
        <p:nvSpPr>
          <p:cNvPr id="162" name="t"/>
          <p:cNvSpPr txBox="1"/>
          <p:nvPr/>
        </p:nvSpPr>
        <p:spPr>
          <a:xfrm>
            <a:off x="8990000" y="380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GET/POST .../aml/ctr-thresholds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FDS-STR-001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AML 보고 &gt; STR 사유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STR 의심사유 목록</a:t>
            </a:r>
          </a:p>
        </p:txBody>
      </p:sp>
      <p:sp>
        <p:nvSpPr>
          <p:cNvPr id="105" name="r"/>
          <p:cNvSpPr/>
          <p:nvPr/>
        </p:nvSpPr>
        <p:spPr>
          <a:xfrm>
            <a:off x="7700000" y="1320000"/>
            <a:ext cx="1100000" cy="2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7700000" y="137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+ 사유 추가</a:t>
            </a:r>
          </a:p>
        </p:txBody>
      </p:sp>
      <p:sp>
        <p:nvSpPr>
          <p:cNvPr id="107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9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11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6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8" name="r"/>
          <p:cNvSpPr/>
          <p:nvPr/>
        </p:nvSpPr>
        <p:spPr>
          <a:xfrm>
            <a:off x="100000" y="230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AML 보고</a:t>
            </a:r>
          </a:p>
        </p:txBody>
      </p:sp>
      <p:sp>
        <p:nvSpPr>
          <p:cNvPr id="120" name="t"/>
          <p:cNvSpPr txBox="1"/>
          <p:nvPr/>
        </p:nvSpPr>
        <p:spPr>
          <a:xfrm>
            <a:off x="360000" y="256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보고 큐</a:t>
            </a:r>
          </a:p>
        </p:txBody>
      </p:sp>
      <p:sp>
        <p:nvSpPr>
          <p:cNvPr id="121" name="t"/>
          <p:cNvSpPr txBox="1"/>
          <p:nvPr/>
        </p:nvSpPr>
        <p:spPr>
          <a:xfrm>
            <a:off x="360000" y="27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CTR 기준값</a:t>
            </a:r>
          </a:p>
        </p:txBody>
      </p:sp>
      <p:sp>
        <p:nvSpPr>
          <p:cNvPr id="122" name="t"/>
          <p:cNvSpPr txBox="1"/>
          <p:nvPr/>
        </p:nvSpPr>
        <p:spPr>
          <a:xfrm>
            <a:off x="360000" y="29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STR 사유 ◀</a:t>
            </a:r>
          </a:p>
        </p:txBody>
      </p:sp>
      <p:sp>
        <p:nvSpPr>
          <p:cNvPr id="123" name="t"/>
          <p:cNvSpPr txBox="1"/>
          <p:nvPr/>
        </p:nvSpPr>
        <p:spPr>
          <a:xfrm>
            <a:off x="200000" y="31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4" name="t"/>
          <p:cNvSpPr txBox="1"/>
          <p:nvPr/>
        </p:nvSpPr>
        <p:spPr>
          <a:xfrm>
            <a:off x="200000" y="34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5" name="t"/>
          <p:cNvSpPr txBox="1"/>
          <p:nvPr/>
        </p:nvSpPr>
        <p:spPr>
          <a:xfrm>
            <a:off x="200000" y="36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6" name="r"/>
          <p:cNvSpPr/>
          <p:nvPr/>
        </p:nvSpPr>
        <p:spPr>
          <a:xfrm>
            <a:off x="1950000" y="17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1950000" y="1760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사유 코드</a:t>
            </a:r>
          </a:p>
        </p:txBody>
      </p:sp>
      <p:sp>
        <p:nvSpPr>
          <p:cNvPr id="128" name="t"/>
          <p:cNvSpPr txBox="1"/>
          <p:nvPr/>
        </p:nvSpPr>
        <p:spPr>
          <a:xfrm>
            <a:off x="4000000" y="1760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분류</a:t>
            </a:r>
          </a:p>
        </p:txBody>
      </p:sp>
      <p:sp>
        <p:nvSpPr>
          <p:cNvPr id="129" name="t"/>
          <p:cNvSpPr txBox="1"/>
          <p:nvPr/>
        </p:nvSpPr>
        <p:spPr>
          <a:xfrm>
            <a:off x="5600000" y="1760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규제기관 코드</a:t>
            </a:r>
          </a:p>
        </p:txBody>
      </p:sp>
      <p:sp>
        <p:nvSpPr>
          <p:cNvPr id="130" name="t"/>
          <p:cNvSpPr txBox="1"/>
          <p:nvPr/>
        </p:nvSpPr>
        <p:spPr>
          <a:xfrm>
            <a:off x="7300000" y="176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사용 여부</a:t>
            </a:r>
          </a:p>
        </p:txBody>
      </p:sp>
      <p:sp>
        <p:nvSpPr>
          <p:cNvPr id="131" name="r"/>
          <p:cNvSpPr/>
          <p:nvPr/>
        </p:nvSpPr>
        <p:spPr>
          <a:xfrm>
            <a:off x="1950000" y="196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"/>
          <p:cNvSpPr txBox="1"/>
          <p:nvPr/>
        </p:nvSpPr>
        <p:spPr>
          <a:xfrm>
            <a:off x="1950000" y="204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KYC_INCOME_5X</a:t>
            </a:r>
          </a:p>
        </p:txBody>
      </p:sp>
      <p:sp>
        <p:nvSpPr>
          <p:cNvPr id="133" name="t"/>
          <p:cNvSpPr txBox="1"/>
          <p:nvPr/>
        </p:nvSpPr>
        <p:spPr>
          <a:xfrm>
            <a:off x="4000000" y="204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소득 대비 과다</a:t>
            </a:r>
          </a:p>
        </p:txBody>
      </p:sp>
      <p:sp>
        <p:nvSpPr>
          <p:cNvPr id="134" name="t"/>
          <p:cNvSpPr txBox="1"/>
          <p:nvPr/>
        </p:nvSpPr>
        <p:spPr>
          <a:xfrm>
            <a:off x="5600000" y="204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AMLC-023</a:t>
            </a:r>
          </a:p>
        </p:txBody>
      </p:sp>
      <p:sp>
        <p:nvSpPr>
          <p:cNvPr id="135" name="t"/>
          <p:cNvSpPr txBox="1"/>
          <p:nvPr/>
        </p:nvSpPr>
        <p:spPr>
          <a:xfrm>
            <a:off x="7300000" y="204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사용중 ○</a:t>
            </a:r>
          </a:p>
        </p:txBody>
      </p:sp>
      <p:sp>
        <p:nvSpPr>
          <p:cNvPr id="136" name="r"/>
          <p:cNvSpPr/>
          <p:nvPr/>
        </p:nvSpPr>
        <p:spPr>
          <a:xfrm>
            <a:off x="1950000" y="2280000"/>
            <a:ext cx="6850000" cy="32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1950000" y="236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STRUCTURED_CTR</a:t>
            </a:r>
          </a:p>
        </p:txBody>
      </p:sp>
      <p:sp>
        <p:nvSpPr>
          <p:cNvPr id="138" name="t"/>
          <p:cNvSpPr txBox="1"/>
          <p:nvPr/>
        </p:nvSpPr>
        <p:spPr>
          <a:xfrm>
            <a:off x="4000000" y="236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분할 거래(구조화)</a:t>
            </a:r>
          </a:p>
        </p:txBody>
      </p:sp>
      <p:sp>
        <p:nvSpPr>
          <p:cNvPr id="139" name="t"/>
          <p:cNvSpPr txBox="1"/>
          <p:nvPr/>
        </p:nvSpPr>
        <p:spPr>
          <a:xfrm>
            <a:off x="5600000" y="236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AMLC-031</a:t>
            </a:r>
          </a:p>
        </p:txBody>
      </p:sp>
      <p:sp>
        <p:nvSpPr>
          <p:cNvPr id="140" name="t"/>
          <p:cNvSpPr txBox="1"/>
          <p:nvPr/>
        </p:nvSpPr>
        <p:spPr>
          <a:xfrm>
            <a:off x="7300000" y="236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사용중 ○</a:t>
            </a:r>
          </a:p>
        </p:txBody>
      </p:sp>
      <p:sp>
        <p:nvSpPr>
          <p:cNvPr id="141" name="r"/>
          <p:cNvSpPr/>
          <p:nvPr/>
        </p:nvSpPr>
        <p:spPr>
          <a:xfrm>
            <a:off x="1950000" y="260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"/>
          <p:cNvSpPr txBox="1"/>
          <p:nvPr/>
        </p:nvSpPr>
        <p:spPr>
          <a:xfrm>
            <a:off x="1950000" y="268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THIRD_PARTY_BEN</a:t>
            </a:r>
          </a:p>
        </p:txBody>
      </p:sp>
      <p:sp>
        <p:nvSpPr>
          <p:cNvPr id="143" name="t"/>
          <p:cNvSpPr txBox="1"/>
          <p:nvPr/>
        </p:nvSpPr>
        <p:spPr>
          <a:xfrm>
            <a:off x="4000000" y="268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제3자 자금</a:t>
            </a:r>
          </a:p>
        </p:txBody>
      </p:sp>
      <p:sp>
        <p:nvSpPr>
          <p:cNvPr id="144" name="t"/>
          <p:cNvSpPr txBox="1"/>
          <p:nvPr/>
        </p:nvSpPr>
        <p:spPr>
          <a:xfrm>
            <a:off x="5600000" y="268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AMLC-018</a:t>
            </a:r>
          </a:p>
        </p:txBody>
      </p:sp>
      <p:sp>
        <p:nvSpPr>
          <p:cNvPr id="145" name="t"/>
          <p:cNvSpPr txBox="1"/>
          <p:nvPr/>
        </p:nvSpPr>
        <p:spPr>
          <a:xfrm>
            <a:off x="7300000" y="268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사용중 ○</a:t>
            </a:r>
          </a:p>
        </p:txBody>
      </p:sp>
      <p:sp>
        <p:nvSpPr>
          <p:cNvPr id="146" name="r"/>
          <p:cNvSpPr/>
          <p:nvPr/>
        </p:nvSpPr>
        <p:spPr>
          <a:xfrm>
            <a:off x="1950000" y="2920000"/>
            <a:ext cx="6850000" cy="32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"/>
          <p:cNvSpPr txBox="1"/>
          <p:nvPr/>
        </p:nvSpPr>
        <p:spPr>
          <a:xfrm>
            <a:off x="1950000" y="300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NO_PURPOSE</a:t>
            </a:r>
          </a:p>
        </p:txBody>
      </p:sp>
      <p:sp>
        <p:nvSpPr>
          <p:cNvPr id="148" name="t"/>
          <p:cNvSpPr txBox="1"/>
          <p:nvPr/>
        </p:nvSpPr>
        <p:spPr>
          <a:xfrm>
            <a:off x="4000000" y="300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사업 목적 부재</a:t>
            </a:r>
          </a:p>
        </p:txBody>
      </p:sp>
      <p:sp>
        <p:nvSpPr>
          <p:cNvPr id="149" name="t"/>
          <p:cNvSpPr txBox="1"/>
          <p:nvPr/>
        </p:nvSpPr>
        <p:spPr>
          <a:xfrm>
            <a:off x="5600000" y="300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AMLC-025</a:t>
            </a:r>
          </a:p>
        </p:txBody>
      </p:sp>
      <p:sp>
        <p:nvSpPr>
          <p:cNvPr id="150" name="t"/>
          <p:cNvSpPr txBox="1"/>
          <p:nvPr/>
        </p:nvSpPr>
        <p:spPr>
          <a:xfrm>
            <a:off x="7300000" y="300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사용중 ○</a:t>
            </a:r>
          </a:p>
        </p:txBody>
      </p:sp>
      <p:sp>
        <p:nvSpPr>
          <p:cNvPr id="151" name="r"/>
          <p:cNvSpPr/>
          <p:nvPr/>
        </p:nvSpPr>
        <p:spPr>
          <a:xfrm>
            <a:off x="1950000" y="324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"/>
          <p:cNvSpPr txBox="1"/>
          <p:nvPr/>
        </p:nvSpPr>
        <p:spPr>
          <a:xfrm>
            <a:off x="1950000" y="332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CASH_VELOCITY</a:t>
            </a:r>
          </a:p>
        </p:txBody>
      </p:sp>
      <p:sp>
        <p:nvSpPr>
          <p:cNvPr id="153" name="t"/>
          <p:cNvSpPr txBox="1"/>
          <p:nvPr/>
        </p:nvSpPr>
        <p:spPr>
          <a:xfrm>
            <a:off x="4000000" y="332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단기 다수 현금화</a:t>
            </a:r>
          </a:p>
        </p:txBody>
      </p:sp>
      <p:sp>
        <p:nvSpPr>
          <p:cNvPr id="154" name="t"/>
          <p:cNvSpPr txBox="1"/>
          <p:nvPr/>
        </p:nvSpPr>
        <p:spPr>
          <a:xfrm>
            <a:off x="5600000" y="332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AMLC-028</a:t>
            </a:r>
          </a:p>
        </p:txBody>
      </p:sp>
      <p:sp>
        <p:nvSpPr>
          <p:cNvPr id="155" name="t"/>
          <p:cNvSpPr txBox="1"/>
          <p:nvPr/>
        </p:nvSpPr>
        <p:spPr>
          <a:xfrm>
            <a:off x="7300000" y="3325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사용중 ○</a:t>
            </a:r>
          </a:p>
        </p:txBody>
      </p:sp>
      <p:sp>
        <p:nvSpPr>
          <p:cNvPr id="156" name="r"/>
          <p:cNvSpPr/>
          <p:nvPr/>
        </p:nvSpPr>
        <p:spPr>
          <a:xfrm>
            <a:off x="1950000" y="3710000"/>
            <a:ext cx="6850000" cy="6800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FFA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"/>
          <p:cNvSpPr txBox="1"/>
          <p:nvPr/>
        </p:nvSpPr>
        <p:spPr>
          <a:xfrm>
            <a:off x="2070000" y="3790000"/>
            <a:ext cx="661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40" b="1">
                <a:solidFill>
                  <a:srgbClr val="D46B08"/>
                </a:solidFill>
                <a:latin typeface="맑은 고딕"/>
              </a:rPr>
              <a:t>PEP·제재대상(SANCTION)은 STR 사유에서 제외</a:t>
            </a:r>
          </a:p>
        </p:txBody>
      </p:sp>
      <p:sp>
        <p:nvSpPr>
          <p:cNvPr id="158" name="t"/>
          <p:cNvSpPr txBox="1"/>
          <p:nvPr/>
        </p:nvSpPr>
        <p:spPr>
          <a:xfrm>
            <a:off x="2070000" y="4000000"/>
            <a:ext cx="6610000" cy="3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74D00"/>
                </a:solidFill>
                <a:latin typeface="맑은 고딕"/>
              </a:rPr>
              <a:t>정치적 주요인물(PEP)·제재대상 명단은 외부 명단 DB 대조가 필요하며, 회원 KYC 단계의 AML 워치리스트 필터링(WLF)에서 처리한다. 따라서 FDS STR 사유 목록에는 두지 않는다.</a:t>
            </a:r>
          </a:p>
        </p:txBody>
      </p:sp>
      <p:sp>
        <p:nvSpPr>
          <p:cNvPr id="159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FDS-STR-001</a:t>
            </a:r>
          </a:p>
        </p:txBody>
      </p:sp>
      <p:sp>
        <p:nvSpPr>
          <p:cNvPr id="161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/ 변경은 관리자</a:t>
            </a:r>
          </a:p>
        </p:txBody>
      </p:sp>
      <p:sp>
        <p:nvSpPr>
          <p:cNvPr id="163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사유 코드 · 분류 · 규제기관 코드 · 사용 여부</a:t>
            </a:r>
          </a:p>
        </p:txBody>
      </p:sp>
      <p:sp>
        <p:nvSpPr>
          <p:cNvPr id="164" name="t"/>
          <p:cNvSpPr txBox="1"/>
          <p:nvPr/>
        </p:nvSpPr>
        <p:spPr>
          <a:xfrm>
            <a:off x="8990000" y="188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[+ 사유 추가]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새 의심거래 신고 사유 등록</a:t>
            </a:r>
          </a:p>
        </p:txBody>
      </p:sp>
      <p:sp>
        <p:nvSpPr>
          <p:cNvPr id="165" name="t"/>
          <p:cNvSpPr txBox="1"/>
          <p:nvPr/>
        </p:nvSpPr>
        <p:spPr>
          <a:xfrm>
            <a:off x="8990000" y="2316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분류 예: 소득 대비 과다·분할 거래(구조화)·제3자 자금·사업 목적 부재·단기 다수 현금화</a:t>
            </a:r>
          </a:p>
        </p:txBody>
      </p:sp>
      <p:sp>
        <p:nvSpPr>
          <p:cNvPr id="166" name="t"/>
          <p:cNvSpPr txBox="1"/>
          <p:nvPr/>
        </p:nvSpPr>
        <p:spPr>
          <a:xfrm>
            <a:off x="8990000" y="2918000"/>
            <a:ext cx="2840000" cy="6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PEP·제재대상 제외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외부 명단 대조가 필요한 항목으로 회원 KYC의 AML 워치리스트 필터링(WLF) 소관</a:t>
            </a:r>
          </a:p>
        </p:txBody>
      </p:sp>
      <p:sp>
        <p:nvSpPr>
          <p:cNvPr id="167" name="t"/>
          <p:cNvSpPr txBox="1"/>
          <p:nvPr/>
        </p:nvSpPr>
        <p:spPr>
          <a:xfrm>
            <a:off x="8990000" y="369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각 사유는 규제기관 표준 코드와 1:1 연결되어야 제출 가능</a:t>
            </a:r>
          </a:p>
        </p:txBody>
      </p:sp>
      <p:sp>
        <p:nvSpPr>
          <p:cNvPr id="168" name="t"/>
          <p:cNvSpPr txBox="1"/>
          <p:nvPr/>
        </p:nvSpPr>
        <p:spPr>
          <a:xfrm>
            <a:off x="8990000" y="412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룰에서 사용 중인 사유는 폐지할 수 없음 (참조 검사)</a:t>
            </a:r>
          </a:p>
        </p:txBody>
      </p:sp>
      <p:sp>
        <p:nvSpPr>
          <p:cNvPr id="169" name="t"/>
          <p:cNvSpPr txBox="1"/>
          <p:nvPr/>
        </p:nvSpPr>
        <p:spPr>
          <a:xfrm>
            <a:off x="8990000" y="455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GET/POST/PATCH .../aml/str-reasons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FDS-FRZ-001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AFASA 동결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AFASA 임시 동결 큐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6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17" name="r"/>
          <p:cNvSpPr/>
          <p:nvPr/>
        </p:nvSpPr>
        <p:spPr>
          <a:xfrm>
            <a:off x="100000" y="253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"/>
          <p:cNvSpPr txBox="1"/>
          <p:nvPr/>
        </p:nvSpPr>
        <p:spPr>
          <a:xfrm>
            <a:off x="200000" y="25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● AFASA 동결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30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1" name="r"/>
          <p:cNvSpPr/>
          <p:nvPr/>
        </p:nvSpPr>
        <p:spPr>
          <a:xfrm>
            <a:off x="1950000" y="1640000"/>
            <a:ext cx="6850000" cy="4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"/>
          <p:cNvSpPr txBox="1"/>
          <p:nvPr/>
        </p:nvSpPr>
        <p:spPr>
          <a:xfrm>
            <a:off x="20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상태</a:t>
            </a:r>
          </a:p>
        </p:txBody>
      </p:sp>
      <p:sp>
        <p:nvSpPr>
          <p:cNvPr id="123" name="r"/>
          <p:cNvSpPr/>
          <p:nvPr/>
        </p:nvSpPr>
        <p:spPr>
          <a:xfrm>
            <a:off x="20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"/>
          <p:cNvSpPr txBox="1"/>
          <p:nvPr/>
        </p:nvSpPr>
        <p:spPr>
          <a:xfrm>
            <a:off x="21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전체 ▼</a:t>
            </a:r>
          </a:p>
        </p:txBody>
      </p:sp>
      <p:sp>
        <p:nvSpPr>
          <p:cNvPr id="125" name="t"/>
          <p:cNvSpPr txBox="1"/>
          <p:nvPr/>
        </p:nvSpPr>
        <p:spPr>
          <a:xfrm>
            <a:off x="36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동결 유형</a:t>
            </a:r>
          </a:p>
        </p:txBody>
      </p:sp>
      <p:sp>
        <p:nvSpPr>
          <p:cNvPr id="126" name="r"/>
          <p:cNvSpPr/>
          <p:nvPr/>
        </p:nvSpPr>
        <p:spPr>
          <a:xfrm>
            <a:off x="36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37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자동/수동/신고 ▼</a:t>
            </a:r>
          </a:p>
        </p:txBody>
      </p:sp>
      <p:sp>
        <p:nvSpPr>
          <p:cNvPr id="128" name="t"/>
          <p:cNvSpPr txBox="1"/>
          <p:nvPr/>
        </p:nvSpPr>
        <p:spPr>
          <a:xfrm>
            <a:off x="52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29" name="r"/>
          <p:cNvSpPr/>
          <p:nvPr/>
        </p:nvSpPr>
        <p:spPr>
          <a:xfrm>
            <a:off x="52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"/>
          <p:cNvSpPr txBox="1"/>
          <p:nvPr/>
        </p:nvSpPr>
        <p:spPr>
          <a:xfrm>
            <a:off x="53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mem_...</a:t>
            </a:r>
          </a:p>
        </p:txBody>
      </p:sp>
      <p:sp>
        <p:nvSpPr>
          <p:cNvPr id="131" name="t"/>
          <p:cNvSpPr txBox="1"/>
          <p:nvPr/>
        </p:nvSpPr>
        <p:spPr>
          <a:xfrm>
            <a:off x="68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범위</a:t>
            </a:r>
          </a:p>
        </p:txBody>
      </p:sp>
      <p:sp>
        <p:nvSpPr>
          <p:cNvPr id="132" name="r"/>
          <p:cNvSpPr/>
          <p:nvPr/>
        </p:nvSpPr>
        <p:spPr>
          <a:xfrm>
            <a:off x="68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69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전체 ▼</a:t>
            </a:r>
          </a:p>
        </p:txBody>
      </p:sp>
      <p:sp>
        <p:nvSpPr>
          <p:cNvPr id="134" name="r"/>
          <p:cNvSpPr/>
          <p:nvPr/>
        </p:nvSpPr>
        <p:spPr>
          <a:xfrm>
            <a:off x="7720000" y="1840000"/>
            <a:ext cx="5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772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초기화</a:t>
            </a:r>
          </a:p>
        </p:txBody>
      </p:sp>
      <p:sp>
        <p:nvSpPr>
          <p:cNvPr id="136" name="r"/>
          <p:cNvSpPr/>
          <p:nvPr/>
        </p:nvSpPr>
        <p:spPr>
          <a:xfrm>
            <a:off x="8260000" y="1840000"/>
            <a:ext cx="500000" cy="20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826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138" name="r"/>
          <p:cNvSpPr/>
          <p:nvPr/>
        </p:nvSpPr>
        <p:spPr>
          <a:xfrm>
            <a:off x="1950000" y="22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195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동결 번호</a:t>
            </a:r>
          </a:p>
        </p:txBody>
      </p:sp>
      <p:sp>
        <p:nvSpPr>
          <p:cNvPr id="140" name="t"/>
          <p:cNvSpPr txBox="1"/>
          <p:nvPr/>
        </p:nvSpPr>
        <p:spPr>
          <a:xfrm>
            <a:off x="3300000" y="226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회원</a:t>
            </a:r>
          </a:p>
        </p:txBody>
      </p:sp>
      <p:sp>
        <p:nvSpPr>
          <p:cNvPr id="141" name="t"/>
          <p:cNvSpPr txBox="1"/>
          <p:nvPr/>
        </p:nvSpPr>
        <p:spPr>
          <a:xfrm>
            <a:off x="450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범위</a:t>
            </a:r>
          </a:p>
        </p:txBody>
      </p:sp>
      <p:sp>
        <p:nvSpPr>
          <p:cNvPr id="142" name="t"/>
          <p:cNvSpPr txBox="1"/>
          <p:nvPr/>
        </p:nvSpPr>
        <p:spPr>
          <a:xfrm>
            <a:off x="5800000" y="226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유형</a:t>
            </a:r>
          </a:p>
        </p:txBody>
      </p:sp>
      <p:sp>
        <p:nvSpPr>
          <p:cNvPr id="143" name="t"/>
          <p:cNvSpPr txBox="1"/>
          <p:nvPr/>
        </p:nvSpPr>
        <p:spPr>
          <a:xfrm>
            <a:off x="6800000" y="226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1">
                <a:solidFill>
                  <a:srgbClr val="262626"/>
                </a:solidFill>
                <a:latin typeface="맑은 고딕"/>
              </a:rPr>
              <a:t>기간</a:t>
            </a:r>
          </a:p>
        </p:txBody>
      </p:sp>
      <p:sp>
        <p:nvSpPr>
          <p:cNvPr id="144" name="t"/>
          <p:cNvSpPr txBox="1"/>
          <p:nvPr/>
        </p:nvSpPr>
        <p:spPr>
          <a:xfrm>
            <a:off x="7500000" y="2260000"/>
            <a:ext cx="12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검토 기한</a:t>
            </a:r>
          </a:p>
        </p:txBody>
      </p:sp>
      <p:sp>
        <p:nvSpPr>
          <p:cNvPr id="145" name="r"/>
          <p:cNvSpPr/>
          <p:nvPr/>
        </p:nvSpPr>
        <p:spPr>
          <a:xfrm>
            <a:off x="1950000" y="246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"/>
          <p:cNvSpPr txBox="1"/>
          <p:nvPr/>
        </p:nvSpPr>
        <p:spPr>
          <a:xfrm>
            <a:off x="195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frz_01..</a:t>
            </a:r>
          </a:p>
        </p:txBody>
      </p:sp>
      <p:sp>
        <p:nvSpPr>
          <p:cNvPr id="147" name="t"/>
          <p:cNvSpPr txBox="1"/>
          <p:nvPr/>
        </p:nvSpPr>
        <p:spPr>
          <a:xfrm>
            <a:off x="3300000" y="255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mem_aaa</a:t>
            </a:r>
          </a:p>
        </p:txBody>
      </p:sp>
      <p:sp>
        <p:nvSpPr>
          <p:cNvPr id="148" name="t"/>
          <p:cNvSpPr txBox="1"/>
          <p:nvPr/>
        </p:nvSpPr>
        <p:spPr>
          <a:xfrm>
            <a:off x="450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회원 전체</a:t>
            </a:r>
          </a:p>
        </p:txBody>
      </p:sp>
      <p:sp>
        <p:nvSpPr>
          <p:cNvPr id="149" name="t"/>
          <p:cNvSpPr txBox="1"/>
          <p:nvPr/>
        </p:nvSpPr>
        <p:spPr>
          <a:xfrm>
            <a:off x="5800000" y="255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자동</a:t>
            </a:r>
          </a:p>
        </p:txBody>
      </p:sp>
      <p:sp>
        <p:nvSpPr>
          <p:cNvPr id="150" name="t"/>
          <p:cNvSpPr txBox="1"/>
          <p:nvPr/>
        </p:nvSpPr>
        <p:spPr>
          <a:xfrm>
            <a:off x="6800000" y="255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72시간</a:t>
            </a:r>
          </a:p>
        </p:txBody>
      </p:sp>
      <p:sp>
        <p:nvSpPr>
          <p:cNvPr id="151" name="t"/>
          <p:cNvSpPr txBox="1"/>
          <p:nvPr/>
        </p:nvSpPr>
        <p:spPr>
          <a:xfrm>
            <a:off x="7500000" y="2550000"/>
            <a:ext cx="12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14시간 남음</a:t>
            </a:r>
          </a:p>
        </p:txBody>
      </p:sp>
      <p:sp>
        <p:nvSpPr>
          <p:cNvPr id="152" name="r"/>
          <p:cNvSpPr/>
          <p:nvPr/>
        </p:nvSpPr>
        <p:spPr>
          <a:xfrm>
            <a:off x="1950000" y="279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"/>
          <p:cNvSpPr txBox="1"/>
          <p:nvPr/>
        </p:nvSpPr>
        <p:spPr>
          <a:xfrm>
            <a:off x="195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frz_02..</a:t>
            </a:r>
          </a:p>
        </p:txBody>
      </p:sp>
      <p:sp>
        <p:nvSpPr>
          <p:cNvPr id="154" name="t"/>
          <p:cNvSpPr txBox="1"/>
          <p:nvPr/>
        </p:nvSpPr>
        <p:spPr>
          <a:xfrm>
            <a:off x="3300000" y="288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mem_bbb</a:t>
            </a:r>
          </a:p>
        </p:txBody>
      </p:sp>
      <p:sp>
        <p:nvSpPr>
          <p:cNvPr id="155" name="t"/>
          <p:cNvSpPr txBox="1"/>
          <p:nvPr/>
        </p:nvSpPr>
        <p:spPr>
          <a:xfrm>
            <a:off x="450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해당 거래</a:t>
            </a:r>
          </a:p>
        </p:txBody>
      </p:sp>
      <p:sp>
        <p:nvSpPr>
          <p:cNvPr id="156" name="t"/>
          <p:cNvSpPr txBox="1"/>
          <p:nvPr/>
        </p:nvSpPr>
        <p:spPr>
          <a:xfrm>
            <a:off x="5800000" y="288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수동</a:t>
            </a:r>
          </a:p>
        </p:txBody>
      </p:sp>
      <p:sp>
        <p:nvSpPr>
          <p:cNvPr id="157" name="t"/>
          <p:cNvSpPr txBox="1"/>
          <p:nvPr/>
        </p:nvSpPr>
        <p:spPr>
          <a:xfrm>
            <a:off x="6800000" y="288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72시간</a:t>
            </a:r>
          </a:p>
        </p:txBody>
      </p:sp>
      <p:sp>
        <p:nvSpPr>
          <p:cNvPr id="158" name="t"/>
          <p:cNvSpPr txBox="1"/>
          <p:nvPr/>
        </p:nvSpPr>
        <p:spPr>
          <a:xfrm>
            <a:off x="7500000" y="2880000"/>
            <a:ext cx="12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A940"/>
                </a:solidFill>
                <a:latin typeface="맑은 고딕"/>
              </a:rPr>
              <a:t>미검토</a:t>
            </a:r>
          </a:p>
        </p:txBody>
      </p:sp>
      <p:sp>
        <p:nvSpPr>
          <p:cNvPr id="159" name="r"/>
          <p:cNvSpPr/>
          <p:nvPr/>
        </p:nvSpPr>
        <p:spPr>
          <a:xfrm>
            <a:off x="1950000" y="312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"/>
          <p:cNvSpPr txBox="1"/>
          <p:nvPr/>
        </p:nvSpPr>
        <p:spPr>
          <a:xfrm>
            <a:off x="195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frz_03..</a:t>
            </a:r>
          </a:p>
        </p:txBody>
      </p:sp>
      <p:sp>
        <p:nvSpPr>
          <p:cNvPr id="161" name="t"/>
          <p:cNvSpPr txBox="1"/>
          <p:nvPr/>
        </p:nvSpPr>
        <p:spPr>
          <a:xfrm>
            <a:off x="3300000" y="3210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mem_ccc</a:t>
            </a:r>
          </a:p>
        </p:txBody>
      </p:sp>
      <p:sp>
        <p:nvSpPr>
          <p:cNvPr id="162" name="t"/>
          <p:cNvSpPr txBox="1"/>
          <p:nvPr/>
        </p:nvSpPr>
        <p:spPr>
          <a:xfrm>
            <a:off x="450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수취계좌</a:t>
            </a:r>
          </a:p>
        </p:txBody>
      </p:sp>
      <p:sp>
        <p:nvSpPr>
          <p:cNvPr id="163" name="t"/>
          <p:cNvSpPr txBox="1"/>
          <p:nvPr/>
        </p:nvSpPr>
        <p:spPr>
          <a:xfrm>
            <a:off x="5800000" y="321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1890FF"/>
                </a:solidFill>
                <a:latin typeface="맑은 고딕"/>
              </a:rPr>
              <a:t>신고</a:t>
            </a:r>
          </a:p>
        </p:txBody>
      </p:sp>
      <p:sp>
        <p:nvSpPr>
          <p:cNvPr id="164" name="t"/>
          <p:cNvSpPr txBox="1"/>
          <p:nvPr/>
        </p:nvSpPr>
        <p:spPr>
          <a:xfrm>
            <a:off x="6800000" y="3210000"/>
            <a:ext cx="6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680" b="0">
                <a:solidFill>
                  <a:srgbClr val="262626"/>
                </a:solidFill>
                <a:latin typeface="맑은 고딕"/>
              </a:rPr>
              <a:t>72시간</a:t>
            </a:r>
          </a:p>
        </p:txBody>
      </p:sp>
      <p:sp>
        <p:nvSpPr>
          <p:cNvPr id="165" name="t"/>
          <p:cNvSpPr txBox="1"/>
          <p:nvPr/>
        </p:nvSpPr>
        <p:spPr>
          <a:xfrm>
            <a:off x="7500000" y="3210000"/>
            <a:ext cx="125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기한 임박</a:t>
            </a:r>
          </a:p>
        </p:txBody>
      </p:sp>
      <p:sp>
        <p:nvSpPr>
          <p:cNvPr id="166" name="t"/>
          <p:cNvSpPr txBox="1"/>
          <p:nvPr/>
        </p:nvSpPr>
        <p:spPr>
          <a:xfrm>
            <a:off x="1950000" y="354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24시간 내 미검토 시 자동 해제 + 알림 · 대규모 동결(50만 페소↑/100명↑)은 규제기관 2시간 내 통지</a:t>
            </a:r>
          </a:p>
        </p:txBody>
      </p:sp>
      <p:sp>
        <p:nvSpPr>
          <p:cNvPr id="167" name="r"/>
          <p:cNvSpPr/>
          <p:nvPr/>
        </p:nvSpPr>
        <p:spPr>
          <a:xfrm>
            <a:off x="7835000" y="6430000"/>
            <a:ext cx="905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"/>
          <p:cNvSpPr txBox="1"/>
          <p:nvPr/>
        </p:nvSpPr>
        <p:spPr>
          <a:xfrm>
            <a:off x="7835000" y="6480000"/>
            <a:ext cx="905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검토 (2인)</a:t>
            </a:r>
          </a:p>
        </p:txBody>
      </p:sp>
      <p:sp>
        <p:nvSpPr>
          <p:cNvPr id="169" name="r"/>
          <p:cNvSpPr/>
          <p:nvPr/>
        </p:nvSpPr>
        <p:spPr>
          <a:xfrm>
            <a:off x="7060000" y="6430000"/>
            <a:ext cx="715000" cy="240000"/>
          </a:xfrm>
          <a:prstGeom prst="roundRect">
            <a:avLst/>
          </a:prstGeom>
          <a:solidFill>
            <a:srgbClr val="FFA9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"/>
          <p:cNvSpPr txBox="1"/>
          <p:nvPr/>
        </p:nvSpPr>
        <p:spPr>
          <a:xfrm>
            <a:off x="7060000" y="6480000"/>
            <a:ext cx="715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동결 연장</a:t>
            </a:r>
          </a:p>
        </p:txBody>
      </p:sp>
      <p:sp>
        <p:nvSpPr>
          <p:cNvPr id="171" name="r"/>
          <p:cNvSpPr/>
          <p:nvPr/>
        </p:nvSpPr>
        <p:spPr>
          <a:xfrm>
            <a:off x="6285000" y="6430000"/>
            <a:ext cx="715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"/>
          <p:cNvSpPr txBox="1"/>
          <p:nvPr/>
        </p:nvSpPr>
        <p:spPr>
          <a:xfrm>
            <a:off x="6285000" y="6480000"/>
            <a:ext cx="715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동결 해제</a:t>
            </a:r>
          </a:p>
        </p:txBody>
      </p:sp>
      <p:sp>
        <p:nvSpPr>
          <p:cNvPr id="173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FDS-FRZ-001</a:t>
            </a:r>
          </a:p>
        </p:txBody>
      </p:sp>
      <p:sp>
        <p:nvSpPr>
          <p:cNvPr id="175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컴플라이언스 운영 권한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검색 조건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상태 · 동결 유형 · 회원 · 범위</a:t>
            </a:r>
          </a:p>
        </p:txBody>
      </p:sp>
      <p:sp>
        <p:nvSpPr>
          <p:cNvPr id="178" name="t"/>
          <p:cNvSpPr txBox="1"/>
          <p:nvPr/>
        </p:nvSpPr>
        <p:spPr>
          <a:xfrm>
            <a:off x="8990000" y="188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동결 번호 · 회원 · 범위 · 유형 · 기간 · 검토 기한</a:t>
            </a:r>
          </a:p>
        </p:txBody>
      </p:sp>
      <p:sp>
        <p:nvSpPr>
          <p:cNvPr id="179" name="t"/>
          <p:cNvSpPr txBox="1"/>
          <p:nvPr/>
        </p:nvSpPr>
        <p:spPr>
          <a:xfrm>
            <a:off x="8990000" y="231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동결 유형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고위험 자동 / 검토 후 수동 / 피해신고 즉시</a:t>
            </a:r>
          </a:p>
        </p:txBody>
      </p:sp>
      <p:sp>
        <p:nvSpPr>
          <p:cNvPr id="180" name="t"/>
          <p:cNvSpPr txBox="1"/>
          <p:nvPr/>
        </p:nvSpPr>
        <p:spPr>
          <a:xfrm>
            <a:off x="8990000" y="274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하단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[검토(2인)] · [동결 연장] · [동결 해제]</a:t>
            </a:r>
          </a:p>
        </p:txBody>
      </p:sp>
      <p:sp>
        <p:nvSpPr>
          <p:cNvPr id="181" name="t"/>
          <p:cNvSpPr txBox="1"/>
          <p:nvPr/>
        </p:nvSpPr>
        <p:spPr>
          <a:xfrm>
            <a:off x="8990000" y="3180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기본 72시간(사전 승인 시 최대 10일) · 범위: 회원 전체·해당 거래·수취계좌</a:t>
            </a:r>
          </a:p>
        </p:txBody>
      </p:sp>
      <p:sp>
        <p:nvSpPr>
          <p:cNvPr id="182" name="t"/>
          <p:cNvSpPr txBox="1"/>
          <p:nvPr/>
        </p:nvSpPr>
        <p:spPr>
          <a:xfrm>
            <a:off x="8990000" y="378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24h 미검토 자동 해제 + 알림 · 대규모(50만 페소↑/100명↑)는 규제기관 2시간 내 통지</a:t>
            </a:r>
          </a:p>
        </p:txBody>
      </p:sp>
      <p:sp>
        <p:nvSpPr>
          <p:cNvPr id="183" name="t"/>
          <p:cNvSpPr txBox="1"/>
          <p:nvPr/>
        </p:nvSpPr>
        <p:spPr>
          <a:xfrm>
            <a:off x="8990000" y="4384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.../freezes · /extend · /release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FDS-CAL-001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영업일 캘린더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필리핀 영업일 캘린더</a:t>
            </a:r>
          </a:p>
        </p:txBody>
      </p:sp>
      <p:sp>
        <p:nvSpPr>
          <p:cNvPr id="105" name="r"/>
          <p:cNvSpPr/>
          <p:nvPr/>
        </p:nvSpPr>
        <p:spPr>
          <a:xfrm>
            <a:off x="7700000" y="1320000"/>
            <a:ext cx="1100000" cy="26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7700000" y="1370000"/>
            <a:ext cx="11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+ 임시 휴일</a:t>
            </a:r>
          </a:p>
        </p:txBody>
      </p:sp>
      <p:sp>
        <p:nvSpPr>
          <p:cNvPr id="107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9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11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2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6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5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0" name="r"/>
          <p:cNvSpPr/>
          <p:nvPr/>
        </p:nvSpPr>
        <p:spPr>
          <a:xfrm>
            <a:off x="100000" y="276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"/>
          <p:cNvSpPr txBox="1"/>
          <p:nvPr/>
        </p:nvSpPr>
        <p:spPr>
          <a:xfrm>
            <a:off x="200000" y="27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0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3" name="r"/>
          <p:cNvSpPr/>
          <p:nvPr/>
        </p:nvSpPr>
        <p:spPr>
          <a:xfrm>
            <a:off x="1950000" y="17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"/>
          <p:cNvSpPr txBox="1"/>
          <p:nvPr/>
        </p:nvSpPr>
        <p:spPr>
          <a:xfrm>
            <a:off x="1950000" y="1760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날짜</a:t>
            </a:r>
          </a:p>
        </p:txBody>
      </p:sp>
      <p:sp>
        <p:nvSpPr>
          <p:cNvPr id="125" name="t"/>
          <p:cNvSpPr txBox="1"/>
          <p:nvPr/>
        </p:nvSpPr>
        <p:spPr>
          <a:xfrm>
            <a:off x="3600000" y="176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영업일 여부</a:t>
            </a:r>
          </a:p>
        </p:txBody>
      </p:sp>
      <p:sp>
        <p:nvSpPr>
          <p:cNvPr id="126" name="t"/>
          <p:cNvSpPr txBox="1"/>
          <p:nvPr/>
        </p:nvSpPr>
        <p:spPr>
          <a:xfrm>
            <a:off x="5300000" y="17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휴일명</a:t>
            </a:r>
          </a:p>
        </p:txBody>
      </p:sp>
      <p:sp>
        <p:nvSpPr>
          <p:cNvPr id="127" name="t"/>
          <p:cNvSpPr txBox="1"/>
          <p:nvPr/>
        </p:nvSpPr>
        <p:spPr>
          <a:xfrm>
            <a:off x="7700000" y="176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출처</a:t>
            </a:r>
          </a:p>
        </p:txBody>
      </p:sp>
      <p:sp>
        <p:nvSpPr>
          <p:cNvPr id="128" name="r"/>
          <p:cNvSpPr/>
          <p:nvPr/>
        </p:nvSpPr>
        <p:spPr>
          <a:xfrm>
            <a:off x="1950000" y="196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"/>
          <p:cNvSpPr txBox="1"/>
          <p:nvPr/>
        </p:nvSpPr>
        <p:spPr>
          <a:xfrm>
            <a:off x="1950000" y="204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2026-06-12</a:t>
            </a:r>
          </a:p>
        </p:txBody>
      </p:sp>
      <p:sp>
        <p:nvSpPr>
          <p:cNvPr id="130" name="t"/>
          <p:cNvSpPr txBox="1"/>
          <p:nvPr/>
        </p:nvSpPr>
        <p:spPr>
          <a:xfrm>
            <a:off x="3600000" y="204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FF4D4F"/>
                </a:solidFill>
                <a:latin typeface="맑은 고딕"/>
              </a:rPr>
              <a:t>휴일 ×</a:t>
            </a:r>
          </a:p>
        </p:txBody>
      </p:sp>
      <p:sp>
        <p:nvSpPr>
          <p:cNvPr id="131" name="t"/>
          <p:cNvSpPr txBox="1"/>
          <p:nvPr/>
        </p:nvSpPr>
        <p:spPr>
          <a:xfrm>
            <a:off x="5300000" y="2045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독립기념일</a:t>
            </a:r>
          </a:p>
        </p:txBody>
      </p:sp>
      <p:sp>
        <p:nvSpPr>
          <p:cNvPr id="132" name="t"/>
          <p:cNvSpPr txBox="1"/>
          <p:nvPr/>
        </p:nvSpPr>
        <p:spPr>
          <a:xfrm>
            <a:off x="7700000" y="2045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BSP 공식</a:t>
            </a:r>
          </a:p>
        </p:txBody>
      </p:sp>
      <p:sp>
        <p:nvSpPr>
          <p:cNvPr id="133" name="r"/>
          <p:cNvSpPr/>
          <p:nvPr/>
        </p:nvSpPr>
        <p:spPr>
          <a:xfrm>
            <a:off x="1950000" y="2280000"/>
            <a:ext cx="6850000" cy="32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"/>
          <p:cNvSpPr txBox="1"/>
          <p:nvPr/>
        </p:nvSpPr>
        <p:spPr>
          <a:xfrm>
            <a:off x="1950000" y="236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2026-06-13</a:t>
            </a:r>
          </a:p>
        </p:txBody>
      </p:sp>
      <p:sp>
        <p:nvSpPr>
          <p:cNvPr id="135" name="t"/>
          <p:cNvSpPr txBox="1"/>
          <p:nvPr/>
        </p:nvSpPr>
        <p:spPr>
          <a:xfrm>
            <a:off x="3600000" y="236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주말 ×</a:t>
            </a:r>
          </a:p>
        </p:txBody>
      </p:sp>
      <p:sp>
        <p:nvSpPr>
          <p:cNvPr id="136" name="t"/>
          <p:cNvSpPr txBox="1"/>
          <p:nvPr/>
        </p:nvSpPr>
        <p:spPr>
          <a:xfrm>
            <a:off x="5300000" y="2365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(토)</a:t>
            </a:r>
          </a:p>
        </p:txBody>
      </p:sp>
      <p:sp>
        <p:nvSpPr>
          <p:cNvPr id="137" name="t"/>
          <p:cNvSpPr txBox="1"/>
          <p:nvPr/>
        </p:nvSpPr>
        <p:spPr>
          <a:xfrm>
            <a:off x="7700000" y="2365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주말</a:t>
            </a:r>
          </a:p>
        </p:txBody>
      </p:sp>
      <p:sp>
        <p:nvSpPr>
          <p:cNvPr id="138" name="r"/>
          <p:cNvSpPr/>
          <p:nvPr/>
        </p:nvSpPr>
        <p:spPr>
          <a:xfrm>
            <a:off x="1950000" y="2600000"/>
            <a:ext cx="6850000" cy="3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1950000" y="268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2026-06-15</a:t>
            </a:r>
          </a:p>
        </p:txBody>
      </p:sp>
      <p:sp>
        <p:nvSpPr>
          <p:cNvPr id="140" name="t"/>
          <p:cNvSpPr txBox="1"/>
          <p:nvPr/>
        </p:nvSpPr>
        <p:spPr>
          <a:xfrm>
            <a:off x="3600000" y="268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영업일 ○</a:t>
            </a:r>
          </a:p>
        </p:txBody>
      </p:sp>
      <p:sp>
        <p:nvSpPr>
          <p:cNvPr id="141" name="t"/>
          <p:cNvSpPr txBox="1"/>
          <p:nvPr/>
        </p:nvSpPr>
        <p:spPr>
          <a:xfrm>
            <a:off x="5300000" y="2685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42" name="t"/>
          <p:cNvSpPr txBox="1"/>
          <p:nvPr/>
        </p:nvSpPr>
        <p:spPr>
          <a:xfrm>
            <a:off x="7700000" y="2685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43" name="r"/>
          <p:cNvSpPr/>
          <p:nvPr/>
        </p:nvSpPr>
        <p:spPr>
          <a:xfrm>
            <a:off x="1950000" y="2920000"/>
            <a:ext cx="6850000" cy="32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"/>
          <p:cNvSpPr txBox="1"/>
          <p:nvPr/>
        </p:nvSpPr>
        <p:spPr>
          <a:xfrm>
            <a:off x="1950000" y="3005000"/>
            <a:ext cx="1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2026-06-16</a:t>
            </a:r>
          </a:p>
        </p:txBody>
      </p:sp>
      <p:sp>
        <p:nvSpPr>
          <p:cNvPr id="145" name="t"/>
          <p:cNvSpPr txBox="1"/>
          <p:nvPr/>
        </p:nvSpPr>
        <p:spPr>
          <a:xfrm>
            <a:off x="3600000" y="300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2C41A"/>
                </a:solidFill>
                <a:latin typeface="맑은 고딕"/>
              </a:rPr>
              <a:t>영업일 ○</a:t>
            </a:r>
          </a:p>
        </p:txBody>
      </p:sp>
      <p:sp>
        <p:nvSpPr>
          <p:cNvPr id="146" name="t"/>
          <p:cNvSpPr txBox="1"/>
          <p:nvPr/>
        </p:nvSpPr>
        <p:spPr>
          <a:xfrm>
            <a:off x="5300000" y="3005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47" name="t"/>
          <p:cNvSpPr txBox="1"/>
          <p:nvPr/>
        </p:nvSpPr>
        <p:spPr>
          <a:xfrm>
            <a:off x="7700000" y="3005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—</a:t>
            </a:r>
          </a:p>
        </p:txBody>
      </p:sp>
      <p:sp>
        <p:nvSpPr>
          <p:cNvPr id="148" name="t"/>
          <p:cNvSpPr txBox="1"/>
          <p:nvPr/>
        </p:nvSpPr>
        <p:spPr>
          <a:xfrm>
            <a:off x="1950000" y="33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8C8C8C"/>
                </a:solidFill>
                <a:latin typeface="맑은 고딕"/>
              </a:rPr>
              <a:t>제출 기한 = 탐지 거래일 기준 다음 5영업일 17:00 (현지 시간, 은행 영업 마감)</a:t>
            </a:r>
          </a:p>
        </p:txBody>
      </p:sp>
      <p:sp>
        <p:nvSpPr>
          <p:cNvPr id="149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FDS-CAL-001</a:t>
            </a:r>
          </a:p>
        </p:txBody>
      </p:sp>
      <p:sp>
        <p:nvSpPr>
          <p:cNvPr id="151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/ 임시 갱신은 컴플라이언스</a:t>
            </a:r>
          </a:p>
        </p:txBody>
      </p:sp>
      <p:sp>
        <p:nvSpPr>
          <p:cNvPr id="153" name="t"/>
          <p:cNvSpPr txBox="1"/>
          <p:nvPr/>
        </p:nvSpPr>
        <p:spPr>
          <a:xfrm>
            <a:off x="8990000" y="160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날짜 · 영업일 여부 · 휴일명 · 출처</a:t>
            </a:r>
          </a:p>
        </p:txBody>
      </p:sp>
      <p:sp>
        <p:nvSpPr>
          <p:cNvPr id="154" name="t"/>
          <p:cNvSpPr txBox="1"/>
          <p:nvPr/>
        </p:nvSpPr>
        <p:spPr>
          <a:xfrm>
            <a:off x="8990000" y="203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[+ 임시 휴일] 버튼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특별 비업무일 등 수동 추가</a:t>
            </a:r>
          </a:p>
        </p:txBody>
      </p:sp>
      <p:sp>
        <p:nvSpPr>
          <p:cNvPr id="155" name="t"/>
          <p:cNvSpPr txBox="1"/>
          <p:nvPr/>
        </p:nvSpPr>
        <p:spPr>
          <a:xfrm>
            <a:off x="8990000" y="246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보고 제출 기한(영업일 5일) 계산의 기준이 되는 달력</a:t>
            </a:r>
          </a:p>
        </p:txBody>
      </p:sp>
      <p:sp>
        <p:nvSpPr>
          <p:cNvPr id="156" name="t"/>
          <p:cNvSpPr txBox="1"/>
          <p:nvPr/>
        </p:nvSpPr>
        <p:spPr>
          <a:xfrm>
            <a:off x="8990000" y="2898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주말·공휴일·특별 비업무일은 영업일에서 제외 · 연 1회 공식 달력 반영</a:t>
            </a:r>
          </a:p>
        </p:txBody>
      </p:sp>
      <p:sp>
        <p:nvSpPr>
          <p:cNvPr id="157" name="t"/>
          <p:cNvSpPr txBox="1"/>
          <p:nvPr/>
        </p:nvSpPr>
        <p:spPr>
          <a:xfrm>
            <a:off x="8990000" y="3500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달력을 바꾸면 진행 중인 보고의 기한이 다시 계산됨 — 영향 건수 경고</a:t>
            </a:r>
          </a:p>
        </p:txBody>
      </p:sp>
      <p:sp>
        <p:nvSpPr>
          <p:cNvPr id="158" name="t"/>
          <p:cNvSpPr txBox="1"/>
          <p:nvPr/>
        </p:nvSpPr>
        <p:spPr>
          <a:xfrm>
            <a:off x="8990000" y="410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GET/PATCH .../aml/banking-calendar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FDS-AUDIT-001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감사 로그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운영 변경 감사 로그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그룹 관리</a:t>
            </a:r>
          </a:p>
        </p:txBody>
      </p:sp>
      <p:sp>
        <p:nvSpPr>
          <p:cNvPr id="114" name="t"/>
          <p:cNvSpPr txBox="1"/>
          <p:nvPr/>
        </p:nvSpPr>
        <p:spPr>
          <a:xfrm>
            <a:off x="200000" y="187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5" name="t"/>
          <p:cNvSpPr txBox="1"/>
          <p:nvPr/>
        </p:nvSpPr>
        <p:spPr>
          <a:xfrm>
            <a:off x="200000" y="210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6" name="t"/>
          <p:cNvSpPr txBox="1"/>
          <p:nvPr/>
        </p:nvSpPr>
        <p:spPr>
          <a:xfrm>
            <a:off x="200000" y="233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56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7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19" name="r"/>
          <p:cNvSpPr/>
          <p:nvPr/>
        </p:nvSpPr>
        <p:spPr>
          <a:xfrm>
            <a:off x="100000" y="299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"/>
          <p:cNvSpPr txBox="1"/>
          <p:nvPr/>
        </p:nvSpPr>
        <p:spPr>
          <a:xfrm>
            <a:off x="200000" y="30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1" name="r"/>
          <p:cNvSpPr/>
          <p:nvPr/>
        </p:nvSpPr>
        <p:spPr>
          <a:xfrm>
            <a:off x="1950000" y="1640000"/>
            <a:ext cx="6850000" cy="47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"/>
          <p:cNvSpPr txBox="1"/>
          <p:nvPr/>
        </p:nvSpPr>
        <p:spPr>
          <a:xfrm>
            <a:off x="20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대상</a:t>
            </a:r>
          </a:p>
        </p:txBody>
      </p:sp>
      <p:sp>
        <p:nvSpPr>
          <p:cNvPr id="123" name="r"/>
          <p:cNvSpPr/>
          <p:nvPr/>
        </p:nvSpPr>
        <p:spPr>
          <a:xfrm>
            <a:off x="20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"/>
          <p:cNvSpPr txBox="1"/>
          <p:nvPr/>
        </p:nvSpPr>
        <p:spPr>
          <a:xfrm>
            <a:off x="21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룰 ▼</a:t>
            </a:r>
          </a:p>
        </p:txBody>
      </p:sp>
      <p:sp>
        <p:nvSpPr>
          <p:cNvPr id="125" name="t"/>
          <p:cNvSpPr txBox="1"/>
          <p:nvPr/>
        </p:nvSpPr>
        <p:spPr>
          <a:xfrm>
            <a:off x="36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작업자</a:t>
            </a:r>
          </a:p>
        </p:txBody>
      </p:sp>
      <p:sp>
        <p:nvSpPr>
          <p:cNvPr id="126" name="r"/>
          <p:cNvSpPr/>
          <p:nvPr/>
        </p:nvSpPr>
        <p:spPr>
          <a:xfrm>
            <a:off x="36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"/>
          <p:cNvSpPr txBox="1"/>
          <p:nvPr/>
        </p:nvSpPr>
        <p:spPr>
          <a:xfrm>
            <a:off x="37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admin</a:t>
            </a:r>
          </a:p>
        </p:txBody>
      </p:sp>
      <p:sp>
        <p:nvSpPr>
          <p:cNvPr id="128" name="t"/>
          <p:cNvSpPr txBox="1"/>
          <p:nvPr/>
        </p:nvSpPr>
        <p:spPr>
          <a:xfrm>
            <a:off x="52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기간</a:t>
            </a:r>
          </a:p>
        </p:txBody>
      </p:sp>
      <p:sp>
        <p:nvSpPr>
          <p:cNvPr id="129" name="r"/>
          <p:cNvSpPr/>
          <p:nvPr/>
        </p:nvSpPr>
        <p:spPr>
          <a:xfrm>
            <a:off x="52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"/>
          <p:cNvSpPr txBox="1"/>
          <p:nvPr/>
        </p:nvSpPr>
        <p:spPr>
          <a:xfrm>
            <a:off x="53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2026-06-01 ~ 06-02</a:t>
            </a:r>
          </a:p>
        </p:txBody>
      </p:sp>
      <p:sp>
        <p:nvSpPr>
          <p:cNvPr id="131" name="t"/>
          <p:cNvSpPr txBox="1"/>
          <p:nvPr/>
        </p:nvSpPr>
        <p:spPr>
          <a:xfrm>
            <a:off x="6850000" y="1700000"/>
            <a:ext cx="1480000" cy="1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대상 ID</a:t>
            </a:r>
          </a:p>
        </p:txBody>
      </p:sp>
      <p:sp>
        <p:nvSpPr>
          <p:cNvPr id="132" name="r"/>
          <p:cNvSpPr/>
          <p:nvPr/>
        </p:nvSpPr>
        <p:spPr>
          <a:xfrm>
            <a:off x="6850000" y="1830000"/>
            <a:ext cx="1480000" cy="2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6920000" y="1865000"/>
            <a:ext cx="13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BFBFBF"/>
                </a:solidFill>
                <a:latin typeface="맑은 고딕"/>
              </a:rPr>
              <a:t>[44_해외]</a:t>
            </a:r>
          </a:p>
        </p:txBody>
      </p:sp>
      <p:sp>
        <p:nvSpPr>
          <p:cNvPr id="134" name="r"/>
          <p:cNvSpPr/>
          <p:nvPr/>
        </p:nvSpPr>
        <p:spPr>
          <a:xfrm>
            <a:off x="7720000" y="1840000"/>
            <a:ext cx="500000" cy="2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772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초기화</a:t>
            </a:r>
          </a:p>
        </p:txBody>
      </p:sp>
      <p:sp>
        <p:nvSpPr>
          <p:cNvPr id="136" name="r"/>
          <p:cNvSpPr/>
          <p:nvPr/>
        </p:nvSpPr>
        <p:spPr>
          <a:xfrm>
            <a:off x="8260000" y="1840000"/>
            <a:ext cx="500000" cy="20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"/>
          <p:cNvSpPr txBox="1"/>
          <p:nvPr/>
        </p:nvSpPr>
        <p:spPr>
          <a:xfrm>
            <a:off x="8260000" y="1890000"/>
            <a:ext cx="5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138" name="r"/>
          <p:cNvSpPr/>
          <p:nvPr/>
        </p:nvSpPr>
        <p:spPr>
          <a:xfrm>
            <a:off x="1950000" y="2200000"/>
            <a:ext cx="6850000" cy="260000"/>
          </a:xfrm>
          <a:prstGeom prst="rect">
            <a:avLst/>
          </a:prstGeom>
          <a:solidFill>
            <a:srgbClr val="F0F2F5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1950000" y="226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시각</a:t>
            </a:r>
          </a:p>
        </p:txBody>
      </p:sp>
      <p:sp>
        <p:nvSpPr>
          <p:cNvPr id="140" name="t"/>
          <p:cNvSpPr txBox="1"/>
          <p:nvPr/>
        </p:nvSpPr>
        <p:spPr>
          <a:xfrm>
            <a:off x="3700000" y="226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대상</a:t>
            </a:r>
          </a:p>
        </p:txBody>
      </p:sp>
      <p:sp>
        <p:nvSpPr>
          <p:cNvPr id="141" name="t"/>
          <p:cNvSpPr txBox="1"/>
          <p:nvPr/>
        </p:nvSpPr>
        <p:spPr>
          <a:xfrm>
            <a:off x="475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작업자</a:t>
            </a:r>
          </a:p>
        </p:txBody>
      </p:sp>
      <p:sp>
        <p:nvSpPr>
          <p:cNvPr id="142" name="t"/>
          <p:cNvSpPr txBox="1"/>
          <p:nvPr/>
        </p:nvSpPr>
        <p:spPr>
          <a:xfrm>
            <a:off x="6050000" y="226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작업</a:t>
            </a:r>
          </a:p>
        </p:txBody>
      </p:sp>
      <p:sp>
        <p:nvSpPr>
          <p:cNvPr id="143" name="t"/>
          <p:cNvSpPr txBox="1"/>
          <p:nvPr/>
        </p:nvSpPr>
        <p:spPr>
          <a:xfrm>
            <a:off x="7500000" y="226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1">
                <a:solidFill>
                  <a:srgbClr val="262626"/>
                </a:solidFill>
                <a:latin typeface="맑은 고딕"/>
              </a:rPr>
              <a:t>대상 항목</a:t>
            </a:r>
          </a:p>
        </p:txBody>
      </p:sp>
      <p:sp>
        <p:nvSpPr>
          <p:cNvPr id="144" name="r"/>
          <p:cNvSpPr/>
          <p:nvPr/>
        </p:nvSpPr>
        <p:spPr>
          <a:xfrm>
            <a:off x="1950000" y="246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"/>
          <p:cNvSpPr txBox="1"/>
          <p:nvPr/>
        </p:nvSpPr>
        <p:spPr>
          <a:xfrm>
            <a:off x="1950000" y="255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06-01 09:10</a:t>
            </a:r>
          </a:p>
        </p:txBody>
      </p:sp>
      <p:sp>
        <p:nvSpPr>
          <p:cNvPr id="146" name="t"/>
          <p:cNvSpPr txBox="1"/>
          <p:nvPr/>
        </p:nvSpPr>
        <p:spPr>
          <a:xfrm>
            <a:off x="3700000" y="255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룰</a:t>
            </a:r>
          </a:p>
        </p:txBody>
      </p:sp>
      <p:sp>
        <p:nvSpPr>
          <p:cNvPr id="147" name="t"/>
          <p:cNvSpPr txBox="1"/>
          <p:nvPr/>
        </p:nvSpPr>
        <p:spPr>
          <a:xfrm>
            <a:off x="475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rule.eng</a:t>
            </a:r>
          </a:p>
        </p:txBody>
      </p:sp>
      <p:sp>
        <p:nvSpPr>
          <p:cNvPr id="148" name="t"/>
          <p:cNvSpPr txBox="1"/>
          <p:nvPr/>
        </p:nvSpPr>
        <p:spPr>
          <a:xfrm>
            <a:off x="6050000" y="255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v3 활성화</a:t>
            </a:r>
          </a:p>
        </p:txBody>
      </p:sp>
      <p:sp>
        <p:nvSpPr>
          <p:cNvPr id="149" name="t"/>
          <p:cNvSpPr txBox="1"/>
          <p:nvPr/>
        </p:nvSpPr>
        <p:spPr>
          <a:xfrm>
            <a:off x="7500000" y="255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[44_해외]</a:t>
            </a:r>
          </a:p>
        </p:txBody>
      </p:sp>
      <p:sp>
        <p:nvSpPr>
          <p:cNvPr id="150" name="r"/>
          <p:cNvSpPr/>
          <p:nvPr/>
        </p:nvSpPr>
        <p:spPr>
          <a:xfrm>
            <a:off x="1950000" y="279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"/>
          <p:cNvSpPr txBox="1"/>
          <p:nvPr/>
        </p:nvSpPr>
        <p:spPr>
          <a:xfrm>
            <a:off x="1950000" y="288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06-01 09:05</a:t>
            </a:r>
          </a:p>
        </p:txBody>
      </p:sp>
      <p:sp>
        <p:nvSpPr>
          <p:cNvPr id="152" name="t"/>
          <p:cNvSpPr txBox="1"/>
          <p:nvPr/>
        </p:nvSpPr>
        <p:spPr>
          <a:xfrm>
            <a:off x="3700000" y="288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룰</a:t>
            </a:r>
          </a:p>
        </p:txBody>
      </p:sp>
      <p:sp>
        <p:nvSpPr>
          <p:cNvPr id="153" name="t"/>
          <p:cNvSpPr txBox="1"/>
          <p:nvPr/>
        </p:nvSpPr>
        <p:spPr>
          <a:xfrm>
            <a:off x="475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comp.lead</a:t>
            </a:r>
          </a:p>
        </p:txBody>
      </p:sp>
      <p:sp>
        <p:nvSpPr>
          <p:cNvPr id="154" name="t"/>
          <p:cNvSpPr txBox="1"/>
          <p:nvPr/>
        </p:nvSpPr>
        <p:spPr>
          <a:xfrm>
            <a:off x="6050000" y="288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v3 승인</a:t>
            </a:r>
          </a:p>
        </p:txBody>
      </p:sp>
      <p:sp>
        <p:nvSpPr>
          <p:cNvPr id="155" name="t"/>
          <p:cNvSpPr txBox="1"/>
          <p:nvPr/>
        </p:nvSpPr>
        <p:spPr>
          <a:xfrm>
            <a:off x="7500000" y="288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[44_해외]</a:t>
            </a:r>
          </a:p>
        </p:txBody>
      </p:sp>
      <p:sp>
        <p:nvSpPr>
          <p:cNvPr id="156" name="r"/>
          <p:cNvSpPr/>
          <p:nvPr/>
        </p:nvSpPr>
        <p:spPr>
          <a:xfrm>
            <a:off x="1950000" y="3120000"/>
            <a:ext cx="68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"/>
          <p:cNvSpPr txBox="1"/>
          <p:nvPr/>
        </p:nvSpPr>
        <p:spPr>
          <a:xfrm>
            <a:off x="1950000" y="321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05-31 18:20</a:t>
            </a:r>
          </a:p>
        </p:txBody>
      </p:sp>
      <p:sp>
        <p:nvSpPr>
          <p:cNvPr id="158" name="t"/>
          <p:cNvSpPr txBox="1"/>
          <p:nvPr/>
        </p:nvSpPr>
        <p:spPr>
          <a:xfrm>
            <a:off x="3700000" y="321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그룹</a:t>
            </a:r>
          </a:p>
        </p:txBody>
      </p:sp>
      <p:sp>
        <p:nvSpPr>
          <p:cNvPr id="159" name="t"/>
          <p:cNvSpPr txBox="1"/>
          <p:nvPr/>
        </p:nvSpPr>
        <p:spPr>
          <a:xfrm>
            <a:off x="475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fds.ops</a:t>
            </a:r>
          </a:p>
        </p:txBody>
      </p:sp>
      <p:sp>
        <p:nvSpPr>
          <p:cNvPr id="160" name="t"/>
          <p:cNvSpPr txBox="1"/>
          <p:nvPr/>
        </p:nvSpPr>
        <p:spPr>
          <a:xfrm>
            <a:off x="6050000" y="321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멤버 해제</a:t>
            </a:r>
          </a:p>
        </p:txBody>
      </p:sp>
      <p:sp>
        <p:nvSpPr>
          <p:cNvPr id="161" name="t"/>
          <p:cNvSpPr txBox="1"/>
          <p:nvPr/>
        </p:nvSpPr>
        <p:spPr>
          <a:xfrm>
            <a:off x="7500000" y="321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APP_RESTRICT_47</a:t>
            </a:r>
          </a:p>
        </p:txBody>
      </p:sp>
      <p:sp>
        <p:nvSpPr>
          <p:cNvPr id="162" name="r"/>
          <p:cNvSpPr/>
          <p:nvPr/>
        </p:nvSpPr>
        <p:spPr>
          <a:xfrm>
            <a:off x="1950000" y="3450000"/>
            <a:ext cx="6850000" cy="33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1950000" y="3540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05-30 11:00</a:t>
            </a:r>
          </a:p>
        </p:txBody>
      </p:sp>
      <p:sp>
        <p:nvSpPr>
          <p:cNvPr id="164" name="t"/>
          <p:cNvSpPr txBox="1"/>
          <p:nvPr/>
        </p:nvSpPr>
        <p:spPr>
          <a:xfrm>
            <a:off x="3700000" y="3540000"/>
            <a:ext cx="1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CTR</a:t>
            </a:r>
          </a:p>
        </p:txBody>
      </p:sp>
      <p:sp>
        <p:nvSpPr>
          <p:cNvPr id="165" name="t"/>
          <p:cNvSpPr txBox="1"/>
          <p:nvPr/>
        </p:nvSpPr>
        <p:spPr>
          <a:xfrm>
            <a:off x="4750000" y="354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comp.lead</a:t>
            </a:r>
          </a:p>
        </p:txBody>
      </p:sp>
      <p:sp>
        <p:nvSpPr>
          <p:cNvPr id="166" name="t"/>
          <p:cNvSpPr txBox="1"/>
          <p:nvPr/>
        </p:nvSpPr>
        <p:spPr>
          <a:xfrm>
            <a:off x="6050000" y="3540000"/>
            <a:ext cx="1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기준값 변경</a:t>
            </a:r>
          </a:p>
        </p:txBody>
      </p:sp>
      <p:sp>
        <p:nvSpPr>
          <p:cNvPr id="167" name="t"/>
          <p:cNvSpPr txBox="1"/>
          <p:nvPr/>
        </p:nvSpPr>
        <p:spPr>
          <a:xfrm>
            <a:off x="7500000" y="3540000"/>
            <a:ext cx="13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262626"/>
                </a:solidFill>
                <a:latin typeface="맑은 고딕"/>
              </a:rPr>
              <a:t>달러(USD)</a:t>
            </a:r>
          </a:p>
        </p:txBody>
      </p:sp>
      <p:sp>
        <p:nvSpPr>
          <p:cNvPr id="168" name="t"/>
          <p:cNvSpPr txBox="1"/>
          <p:nvPr/>
        </p:nvSpPr>
        <p:spPr>
          <a:xfrm>
            <a:off x="1950000" y="3860000"/>
            <a:ext cx="3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◀  1  2  3  …  ▶</a:t>
            </a:r>
          </a:p>
        </p:txBody>
      </p:sp>
      <p:sp>
        <p:nvSpPr>
          <p:cNvPr id="169" name="t"/>
          <p:cNvSpPr txBox="1"/>
          <p:nvPr/>
        </p:nvSpPr>
        <p:spPr>
          <a:xfrm>
            <a:off x="6400000" y="3860000"/>
            <a:ext cx="24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00" b="0">
                <a:solidFill>
                  <a:srgbClr val="8C8C8C"/>
                </a:solidFill>
                <a:latin typeface="맑은 고딕"/>
              </a:rPr>
              <a:t>룰/그룹/보고 7년 · 조회 1년 보존</a:t>
            </a:r>
          </a:p>
        </p:txBody>
      </p:sp>
      <p:sp>
        <p:nvSpPr>
          <p:cNvPr id="170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FDS-AUDIT-001</a:t>
            </a:r>
          </a:p>
        </p:txBody>
      </p:sp>
      <p:sp>
        <p:nvSpPr>
          <p:cNvPr id="172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"/>
          <p:cNvSpPr txBox="1"/>
          <p:nvPr/>
        </p:nvSpPr>
        <p:spPr>
          <a:xfrm>
            <a:off x="8990000" y="1170000"/>
            <a:ext cx="2840000" cy="19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조회 권한</a:t>
            </a:r>
          </a:p>
        </p:txBody>
      </p:sp>
      <p:sp>
        <p:nvSpPr>
          <p:cNvPr id="174" name="t"/>
          <p:cNvSpPr txBox="1"/>
          <p:nvPr/>
        </p:nvSpPr>
        <p:spPr>
          <a:xfrm>
            <a:off x="8990000" y="1452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검색 조건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대상 · 작업자 · 기간 · 대상 ID</a:t>
            </a:r>
          </a:p>
        </p:txBody>
      </p:sp>
      <p:sp>
        <p:nvSpPr>
          <p:cNvPr id="175" name="t"/>
          <p:cNvSpPr txBox="1"/>
          <p:nvPr/>
        </p:nvSpPr>
        <p:spPr>
          <a:xfrm>
            <a:off x="8990000" y="188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목록 컬럼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시각 · 대상 · 작업자 · 작업 · 대상 항목</a:t>
            </a:r>
          </a:p>
        </p:txBody>
      </p:sp>
      <p:sp>
        <p:nvSpPr>
          <p:cNvPr id="176" name="t"/>
          <p:cNvSpPr txBox="1"/>
          <p:nvPr/>
        </p:nvSpPr>
        <p:spPr>
          <a:xfrm>
            <a:off x="8990000" y="231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룰·그룹·보고·기준값·동결 변경과 회원 조회 행위를 모두 기록</a:t>
            </a:r>
          </a:p>
        </p:txBody>
      </p:sp>
      <p:sp>
        <p:nvSpPr>
          <p:cNvPr id="177" name="t"/>
          <p:cNvSpPr txBox="1"/>
          <p:nvPr/>
        </p:nvSpPr>
        <p:spPr>
          <a:xfrm>
            <a:off x="8990000" y="2748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룰·그룹·보고는 7년, 조회·로그인은 1년 보존</a:t>
            </a:r>
          </a:p>
        </p:txBody>
      </p:sp>
      <p:sp>
        <p:nvSpPr>
          <p:cNvPr id="178" name="t"/>
          <p:cNvSpPr txBox="1"/>
          <p:nvPr/>
        </p:nvSpPr>
        <p:spPr>
          <a:xfrm>
            <a:off x="8990000" y="318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2인 결재 위반·우회 시도를 점검하는 리포트(월 1회)</a:t>
            </a:r>
          </a:p>
        </p:txBody>
      </p:sp>
      <p:sp>
        <p:nvSpPr>
          <p:cNvPr id="179" name="t"/>
          <p:cNvSpPr txBox="1"/>
          <p:nvPr/>
        </p:nvSpPr>
        <p:spPr>
          <a:xfrm>
            <a:off x="8990000" y="361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개인정보 삭제 요청 시 회원 식별값을 가림 처리 · 변경 전/후 비교 · 수정·삭제 불가</a:t>
            </a:r>
          </a:p>
        </p:txBody>
      </p:sp>
      <p:sp>
        <p:nvSpPr>
          <p:cNvPr id="180" name="t"/>
          <p:cNvSpPr txBox="1"/>
          <p:nvPr/>
        </p:nvSpPr>
        <p:spPr>
          <a:xfrm>
            <a:off x="8990000" y="421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GET /admin/fds/audit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"/>
          <p:cNvSpPr txBox="1"/>
          <p:nvPr/>
        </p:nvSpPr>
        <p:spPr>
          <a:xfrm>
            <a:off x="120000" y="130000"/>
            <a:ext cx="86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2000" b="1">
                <a:solidFill>
                  <a:srgbClr val="262626"/>
                </a:solidFill>
                <a:latin typeface="맑은 고딕"/>
              </a:rPr>
              <a:t>이상거래 탐지(FdsSvc) 백오피스</a:t>
            </a:r>
          </a:p>
        </p:txBody>
      </p:sp>
      <p:sp>
        <p:nvSpPr>
          <p:cNvPr id="102" name="t"/>
          <p:cNvSpPr txBox="1"/>
          <p:nvPr/>
        </p:nvSpPr>
        <p:spPr>
          <a:xfrm>
            <a:off x="120000" y="520000"/>
            <a:ext cx="8600000" cy="2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000" b="0">
                <a:solidFill>
                  <a:srgbClr val="8C8C8C"/>
                </a:solidFill>
                <a:latin typeface="맑은 고딕"/>
              </a:rPr>
              <a:t>FDS-GRP-003</a:t>
            </a:r>
          </a:p>
        </p:txBody>
      </p:sp>
      <p:sp>
        <p:nvSpPr>
          <p:cNvPr id="103" name="t"/>
          <p:cNvSpPr txBox="1"/>
          <p:nvPr/>
        </p:nvSpPr>
        <p:spPr>
          <a:xfrm>
            <a:off x="1950000" y="1130000"/>
            <a:ext cx="68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8C8C8C"/>
                </a:solidFill>
                <a:latin typeface="맑은 고딕"/>
              </a:rPr>
              <a:t>FDS Console &gt; 그룹 관리 &gt; 등록</a:t>
            </a:r>
          </a:p>
        </p:txBody>
      </p:sp>
      <p:sp>
        <p:nvSpPr>
          <p:cNvPr id="104" name="t"/>
          <p:cNvSpPr txBox="1"/>
          <p:nvPr/>
        </p:nvSpPr>
        <p:spPr>
          <a:xfrm>
            <a:off x="1950000" y="1300000"/>
            <a:ext cx="5200000" cy="32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1300" b="1">
                <a:solidFill>
                  <a:srgbClr val="262626"/>
                </a:solidFill>
                <a:latin typeface="맑은 고딕"/>
              </a:rPr>
              <a:t>그룹 등록 / 수정</a:t>
            </a:r>
          </a:p>
        </p:txBody>
      </p:sp>
      <p:sp>
        <p:nvSpPr>
          <p:cNvPr id="105" name="r"/>
          <p:cNvSpPr/>
          <p:nvPr/>
        </p:nvSpPr>
        <p:spPr>
          <a:xfrm>
            <a:off x="100000" y="780000"/>
            <a:ext cx="8720000" cy="300000"/>
          </a:xfrm>
          <a:prstGeom prst="rect">
            <a:avLst/>
          </a:prstGeom>
          <a:solidFill>
            <a:srgbClr val="00152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"/>
          <p:cNvSpPr txBox="1"/>
          <p:nvPr/>
        </p:nvSpPr>
        <p:spPr>
          <a:xfrm>
            <a:off x="200000" y="850000"/>
            <a:ext cx="12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50" b="1">
                <a:solidFill>
                  <a:srgbClr val="FFFFFF"/>
                </a:solidFill>
                <a:latin typeface="맑은 고딕"/>
              </a:rPr>
              <a:t>HANPASS</a:t>
            </a:r>
          </a:p>
        </p:txBody>
      </p:sp>
      <p:sp>
        <p:nvSpPr>
          <p:cNvPr id="107" name="r"/>
          <p:cNvSpPr/>
          <p:nvPr/>
        </p:nvSpPr>
        <p:spPr>
          <a:xfrm>
            <a:off x="1950000" y="830000"/>
            <a:ext cx="3500000" cy="200000"/>
          </a:xfrm>
          <a:prstGeom prst="roundRect">
            <a:avLst/>
          </a:prstGeom>
          <a:solidFill>
            <a:srgbClr val="003A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"/>
          <p:cNvSpPr txBox="1"/>
          <p:nvPr/>
        </p:nvSpPr>
        <p:spPr>
          <a:xfrm>
            <a:off x="2080000" y="862000"/>
            <a:ext cx="3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A0B8D8"/>
                </a:solidFill>
                <a:latin typeface="맑은 고딕"/>
              </a:rPr>
              <a:t>ruleNo, memberId 검색...</a:t>
            </a:r>
          </a:p>
        </p:txBody>
      </p:sp>
      <p:sp>
        <p:nvSpPr>
          <p:cNvPr id="109" name="t"/>
          <p:cNvSpPr txBox="1"/>
          <p:nvPr/>
        </p:nvSpPr>
        <p:spPr>
          <a:xfrm>
            <a:off x="7500000" y="855000"/>
            <a:ext cx="1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r"/>
            <a:r>
              <a:rPr lang="ko-KR" sz="750" b="0">
                <a:solidFill>
                  <a:srgbClr val="FFFFFF"/>
                </a:solidFill>
                <a:latin typeface="맑은 고딕"/>
              </a:rPr>
              <a:t>관리자 admin ▼</a:t>
            </a:r>
          </a:p>
        </p:txBody>
      </p:sp>
      <p:sp>
        <p:nvSpPr>
          <p:cNvPr id="110" name="r"/>
          <p:cNvSpPr/>
          <p:nvPr/>
        </p:nvSpPr>
        <p:spPr>
          <a:xfrm>
            <a:off x="100000" y="1080000"/>
            <a:ext cx="1700000" cy="5600000"/>
          </a:xfrm>
          <a:prstGeom prst="rect">
            <a:avLst/>
          </a:prstGeom>
          <a:solidFill>
            <a:srgbClr val="FAFAFA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"/>
          <p:cNvSpPr txBox="1"/>
          <p:nvPr/>
        </p:nvSpPr>
        <p:spPr>
          <a:xfrm>
            <a:off x="200000" y="11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대시보드</a:t>
            </a:r>
          </a:p>
        </p:txBody>
      </p:sp>
      <p:sp>
        <p:nvSpPr>
          <p:cNvPr id="112" name="t"/>
          <p:cNvSpPr txBox="1"/>
          <p:nvPr/>
        </p:nvSpPr>
        <p:spPr>
          <a:xfrm>
            <a:off x="200000" y="14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룰 관리</a:t>
            </a:r>
          </a:p>
        </p:txBody>
      </p:sp>
      <p:sp>
        <p:nvSpPr>
          <p:cNvPr id="113" name="r"/>
          <p:cNvSpPr/>
          <p:nvPr/>
        </p:nvSpPr>
        <p:spPr>
          <a:xfrm>
            <a:off x="100000" y="1610000"/>
            <a:ext cx="1700000" cy="210000"/>
          </a:xfrm>
          <a:prstGeom prst="rect">
            <a:avLst/>
          </a:prstGeom>
          <a:solidFill>
            <a:srgbClr val="E6F7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"/>
          <p:cNvSpPr txBox="1"/>
          <p:nvPr/>
        </p:nvSpPr>
        <p:spPr>
          <a:xfrm>
            <a:off x="200000" y="16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▾ 그룹 관리</a:t>
            </a:r>
          </a:p>
        </p:txBody>
      </p:sp>
      <p:sp>
        <p:nvSpPr>
          <p:cNvPr id="115" name="t"/>
          <p:cNvSpPr txBox="1"/>
          <p:nvPr/>
        </p:nvSpPr>
        <p:spPr>
          <a:xfrm>
            <a:off x="360000" y="187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0">
                <a:solidFill>
                  <a:srgbClr val="595959"/>
                </a:solidFill>
                <a:latin typeface="맑은 고딕"/>
              </a:rPr>
              <a:t>– 그룹 목록</a:t>
            </a:r>
          </a:p>
        </p:txBody>
      </p:sp>
      <p:sp>
        <p:nvSpPr>
          <p:cNvPr id="116" name="t"/>
          <p:cNvSpPr txBox="1"/>
          <p:nvPr/>
        </p:nvSpPr>
        <p:spPr>
          <a:xfrm>
            <a:off x="360000" y="2080000"/>
            <a:ext cx="144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80" b="1">
                <a:solidFill>
                  <a:srgbClr val="1890FF"/>
                </a:solidFill>
                <a:latin typeface="맑은 고딕"/>
              </a:rPr>
              <a:t>– 그룹 등록 ◀</a:t>
            </a:r>
          </a:p>
        </p:txBody>
      </p:sp>
      <p:sp>
        <p:nvSpPr>
          <p:cNvPr id="117" name="t"/>
          <p:cNvSpPr txBox="1"/>
          <p:nvPr/>
        </p:nvSpPr>
        <p:spPr>
          <a:xfrm>
            <a:off x="200000" y="229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탐지 결정</a:t>
            </a:r>
          </a:p>
        </p:txBody>
      </p:sp>
      <p:sp>
        <p:nvSpPr>
          <p:cNvPr id="118" name="t"/>
          <p:cNvSpPr txBox="1"/>
          <p:nvPr/>
        </p:nvSpPr>
        <p:spPr>
          <a:xfrm>
            <a:off x="200000" y="252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시뮬레이션</a:t>
            </a:r>
          </a:p>
        </p:txBody>
      </p:sp>
      <p:sp>
        <p:nvSpPr>
          <p:cNvPr id="119" name="t"/>
          <p:cNvSpPr txBox="1"/>
          <p:nvPr/>
        </p:nvSpPr>
        <p:spPr>
          <a:xfrm>
            <a:off x="200000" y="275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AML 보고</a:t>
            </a:r>
          </a:p>
        </p:txBody>
      </p:sp>
      <p:sp>
        <p:nvSpPr>
          <p:cNvPr id="120" name="t"/>
          <p:cNvSpPr txBox="1"/>
          <p:nvPr/>
        </p:nvSpPr>
        <p:spPr>
          <a:xfrm>
            <a:off x="200000" y="298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AFASA 동결</a:t>
            </a:r>
          </a:p>
        </p:txBody>
      </p:sp>
      <p:sp>
        <p:nvSpPr>
          <p:cNvPr id="121" name="t"/>
          <p:cNvSpPr txBox="1"/>
          <p:nvPr/>
        </p:nvSpPr>
        <p:spPr>
          <a:xfrm>
            <a:off x="200000" y="321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영업일 캘린더</a:t>
            </a:r>
          </a:p>
        </p:txBody>
      </p:sp>
      <p:sp>
        <p:nvSpPr>
          <p:cNvPr id="122" name="t"/>
          <p:cNvSpPr txBox="1"/>
          <p:nvPr/>
        </p:nvSpPr>
        <p:spPr>
          <a:xfrm>
            <a:off x="200000" y="3440000"/>
            <a:ext cx="1500000" cy="1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● 감사 로그</a:t>
            </a:r>
          </a:p>
        </p:txBody>
      </p:sp>
      <p:sp>
        <p:nvSpPr>
          <p:cNvPr id="125" name="t"/>
          <p:cNvSpPr txBox="1"/>
          <p:nvPr/>
        </p:nvSpPr>
        <p:spPr>
          <a:xfrm>
            <a:off x="1950000" y="180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그룹 코드 *</a:t>
            </a:r>
          </a:p>
        </p:txBody>
      </p:sp>
      <p:sp>
        <p:nvSpPr>
          <p:cNvPr id="123" name="r"/>
          <p:cNvSpPr/>
          <p:nvPr/>
        </p:nvSpPr>
        <p:spPr>
          <a:xfrm>
            <a:off x="3900000" y="1740000"/>
            <a:ext cx="26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"/>
          <p:cNvSpPr txBox="1"/>
          <p:nvPr/>
        </p:nvSpPr>
        <p:spPr>
          <a:xfrm>
            <a:off x="3980000" y="1780000"/>
            <a:ext cx="24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APP_BLACKLIST_IP</a:t>
            </a:r>
          </a:p>
        </p:txBody>
      </p:sp>
      <p:sp>
        <p:nvSpPr>
          <p:cNvPr id="126" name="t"/>
          <p:cNvSpPr txBox="1"/>
          <p:nvPr/>
        </p:nvSpPr>
        <p:spPr>
          <a:xfrm>
            <a:off x="6620000" y="1800000"/>
            <a:ext cx="2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50" b="0">
                <a:solidFill>
                  <a:srgbClr val="8C8C8C"/>
                </a:solidFill>
                <a:latin typeface="맑은 고딕"/>
              </a:rPr>
              <a:t>영문 대문자·숫자·_ (생성 후 변경 불가)</a:t>
            </a:r>
          </a:p>
        </p:txBody>
      </p:sp>
      <p:sp>
        <p:nvSpPr>
          <p:cNvPr id="129" name="t"/>
          <p:cNvSpPr txBox="1"/>
          <p:nvPr/>
        </p:nvSpPr>
        <p:spPr>
          <a:xfrm>
            <a:off x="1950000" y="218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그룹 종류 *</a:t>
            </a:r>
          </a:p>
        </p:txBody>
      </p:sp>
      <p:sp>
        <p:nvSpPr>
          <p:cNvPr id="127" name="r"/>
          <p:cNvSpPr/>
          <p:nvPr/>
        </p:nvSpPr>
        <p:spPr>
          <a:xfrm>
            <a:off x="3900000" y="2120000"/>
            <a:ext cx="20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"/>
          <p:cNvSpPr txBox="1"/>
          <p:nvPr/>
        </p:nvSpPr>
        <p:spPr>
          <a:xfrm>
            <a:off x="3980000" y="2160000"/>
            <a:ext cx="18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IP ▼</a:t>
            </a:r>
          </a:p>
        </p:txBody>
      </p:sp>
      <p:sp>
        <p:nvSpPr>
          <p:cNvPr id="130" name="t"/>
          <p:cNvSpPr txBox="1"/>
          <p:nvPr/>
        </p:nvSpPr>
        <p:spPr>
          <a:xfrm>
            <a:off x="6620000" y="2180000"/>
            <a:ext cx="2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50" b="0">
                <a:solidFill>
                  <a:srgbClr val="8C8C8C"/>
                </a:solidFill>
                <a:latin typeface="맑은 고딕"/>
              </a:rPr>
              <a:t>회원/IP/이메일/실명번호/단말기/수취계좌/가맹점</a:t>
            </a:r>
          </a:p>
        </p:txBody>
      </p:sp>
      <p:sp>
        <p:nvSpPr>
          <p:cNvPr id="136" name="t"/>
          <p:cNvSpPr txBox="1"/>
          <p:nvPr/>
        </p:nvSpPr>
        <p:spPr>
          <a:xfrm>
            <a:off x="1950000" y="256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용도 *</a:t>
            </a:r>
          </a:p>
        </p:txBody>
      </p:sp>
      <p:sp>
        <p:nvSpPr>
          <p:cNvPr id="131" name="r"/>
          <p:cNvSpPr/>
          <p:nvPr/>
        </p:nvSpPr>
        <p:spPr>
          <a:xfrm>
            <a:off x="3900000" y="2500000"/>
            <a:ext cx="170000" cy="1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"/>
          <p:cNvSpPr/>
          <p:nvPr/>
        </p:nvSpPr>
        <p:spPr>
          <a:xfrm>
            <a:off x="3945000" y="2545000"/>
            <a:ext cx="80000" cy="8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"/>
          <p:cNvSpPr txBox="1"/>
          <p:nvPr/>
        </p:nvSpPr>
        <p:spPr>
          <a:xfrm>
            <a:off x="4130000" y="2515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블랙리스트 (차단)</a:t>
            </a:r>
          </a:p>
        </p:txBody>
      </p:sp>
      <p:sp>
        <p:nvSpPr>
          <p:cNvPr id="134" name="r"/>
          <p:cNvSpPr/>
          <p:nvPr/>
        </p:nvSpPr>
        <p:spPr>
          <a:xfrm>
            <a:off x="6100000" y="2500000"/>
            <a:ext cx="170000" cy="1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"/>
          <p:cNvSpPr txBox="1"/>
          <p:nvPr/>
        </p:nvSpPr>
        <p:spPr>
          <a:xfrm>
            <a:off x="6330000" y="251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화이트리스트 (허용)</a:t>
            </a:r>
          </a:p>
        </p:txBody>
      </p:sp>
      <p:sp>
        <p:nvSpPr>
          <p:cNvPr id="142" name="t"/>
          <p:cNvSpPr txBox="1"/>
          <p:nvPr/>
        </p:nvSpPr>
        <p:spPr>
          <a:xfrm>
            <a:off x="1950000" y="294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등록 방식 *</a:t>
            </a:r>
          </a:p>
        </p:txBody>
      </p:sp>
      <p:sp>
        <p:nvSpPr>
          <p:cNvPr id="137" name="r"/>
          <p:cNvSpPr/>
          <p:nvPr/>
        </p:nvSpPr>
        <p:spPr>
          <a:xfrm>
            <a:off x="3900000" y="2880000"/>
            <a:ext cx="170000" cy="1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"/>
          <p:cNvSpPr/>
          <p:nvPr/>
        </p:nvSpPr>
        <p:spPr>
          <a:xfrm>
            <a:off x="3945000" y="2925000"/>
            <a:ext cx="80000" cy="8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"/>
          <p:cNvSpPr txBox="1"/>
          <p:nvPr/>
        </p:nvSpPr>
        <p:spPr>
          <a:xfrm>
            <a:off x="4130000" y="2895000"/>
            <a:ext cx="1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수동 등록</a:t>
            </a:r>
          </a:p>
        </p:txBody>
      </p:sp>
      <p:sp>
        <p:nvSpPr>
          <p:cNvPr id="140" name="r"/>
          <p:cNvSpPr/>
          <p:nvPr/>
        </p:nvSpPr>
        <p:spPr>
          <a:xfrm>
            <a:off x="5900000" y="2880000"/>
            <a:ext cx="170000" cy="1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"/>
          <p:cNvSpPr txBox="1"/>
          <p:nvPr/>
        </p:nvSpPr>
        <p:spPr>
          <a:xfrm>
            <a:off x="6130000" y="2895000"/>
            <a:ext cx="20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자동 (룰 hit 시)</a:t>
            </a:r>
          </a:p>
        </p:txBody>
      </p:sp>
      <p:sp>
        <p:nvSpPr>
          <p:cNvPr id="146" name="t"/>
          <p:cNvSpPr txBox="1"/>
          <p:nvPr/>
        </p:nvSpPr>
        <p:spPr>
          <a:xfrm>
            <a:off x="1950000" y="332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룰 hit 자동등록</a:t>
            </a:r>
          </a:p>
        </p:txBody>
      </p:sp>
      <p:sp>
        <p:nvSpPr>
          <p:cNvPr id="143" name="r"/>
          <p:cNvSpPr/>
          <p:nvPr/>
        </p:nvSpPr>
        <p:spPr>
          <a:xfrm>
            <a:off x="3900000" y="3260000"/>
            <a:ext cx="170000" cy="1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"/>
          <p:cNvSpPr txBox="1"/>
          <p:nvPr/>
        </p:nvSpPr>
        <p:spPr>
          <a:xfrm>
            <a:off x="3945000" y="3270000"/>
            <a:ext cx="1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20" b="1">
                <a:solidFill>
                  <a:srgbClr val="1890FF"/>
                </a:solidFill>
                <a:latin typeface="맑은 고딕"/>
              </a:rPr>
              <a:t>✓</a:t>
            </a:r>
          </a:p>
        </p:txBody>
      </p:sp>
      <p:sp>
        <p:nvSpPr>
          <p:cNvPr id="145" name="t"/>
          <p:cNvSpPr txBox="1"/>
          <p:nvPr/>
        </p:nvSpPr>
        <p:spPr>
          <a:xfrm>
            <a:off x="4130000" y="3275000"/>
            <a:ext cx="46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룰 탐지 시 대상(회원/IP 등)을 이 그룹에 자동 추가</a:t>
            </a:r>
          </a:p>
        </p:txBody>
      </p:sp>
      <p:sp>
        <p:nvSpPr>
          <p:cNvPr id="149" name="t"/>
          <p:cNvSpPr txBox="1"/>
          <p:nvPr/>
        </p:nvSpPr>
        <p:spPr>
          <a:xfrm>
            <a:off x="1950000" y="370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기본 만료 (일)</a:t>
            </a:r>
          </a:p>
        </p:txBody>
      </p:sp>
      <p:sp>
        <p:nvSpPr>
          <p:cNvPr id="147" name="r"/>
          <p:cNvSpPr/>
          <p:nvPr/>
        </p:nvSpPr>
        <p:spPr>
          <a:xfrm>
            <a:off x="3900000" y="3640000"/>
            <a:ext cx="9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"/>
          <p:cNvSpPr txBox="1"/>
          <p:nvPr/>
        </p:nvSpPr>
        <p:spPr>
          <a:xfrm>
            <a:off x="3980000" y="3680000"/>
            <a:ext cx="76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0">
                <a:solidFill>
                  <a:srgbClr val="262626"/>
                </a:solidFill>
                <a:latin typeface="맑은 고딕"/>
              </a:rPr>
              <a:t>90</a:t>
            </a:r>
          </a:p>
        </p:txBody>
      </p:sp>
      <p:sp>
        <p:nvSpPr>
          <p:cNvPr id="150" name="t"/>
          <p:cNvSpPr txBox="1"/>
          <p:nvPr/>
        </p:nvSpPr>
        <p:spPr>
          <a:xfrm>
            <a:off x="6620000" y="3700000"/>
            <a:ext cx="22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650" b="0">
                <a:solidFill>
                  <a:srgbClr val="8C8C8C"/>
                </a:solidFill>
                <a:latin typeface="맑은 고딕"/>
              </a:rPr>
              <a:t>비우면 영구 (자동 해제 안 함)</a:t>
            </a:r>
          </a:p>
        </p:txBody>
      </p:sp>
      <p:sp>
        <p:nvSpPr>
          <p:cNvPr id="153" name="t"/>
          <p:cNvSpPr txBox="1"/>
          <p:nvPr/>
        </p:nvSpPr>
        <p:spPr>
          <a:xfrm>
            <a:off x="1950000" y="4080000"/>
            <a:ext cx="19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262626"/>
                </a:solidFill>
                <a:latin typeface="맑은 고딕"/>
              </a:rPr>
              <a:t>설명</a:t>
            </a:r>
          </a:p>
        </p:txBody>
      </p:sp>
      <p:sp>
        <p:nvSpPr>
          <p:cNvPr id="151" name="r"/>
          <p:cNvSpPr/>
          <p:nvPr/>
        </p:nvSpPr>
        <p:spPr>
          <a:xfrm>
            <a:off x="3900000" y="4020000"/>
            <a:ext cx="4900000" cy="2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"/>
          <p:cNvSpPr txBox="1"/>
          <p:nvPr/>
        </p:nvSpPr>
        <p:spPr>
          <a:xfrm>
            <a:off x="3980000" y="4065000"/>
            <a:ext cx="4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262626"/>
                </a:solidFill>
                <a:latin typeface="맑은 고딕"/>
              </a:rPr>
              <a:t>사기 연루 IP 차단 그룹</a:t>
            </a:r>
          </a:p>
        </p:txBody>
      </p:sp>
      <p:sp>
        <p:nvSpPr>
          <p:cNvPr id="154" name="r"/>
          <p:cNvSpPr/>
          <p:nvPr/>
        </p:nvSpPr>
        <p:spPr>
          <a:xfrm>
            <a:off x="1950000" y="4440000"/>
            <a:ext cx="6850000" cy="420000"/>
          </a:xfrm>
          <a:prstGeom prst="roundRect">
            <a:avLst/>
          </a:prstGeom>
          <a:solidFill>
            <a:srgbClr val="E6F7FF"/>
          </a:solidFill>
          <a:ln w="9525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"/>
          <p:cNvSpPr txBox="1"/>
          <p:nvPr/>
        </p:nvSpPr>
        <p:spPr>
          <a:xfrm>
            <a:off x="2070000" y="4510000"/>
            <a:ext cx="6610000" cy="26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00" b="0">
                <a:solidFill>
                  <a:srgbClr val="595959"/>
                </a:solidFill>
                <a:latin typeface="맑은 고딕"/>
              </a:rPr>
              <a:t>※ 그룹은 ‘정의(틀)’만 생성합니다. 실제 대상(멤버) 등록·해제는 그룹 목록 화면에서 수행합니다.</a:t>
            </a:r>
          </a:p>
        </p:txBody>
      </p:sp>
      <p:sp>
        <p:nvSpPr>
          <p:cNvPr id="156" name="r"/>
          <p:cNvSpPr/>
          <p:nvPr/>
        </p:nvSpPr>
        <p:spPr>
          <a:xfrm>
            <a:off x="8040000" y="6430000"/>
            <a:ext cx="700000" cy="2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"/>
          <p:cNvSpPr txBox="1"/>
          <p:nvPr/>
        </p:nvSpPr>
        <p:spPr>
          <a:xfrm>
            <a:off x="8040000" y="648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262626"/>
                </a:solidFill>
                <a:latin typeface="맑은 고딕"/>
              </a:rPr>
              <a:t>취소</a:t>
            </a:r>
          </a:p>
        </p:txBody>
      </p:sp>
      <p:sp>
        <p:nvSpPr>
          <p:cNvPr id="158" name="r"/>
          <p:cNvSpPr/>
          <p:nvPr/>
        </p:nvSpPr>
        <p:spPr>
          <a:xfrm>
            <a:off x="7280000" y="6430000"/>
            <a:ext cx="700000" cy="240000"/>
          </a:xfrm>
          <a:prstGeom prst="round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"/>
          <p:cNvSpPr txBox="1"/>
          <p:nvPr/>
        </p:nvSpPr>
        <p:spPr>
          <a:xfrm>
            <a:off x="7280000" y="6480000"/>
            <a:ext cx="700000" cy="1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ko-KR" sz="750" b="1">
                <a:solidFill>
                  <a:srgbClr val="FFFFFF"/>
                </a:solidFill>
                <a:latin typeface="맑은 고딕"/>
              </a:rPr>
              <a:t>등록</a:t>
            </a:r>
          </a:p>
        </p:txBody>
      </p:sp>
      <p:sp>
        <p:nvSpPr>
          <p:cNvPr id="160" name="r"/>
          <p:cNvSpPr/>
          <p:nvPr/>
        </p:nvSpPr>
        <p:spPr>
          <a:xfrm>
            <a:off x="8920000" y="780000"/>
            <a:ext cx="3000000" cy="5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"/>
          <p:cNvSpPr txBox="1"/>
          <p:nvPr/>
        </p:nvSpPr>
        <p:spPr>
          <a:xfrm>
            <a:off x="8990000" y="860000"/>
            <a:ext cx="2860000" cy="1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900" b="1">
                <a:solidFill>
                  <a:srgbClr val="1890FF"/>
                </a:solidFill>
                <a:latin typeface="맑은 고딕"/>
              </a:rPr>
              <a:t>기능 설명  |  FDS-GRP-003</a:t>
            </a:r>
          </a:p>
        </p:txBody>
      </p:sp>
      <p:sp>
        <p:nvSpPr>
          <p:cNvPr id="162" name="r"/>
          <p:cNvSpPr/>
          <p:nvPr/>
        </p:nvSpPr>
        <p:spPr>
          <a:xfrm>
            <a:off x="8990000" y="1090000"/>
            <a:ext cx="2860000" cy="12000"/>
          </a:xfrm>
          <a:prstGeom prst="rect">
            <a:avLst/>
          </a:prstGeom>
          <a:solidFill>
            <a:srgbClr val="18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"/>
          <p:cNvSpPr txBox="1"/>
          <p:nvPr/>
        </p:nvSpPr>
        <p:spPr>
          <a:xfrm>
            <a:off x="8990000" y="1170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권한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그룹 생성·수정은 관리자(FDS_GROUP:ADMIN)</a:t>
            </a:r>
          </a:p>
        </p:txBody>
      </p:sp>
      <p:sp>
        <p:nvSpPr>
          <p:cNvPr id="164" name="t"/>
          <p:cNvSpPr txBox="1"/>
          <p:nvPr/>
        </p:nvSpPr>
        <p:spPr>
          <a:xfrm>
            <a:off x="8990000" y="160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그룹 코드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영문 대문자·숫자·_ , 생성 후 변경 불가(immutable)</a:t>
            </a:r>
          </a:p>
        </p:txBody>
      </p:sp>
      <p:sp>
        <p:nvSpPr>
          <p:cNvPr id="165" name="t"/>
          <p:cNvSpPr txBox="1"/>
          <p:nvPr/>
        </p:nvSpPr>
        <p:spPr>
          <a:xfrm>
            <a:off x="8990000" y="2204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그룹 종류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회원·IP·이메일·실명번호·단말기·수취계좌·가맹점 중 선택</a:t>
            </a:r>
          </a:p>
        </p:txBody>
      </p:sp>
      <p:sp>
        <p:nvSpPr>
          <p:cNvPr id="166" name="t"/>
          <p:cNvSpPr txBox="1"/>
          <p:nvPr/>
        </p:nvSpPr>
        <p:spPr>
          <a:xfrm>
            <a:off x="8990000" y="2636000"/>
            <a:ext cx="2840000" cy="34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용도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블랙리스트(차단) / 화이트리스트(허용)</a:t>
            </a:r>
          </a:p>
        </p:txBody>
      </p:sp>
      <p:sp>
        <p:nvSpPr>
          <p:cNvPr id="167" name="t"/>
          <p:cNvSpPr txBox="1"/>
          <p:nvPr/>
        </p:nvSpPr>
        <p:spPr>
          <a:xfrm>
            <a:off x="8990000" y="3068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등록 방식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수동 / 자동 — 자동 선택 시 룰에서 이 그룹을 등록 대상으로 지정 가능</a:t>
            </a:r>
          </a:p>
        </p:txBody>
      </p:sp>
      <p:sp>
        <p:nvSpPr>
          <p:cNvPr id="168" name="t"/>
          <p:cNvSpPr txBox="1"/>
          <p:nvPr/>
        </p:nvSpPr>
        <p:spPr>
          <a:xfrm>
            <a:off x="8990000" y="3670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262626"/>
                </a:solidFill>
                <a:latin typeface="맑은 고딕"/>
              </a:rPr>
              <a:t>• 룰 hit 자동등록 · 기본 만료 </a:t>
            </a:r>
            <a:r>
              <a:rPr lang="ko-KR" sz="760" b="0">
                <a:solidFill>
                  <a:srgbClr val="595959"/>
                </a:solidFill>
                <a:latin typeface="맑은 고딕"/>
              </a:rPr>
              <a:t>탐지 시 자동 추가 여부 + 만료 일수(비우면 영구)</a:t>
            </a:r>
          </a:p>
        </p:txBody>
      </p:sp>
      <p:sp>
        <p:nvSpPr>
          <p:cNvPr id="169" name="t"/>
          <p:cNvSpPr txBox="1"/>
          <p:nvPr/>
        </p:nvSpPr>
        <p:spPr>
          <a:xfrm>
            <a:off x="8990000" y="4272000"/>
            <a:ext cx="2840000" cy="51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60" b="1">
                <a:solidFill>
                  <a:srgbClr val="1890FF"/>
                </a:solidFill>
                <a:latin typeface="맑은 고딕"/>
              </a:rPr>
              <a:t>• </a:t>
            </a:r>
            <a:r>
              <a:rPr lang="ko-KR" sz="760" b="0">
                <a:solidFill>
                  <a:srgbClr val="262626"/>
                </a:solidFill>
                <a:latin typeface="맑은 고딕"/>
              </a:rPr>
              <a:t>그룹은 정의(틀)만 생성 — 멤버 등록·해제는 그룹 목록(FDS-GRP-001/002)에서</a:t>
            </a:r>
          </a:p>
        </p:txBody>
      </p:sp>
      <p:sp>
        <p:nvSpPr>
          <p:cNvPr id="170" name="t"/>
          <p:cNvSpPr txBox="1"/>
          <p:nvPr/>
        </p:nvSpPr>
        <p:spPr>
          <a:xfrm>
            <a:off x="8990000" y="4874000"/>
            <a:ext cx="2840000" cy="6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ko-KR" sz="720" b="1">
                <a:solidFill>
                  <a:srgbClr val="1890FF"/>
                </a:solidFill>
                <a:latin typeface="맑은 고딕"/>
              </a:rPr>
              <a:t>▸ API </a:t>
            </a:r>
            <a:r>
              <a:rPr lang="ko-KR" sz="680" b="0">
                <a:solidFill>
                  <a:srgbClr val="8C8C8C"/>
                </a:solidFill>
                <a:latin typeface="맑은 고딕"/>
              </a:rPr>
              <a:t>POST /admin/fds/groups · PUT /admin/fds/groups/{code}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8328</Words>
  <Application>Microsoft Macintosh PowerPoint</Application>
  <PresentationFormat>와이드스크린</PresentationFormat>
  <Paragraphs>1943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 성민</cp:lastModifiedBy>
  <cp:revision>7</cp:revision>
  <dcterms:created xsi:type="dcterms:W3CDTF">2013-01-27T09:14:16Z</dcterms:created>
  <dcterms:modified xsi:type="dcterms:W3CDTF">2026-05-27T10:55:59Z</dcterms:modified>
  <cp:category/>
</cp:coreProperties>
</file>